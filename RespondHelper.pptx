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b9a2559-06dc-0b63-c57a-868d36023af4}">
          <p14:sldIdLst>
            <p14:sldId id="256"/>
          </p14:sldIdLst>
        </p14:section>
        <p14:section name="Problem and Solution" id="{d6d636db-f049-8450-5f1f-e40a62b7cbc6}">
          <p14:sldIdLst>
            <p14:sldId id="257"/>
            <p14:sldId id="258"/>
          </p14:sldIdLst>
        </p14:section>
        <p14:section name="Product" id="{c2278e5e-5fd1-b0ca-24e6-cdc5b2504767}">
          <p14:sldIdLst>
            <p14:sldId id="259"/>
            <p14:sldId id="260"/>
            <p14:sldId id="261"/>
            <p14:sldId id="262"/>
            <p14:sldId id="263"/>
            <p14:sldId id="264"/>
            <p14:sldId id="265"/>
          </p14:sldIdLst>
        </p14:section>
        <p14:section name="Technology and Wrap-up" id="{d656e477-d737-af2b-ee71-f875d7203c7b}">
          <p14:sldIdLst>
            <p14:sldId id="266"/>
            <p14:sldId id="267"/>
          </p14:sldIdLst>
        </p14:section>
        <p14:section name="Appendix" id="{f2f1a6b1-4b4c-b56d-280e-e9444b10f51e}">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0252B"/>
                </a:solidFill>
                <a:latin typeface="+mn-lt"/>
              </a:defRPr>
            </a:pPr>
            <a:r>
              <a:rPr sz="1200" b="0" i="0" u="none" strike="noStrike">
                <a:solidFill>
                  <a:srgbClr val="10252B"/>
                </a:solidFill>
                <a:latin typeface="+mn-lt"/>
              </a:rPr>
              <a:t>Requests by category</a:t>
            </a:r>
          </a:p>
        </c:rich>
      </c:tx>
      <c:layout/>
      <c:overlay val="0"/>
    </c:title>
    <c:autoTitleDeleted val="0"/>
    <c:plotArea>
      <c:layout/>
      <c:barChart>
        <c:barDir val="col"/>
        <c:grouping val="clustered"/>
        <c:varyColors val="0"/>
        <c:ser>
          <c:idx val="0"/>
          <c:order val="0"/>
          <c:tx>
            <c:strRef>
              <c:f>Sheet1!$B$1</c:f>
              <c:strCache>
                <c:ptCount val="1"/>
                <c:pt idx="0">
                  <c:v>Requests</c:v>
                </c:pt>
              </c:strCache>
            </c:strRef>
          </c:tx>
          <c:spPr>
            <a:solidFill>
              <a:srgbClr val="E5383B"/>
            </a:solidFill>
            <a:effectLst/>
          </c:spPr>
          <c:invertIfNegative val="0"/>
          <c:dLbls>
            <c:numFmt formatCode="#,##0" sourceLinked="0"/>
            <c:txPr>
              <a:bodyPr/>
              <a:lstStyle/>
              <a:p>
                <a:pPr>
                  <a:defRPr b="0" i="0" strike="noStrike" sz="1100" u="none">
                    <a:solidFill>
                      <a:srgbClr val="10252B"/>
                    </a:solidFill>
                    <a:latin typeface="+mn-lt"/>
                  </a:defRPr>
                </a:pPr>
              </a:p>
            </c:txPr>
            <c:showLegendKey val="0"/>
            <c:showVal val="1"/>
            <c:showCatName val="0"/>
            <c:showSerName val="0"/>
            <c:showPercent val="0"/>
            <c:showBubbleSize val="0"/>
            <c:showLeaderLines val="0"/>
          </c:dLbls>
          <c:cat>
            <c:multiLvlStrRef>
              <c:f>Sheet1!$A$2:$A$5</c:f>
              <c:multiLvlStrCache>
                <c:ptCount val="4"/>
                <c:lvl>
                  <c:pt idx="0">
                    <c:v>Medical</c:v>
                  </c:pt>
                  <c:pt idx="1">
                    <c:v>Rescue</c:v>
                  </c:pt>
                  <c:pt idx="2">
                    <c:v>Food/Water</c:v>
                  </c:pt>
                  <c:pt idx="3">
                    <c:v>Shelter</c:v>
                  </c:pt>
                </c:lvl>
              </c:multiLvlStrCache>
            </c:multiLvlStrRef>
          </c:cat>
          <c:val>
            <c:numRef>
              <c:f>Sheet1!$B$2:$B$5</c:f>
              <c:numCache>
                <c:formatCode>General</c:formatCode>
                <c:ptCount val="4"/>
                <c:pt idx="0">
                  <c:v>42</c:v>
                </c:pt>
                <c:pt idx="1">
                  <c:v>28</c:v>
                </c:pt>
                <c:pt idx="2">
                  <c:v>35</c:v>
                </c:pt>
                <c:pt idx="3">
                  <c:v>19</c:v>
                </c:pt>
              </c:numCache>
            </c:numRef>
          </c:val>
        </c:ser>
        <c:dLbls>
          <c:numFmt formatCode="#,##0" sourceLinked="0"/>
          <c:txPr>
            <a:bodyPr/>
            <a:lstStyle/>
            <a:p>
              <a:pPr>
                <a:defRPr b="0" i="0" strike="noStrike" sz="1100" u="none">
                  <a:solidFill>
                    <a:srgbClr val="1025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C72"/>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7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C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0252B"/>
                </a:solidFill>
                <a:latin typeface="+mn-lt"/>
              </a:defRPr>
            </a:pPr>
            <a:r>
              <a:rPr sz="1200" b="0" i="0" u="none" strike="noStrike">
                <a:solidFill>
                  <a:srgbClr val="10252B"/>
                </a:solidFill>
                <a:latin typeface="+mn-lt"/>
              </a:rPr>
              <a:t>Average response time (minutes)</a:t>
            </a:r>
          </a:p>
        </c:rich>
      </c:tx>
      <c:layout/>
      <c:overlay val="0"/>
    </c:title>
    <c:autoTitleDeleted val="0"/>
    <c:plotArea>
      <c:layout/>
      <c:lineChart>
        <c:varyColors val="0"/>
        <c:ser>
          <c:idx val="0"/>
          <c:order val="0"/>
          <c:tx>
            <c:strRef>
              <c:f>Sheet1!$B$1</c:f>
              <c:strCache>
                <c:ptCount val="1"/>
                <c:pt idx="0">
                  <c:v>Minutes</c:v>
                </c:pt>
              </c:strCache>
            </c:strRef>
          </c:tx>
          <c:spPr>
            <a:solidFill>
              <a:srgbClr val="2A9D8F"/>
            </a:solidFill>
            <a:ln w="38100" cap="flat">
              <a:solidFill>
                <a:srgbClr val="2A9D8F"/>
              </a:solidFill>
              <a:prstDash val="solid"/>
              <a:round/>
            </a:ln>
            <a:effectLst/>
          </c:spPr>
          <c:invertIfNegative val="0"/>
          <c:dLbls>
            <c:numFmt formatCode="#,##0" sourceLinked="0"/>
            <c:txPr>
              <a:bodyPr/>
              <a:lstStyle/>
              <a:p>
                <a:pPr>
                  <a:defRPr b="0" i="0" strike="noStrike" sz="1100" u="none">
                    <a:solidFill>
                      <a:srgbClr val="10252B"/>
                    </a:solidFill>
                    <a:latin typeface="+mn-lt"/>
                  </a:defRPr>
                </a:pPr>
              </a:p>
            </c:txPr>
            <c:dLblPos val="t"/>
            <c:showLegendKey val="0"/>
            <c:showVal val="1"/>
            <c:showCatName val="0"/>
            <c:showSerName val="0"/>
            <c:showPercent val="0"/>
            <c:showBubbleSize val="0"/>
            <c:showLeaderLines val="0"/>
          </c:dLbls>
          <c:marker>
            <c:symbol val="circle"/>
            <c:size val="7"/>
            <c:spPr>
              <a:solidFill>
                <a:srgbClr val="2A9D8F"/>
              </a:solidFill>
              <a:ln w="9525" cap="flat">
                <a:solidFill>
                  <a:srgbClr val="2A9D8F"/>
                </a:solidFill>
                <a:prstDash val="solid"/>
                <a:round/>
              </a:ln>
              <a:effectLst/>
            </c:spPr>
          </c:marker>
          <c:cat>
            <c:multiLvlStrRef>
              <c:f>Sheet1!$A$2:$A$8</c:f>
              <c:multiLvlStrCache>
                <c:ptCount val="7"/>
                <c:lvl>
                  <c:pt idx="0">
                    <c:v>Mon</c:v>
                  </c:pt>
                  <c:pt idx="1">
                    <c:v>Tue</c:v>
                  </c:pt>
                  <c:pt idx="2">
                    <c:v>Wed</c:v>
                  </c:pt>
                  <c:pt idx="3">
                    <c:v>Thu</c:v>
                  </c:pt>
                  <c:pt idx="4">
                    <c:v>Fri</c:v>
                  </c:pt>
                  <c:pt idx="5">
                    <c:v>Sat</c:v>
                  </c:pt>
                  <c:pt idx="6">
                    <c:v>Sun</c:v>
                  </c:pt>
                </c:lvl>
              </c:multiLvlStrCache>
            </c:multiLvlStrRef>
          </c:cat>
          <c:val>
            <c:numRef>
              <c:f>Sheet1!$B$2:$B$8</c:f>
              <c:numCache>
                <c:formatCode>General</c:formatCode>
                <c:ptCount val="7"/>
                <c:pt idx="0">
                  <c:v>34</c:v>
                </c:pt>
                <c:pt idx="1">
                  <c:v>31</c:v>
                </c:pt>
                <c:pt idx="2">
                  <c:v>29</c:v>
                </c:pt>
                <c:pt idx="3">
                  <c:v>26</c:v>
                </c:pt>
                <c:pt idx="4">
                  <c:v>24</c:v>
                </c:pt>
                <c:pt idx="5">
                  <c:v>22</c:v>
                </c:pt>
                <c:pt idx="6">
                  <c:v>20</c:v>
                </c:pt>
              </c:numCache>
            </c:numRef>
          </c:val>
          <c:smooth val="0"/>
        </c:ser>
        <c:dLbls>
          <c:numFmt formatCode="#,##0" sourceLinked="0"/>
          <c:txPr>
            <a:bodyPr/>
            <a:lstStyle/>
            <a:p>
              <a:pPr>
                <a:defRPr b="0" i="0" strike="noStrike" sz="1100" u="none">
                  <a:solidFill>
                    <a:srgbClr val="10252B"/>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C72"/>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1E7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C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we're presenting RespondHelper, a platform that brings together the people who need help during a disaster and the people who can provide it. In an emergency, four things matter most: speed, location, trust, and clear communication. RespondHelper is built around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a disaster, a survivor often has to contact several organizations separately, repeating the same request each time. Meanwhile, responders have no shared view of who needs what and where. The real problem isn't only a shortage of resources, it's the lack of a shared, current picture of needs, responders, shelters, and supplies. That gap causes delay, and in an emergency, delay costs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RespondHelper replaces scattered communication with a single workflow: request, locate, match, resolve. Every request has a clear owner at every stage. Survivors get visibility, responders get clarity, and administrators get control. Throughout this presentation, we'll follow one example: a survivor who needs urgent medical assistance after a disaster.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has six roles, and each sees a dashboard focused on their job. A survivor is never overwhelmed by operational data, while the administrator keeps a complete view. We made one deliberate trust decision: survivors can start right away because time is critical, but anyone offering help must be verified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designed this for someone who is stressed, outdoors, or using a damaged phone. The essential action is only three taps, and everything else is optional. If GPS fails, the user can enter a location manually. If the connection drops mid-form, their draft is saved locally so they don't lose their progress. The helpline number is always visible in case the app isn't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request moves through a defined lifecycle. Survivors can see exactly what is happening instead of wondering whether anyone received their request. Administrators can see who changed a status and when. This history creates accountability, which matters when many organizations are working together under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doesn't just pick the closest option. Provider C is nearest but can't fulfill the full need. Provider B has the most stock but is far away. Provider A balances quantity and distance, so it ranks first. Each recommendation comes with a plain-language reason, so the person making the decision understands why it was suggested. The map uses Leaflet and OpenStreetMap.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responder sees a clear next action rather than the entire system. A volunteer only sees tasks within their service radius and availability. An NGO tracks inventory and gets alerts before stock runs out or expires. A shelter manager keeps occupancy current, so survivors aren't sent to a full shelter.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Updates appear without refreshing the page. When a volunteer changes a task status, the survivor's timeline updates instantly. Socket.io rooms ensure messages reach only the relevant people, such as a private user, a whole role, or everyone watching one request. This cuts down on follow-up calls and avoids flooding people with irrelevant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dashboard gives a live operational overview through KPI cards, the verification queue, and a critical-request feed. Verification protects survivors from untrusted responders and keeps the map meaningful. Admins can also block users and manually reassign a request if the automatic match isn't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shapes the user experience, but the backend is the source of truth for authentication, roles, verification, and data access. MongoDB's 2dsphere indexes make location-based queries, like 'find volunteers within 5 km', efficient. Node-cron runs scheduled checks for low stock and expiry. Even if someone bypasses the frontend, the backend still enforces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this end to end. [Run demo here.] These are the expected benefits, not measured results. Our next step is to gather real data to validate them. Thank you,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The charts shown here use demo data only. Replace them with real data before presenting, or hide this slide if there is no real data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0252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20624"/>
            <a:ext cx="8229600" cy="566928"/>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457200" y="4846320"/>
            <a:ext cx="4572000" cy="201168"/>
          </a:xfrm>
          <a:prstGeom prst="rect">
            <a:avLst/>
          </a:prstGeom>
          <a:noFill/>
          <a:ln/>
        </p:spPr>
        <p:txBody>
          <a:bodyPr wrap="square" lIns="0" tIns="0" rIns="0" bIns="0" rtlCol="0" anchor="ctr"/>
          <a:lstStyle/>
          <a:p>
            <a:pPr indent="0" marL="0">
              <a:buNone/>
            </a:pPr>
            <a:r>
              <a:rPr lang="en-US" sz="1000" dirty="0">
                <a:solidFill>
                  <a:srgbClr val="7A8A8F"/>
                </a:solidFill>
              </a:rPr>
              <a:t>RespondHelper  |  Relief Network</a:t>
            </a:r>
            <a:endParaRPr lang="en-US" sz="10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7A8A8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7A8A8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slideLayout" Target="../slideLayouts/slideLayout3.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3.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3.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3.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8" Type="http://schemas.openxmlformats.org/officeDocument/2006/relationships/chart" Target="/ppt/charts/chart1.xml"/><Relationship Id="rId9" Type="http://schemas.openxmlformats.org/officeDocument/2006/relationships/chart" Target="/ppt/charts/chart2.xml"/><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10" Type="http://schemas.openxmlformats.org/officeDocument/2006/relationships/slideLayout" Target="../slideLayouts/slideLayout3.xml"/><Relationship Id="rId11"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4800600" y="548640"/>
            <a:ext cx="4023360" cy="4023360"/>
          </a:xfrm>
          <a:prstGeom prst="ellipse">
            <a:avLst/>
          </a:prstGeom>
          <a:solidFill>
            <a:srgbClr val="1F4350">
              <a:alpha val="30000"/>
            </a:srgbClr>
          </a:solidFill>
          <a:ln w="12700">
            <a:solidFill>
              <a:srgbClr val="2A9D8F">
                <a:alpha val="60000"/>
              </a:srgbClr>
            </a:solidFill>
            <a:prstDash val="solid"/>
          </a:ln>
        </p:spPr>
      </p:sp>
      <p:sp>
        <p:nvSpPr>
          <p:cNvPr id="4" name="Shape 1"/>
          <p:cNvSpPr/>
          <p:nvPr/>
        </p:nvSpPr>
        <p:spPr>
          <a:xfrm>
            <a:off x="5532120" y="1280160"/>
            <a:ext cx="2560320" cy="2560320"/>
          </a:xfrm>
          <a:prstGeom prst="ellipse">
            <a:avLst/>
          </a:prstGeom>
          <a:solidFill>
            <a:srgbClr val="1F4350">
              <a:alpha val="60000"/>
            </a:srgbClr>
          </a:solidFill>
          <a:ln w="12700">
            <a:solidFill>
              <a:srgbClr val="2A9D8F">
                <a:alpha val="60000"/>
              </a:srgbClr>
            </a:solidFill>
            <a:prstDash val="solid"/>
          </a:ln>
        </p:spPr>
      </p:sp>
      <p:sp>
        <p:nvSpPr>
          <p:cNvPr id="5" name="Shape 2"/>
          <p:cNvSpPr/>
          <p:nvPr/>
        </p:nvSpPr>
        <p:spPr>
          <a:xfrm>
            <a:off x="6080760" y="1828800"/>
            <a:ext cx="1463040" cy="1463040"/>
          </a:xfrm>
          <a:prstGeom prst="ellipse">
            <a:avLst/>
          </a:prstGeom>
          <a:solidFill>
            <a:schemeClr val="accent1"/>
          </a:solidFill>
          <a:ln w="25400">
            <a:solidFill>
              <a:srgbClr val="FFFFFF">
                <a:alpha val="40000"/>
              </a:srgbClr>
            </a:solidFill>
            <a:prstDash val="solid"/>
          </a:ln>
        </p:spPr>
      </p:sp>
      <p:sp>
        <p:nvSpPr>
          <p:cNvPr id="6" name="Text 3"/>
          <p:cNvSpPr txBox="1"/>
          <p:nvPr/>
        </p:nvSpPr>
        <p:spPr>
          <a:xfrm>
            <a:off x="6080760" y="1828800"/>
            <a:ext cx="1463040" cy="1463040"/>
          </a:xfrm>
          <a:prstGeom prst="rect">
            <a:avLst/>
          </a:prstGeom>
          <a:noFill/>
          <a:ln/>
        </p:spPr>
        <p:txBody>
          <a:bodyPr wrap="square" lIns="0" tIns="0" rIns="0" bIns="0" rtlCol="0" anchor="ctr"/>
          <a:lstStyle/>
          <a:p>
            <a:pPr algn="ctr" indent="0" marL="0">
              <a:buNone/>
            </a:pPr>
            <a:r>
              <a:rPr lang="en-US" sz="3400" b="1" dirty="0">
                <a:solidFill>
                  <a:schemeClr val="bg1"/>
                </a:solidFill>
              </a:rPr>
              <a:t>SOS</a:t>
            </a:r>
            <a:endParaRPr lang="en-US" sz="3400" dirty="0"/>
          </a:p>
        </p:txBody>
      </p:sp>
      <p:sp>
        <p:nvSpPr>
          <p:cNvPr id="7" name="Shape 4"/>
          <p:cNvSpPr/>
          <p:nvPr/>
        </p:nvSpPr>
        <p:spPr>
          <a:xfrm>
            <a:off x="4880944" y="1123004"/>
            <a:ext cx="566928" cy="566928"/>
          </a:xfrm>
          <a:prstGeom prst="ellipse">
            <a:avLst/>
          </a:prstGeom>
          <a:solidFill>
            <a:srgbClr val="F29E4C"/>
          </a:solidFill>
          <a:ln/>
        </p:spPr>
      </p:sp>
      <p:pic>
        <p:nvPicPr>
          <p:cNvPr id="8" name="Image 0" descr="preencoded.png">    </p:cNvPr>
          <p:cNvPicPr>
            <a:picLocks noChangeAspect="1"/>
          </p:cNvPicPr>
          <p:nvPr/>
        </p:nvPicPr>
        <p:blipFill>
          <a:blip r:embed="rId1"/>
          <a:stretch>
            <a:fillRect/>
          </a:stretch>
        </p:blipFill>
        <p:spPr>
          <a:xfrm>
            <a:off x="5022676" y="1264736"/>
            <a:ext cx="283464" cy="283464"/>
          </a:xfrm>
          <a:prstGeom prst="rect">
            <a:avLst/>
          </a:prstGeom>
        </p:spPr>
      </p:pic>
      <p:sp>
        <p:nvSpPr>
          <p:cNvPr id="9" name="Shape 5"/>
          <p:cNvSpPr/>
          <p:nvPr/>
        </p:nvSpPr>
        <p:spPr>
          <a:xfrm>
            <a:off x="8069852" y="983773"/>
            <a:ext cx="566928" cy="566928"/>
          </a:xfrm>
          <a:prstGeom prst="ellipse">
            <a:avLst/>
          </a:prstGeom>
          <a:solidFill>
            <a:srgbClr val="2A9D8F"/>
          </a:solidFill>
          <a:ln/>
        </p:spPr>
      </p:sp>
      <p:pic>
        <p:nvPicPr>
          <p:cNvPr id="10" name="Image 1" descr="preencoded.png">    </p:cNvPr>
          <p:cNvPicPr>
            <a:picLocks noChangeAspect="1"/>
          </p:cNvPicPr>
          <p:nvPr/>
        </p:nvPicPr>
        <p:blipFill>
          <a:blip r:embed="rId2"/>
          <a:stretch>
            <a:fillRect/>
          </a:stretch>
        </p:blipFill>
        <p:spPr>
          <a:xfrm>
            <a:off x="8211584" y="1125505"/>
            <a:ext cx="283464" cy="283464"/>
          </a:xfrm>
          <a:prstGeom prst="rect">
            <a:avLst/>
          </a:prstGeom>
        </p:spPr>
      </p:pic>
      <p:sp>
        <p:nvSpPr>
          <p:cNvPr id="11" name="Shape 6"/>
          <p:cNvSpPr/>
          <p:nvPr/>
        </p:nvSpPr>
        <p:spPr>
          <a:xfrm>
            <a:off x="8069852" y="3569939"/>
            <a:ext cx="566928" cy="566928"/>
          </a:xfrm>
          <a:prstGeom prst="ellipse">
            <a:avLst/>
          </a:prstGeom>
          <a:solidFill>
            <a:srgbClr val="7B5EA7"/>
          </a:solidFill>
          <a:ln/>
        </p:spPr>
      </p:sp>
      <p:pic>
        <p:nvPicPr>
          <p:cNvPr id="12" name="Image 2" descr="preencoded.png">    </p:cNvPr>
          <p:cNvPicPr>
            <a:picLocks noChangeAspect="1"/>
          </p:cNvPicPr>
          <p:nvPr/>
        </p:nvPicPr>
        <p:blipFill>
          <a:blip r:embed="rId3"/>
          <a:stretch>
            <a:fillRect/>
          </a:stretch>
        </p:blipFill>
        <p:spPr>
          <a:xfrm>
            <a:off x="8211584" y="3711671"/>
            <a:ext cx="283464" cy="283464"/>
          </a:xfrm>
          <a:prstGeom prst="rect">
            <a:avLst/>
          </a:prstGeom>
        </p:spPr>
      </p:pic>
      <p:sp>
        <p:nvSpPr>
          <p:cNvPr id="13" name="Shape 7"/>
          <p:cNvSpPr/>
          <p:nvPr/>
        </p:nvSpPr>
        <p:spPr>
          <a:xfrm>
            <a:off x="5235733" y="3817892"/>
            <a:ext cx="566928" cy="566928"/>
          </a:xfrm>
          <a:prstGeom prst="ellipse">
            <a:avLst/>
          </a:prstGeom>
          <a:solidFill>
            <a:srgbClr val="3A86C8"/>
          </a:solidFill>
          <a:ln/>
        </p:spPr>
      </p:sp>
      <p:pic>
        <p:nvPicPr>
          <p:cNvPr id="14" name="Image 3" descr="preencoded.png">    </p:cNvPr>
          <p:cNvPicPr>
            <a:picLocks noChangeAspect="1"/>
          </p:cNvPicPr>
          <p:nvPr/>
        </p:nvPicPr>
        <p:blipFill>
          <a:blip r:embed="rId4"/>
          <a:stretch>
            <a:fillRect/>
          </a:stretch>
        </p:blipFill>
        <p:spPr>
          <a:xfrm>
            <a:off x="5377465" y="3959624"/>
            <a:ext cx="283464" cy="283464"/>
          </a:xfrm>
          <a:prstGeom prst="rect">
            <a:avLst/>
          </a:prstGeom>
        </p:spPr>
      </p:pic>
      <p:sp>
        <p:nvSpPr>
          <p:cNvPr id="15" name="Text 8"/>
          <p:cNvSpPr txBox="1"/>
          <p:nvPr/>
        </p:nvSpPr>
        <p:spPr>
          <a:xfrm>
            <a:off x="548640" y="777240"/>
            <a:ext cx="4297680" cy="146304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RespondHelper: Help When It Is Needed Most</a:t>
            </a:r>
            <a:endParaRPr lang="en-US" sz="3400" dirty="0"/>
          </a:p>
        </p:txBody>
      </p:sp>
      <p:sp>
        <p:nvSpPr>
          <p:cNvPr id="16" name="Text 9"/>
          <p:cNvSpPr txBox="1"/>
          <p:nvPr/>
        </p:nvSpPr>
        <p:spPr>
          <a:xfrm>
            <a:off x="548640" y="2377440"/>
            <a:ext cx="4297680" cy="274320"/>
          </a:xfrm>
          <a:prstGeom prst="rect">
            <a:avLst/>
          </a:prstGeom>
          <a:noFill/>
          <a:ln/>
        </p:spPr>
        <p:txBody>
          <a:bodyPr wrap="square" lIns="0" tIns="0" rIns="0" bIns="0" rtlCol="0" anchor="t"/>
          <a:lstStyle/>
          <a:p>
            <a:pPr indent="0" marL="0">
              <a:buNone/>
            </a:pPr>
            <a:r>
              <a:rPr lang="en-US" sz="1400" b="1" dirty="0">
                <a:solidFill>
                  <a:schemeClr val="accent6"/>
                </a:solidFill>
              </a:rPr>
              <a:t>RespondHelper (also known as Relief Network)</a:t>
            </a:r>
            <a:endParaRPr lang="en-US" sz="1400" dirty="0"/>
          </a:p>
        </p:txBody>
      </p:sp>
      <p:sp>
        <p:nvSpPr>
          <p:cNvPr id="17" name="Text 10"/>
          <p:cNvSpPr txBox="1"/>
          <p:nvPr/>
        </p:nvSpPr>
        <p:spPr>
          <a:xfrm>
            <a:off x="548640" y="2724912"/>
            <a:ext cx="4297680" cy="502920"/>
          </a:xfrm>
          <a:prstGeom prst="rect">
            <a:avLst/>
          </a:prstGeom>
          <a:noFill/>
          <a:ln/>
        </p:spPr>
        <p:txBody>
          <a:bodyPr wrap="square" lIns="0" tIns="0" rIns="0" bIns="0" rtlCol="0" anchor="t"/>
          <a:lstStyle/>
          <a:p>
            <a:pPr indent="0" marL="0">
              <a:buNone/>
            </a:pPr>
            <a:r>
              <a:rPr lang="en-US" sz="1400" dirty="0">
                <a:solidFill>
                  <a:schemeClr val="bg1"/>
                </a:solidFill>
              </a:rPr>
              <a:t>A real-time, location-aware disaster management and emergency response platform</a:t>
            </a:r>
            <a:endParaRPr lang="en-US" sz="1400" dirty="0"/>
          </a:p>
        </p:txBody>
      </p:sp>
      <p:sp>
        <p:nvSpPr>
          <p:cNvPr id="18" name="Text 11"/>
          <p:cNvSpPr txBox="1"/>
          <p:nvPr/>
        </p:nvSpPr>
        <p:spPr>
          <a:xfrm>
            <a:off x="548640" y="3310128"/>
            <a:ext cx="4297680" cy="502920"/>
          </a:xfrm>
          <a:prstGeom prst="rect">
            <a:avLst/>
          </a:prstGeom>
          <a:noFill/>
          <a:ln/>
        </p:spPr>
        <p:txBody>
          <a:bodyPr wrap="square" lIns="0" tIns="0" rIns="0" bIns="0" rtlCol="0" anchor="t"/>
          <a:lstStyle/>
          <a:p>
            <a:pPr indent="0" marL="0">
              <a:buNone/>
            </a:pPr>
            <a:r>
              <a:rPr lang="en-US" sz="1400" dirty="0">
                <a:solidFill>
                  <a:schemeClr val="bg1"/>
                </a:solidFill>
              </a:rPr>
              <a:t>Connecting survivors with verified volunteers, NGOs, shelters, and resources</a:t>
            </a:r>
            <a:endParaRPr lang="en-US" sz="1400" dirty="0"/>
          </a:p>
        </p:txBody>
      </p:sp>
      <p:sp>
        <p:nvSpPr>
          <p:cNvPr id="19" name="Text 12"/>
          <p:cNvSpPr txBox="1"/>
          <p:nvPr/>
        </p:nvSpPr>
        <p:spPr>
          <a:xfrm>
            <a:off x="548640" y="3931920"/>
            <a:ext cx="4297680" cy="320040"/>
          </a:xfrm>
          <a:prstGeom prst="rect">
            <a:avLst/>
          </a:prstGeom>
          <a:noFill/>
          <a:ln/>
        </p:spPr>
        <p:txBody>
          <a:bodyPr wrap="square" lIns="0" tIns="0" rIns="0" bIns="0" rtlCol="0" anchor="t"/>
          <a:lstStyle/>
          <a:p>
            <a:pPr indent="0" marL="0">
              <a:buNone/>
            </a:pPr>
            <a:r>
              <a:rPr lang="en-US" sz="1600" i="1" dirty="0">
                <a:solidFill>
                  <a:schemeClr val="accent2"/>
                </a:solidFill>
              </a:rPr>
              <a:t>“Need help? Tell us what you need.”</a:t>
            </a:r>
            <a:endParaRPr lang="en-US" sz="1600" dirty="0"/>
          </a:p>
        </p:txBody>
      </p:sp>
      <p:sp>
        <p:nvSpPr>
          <p:cNvPr id="20" name="Text 13"/>
          <p:cNvSpPr txBox="1"/>
          <p:nvPr/>
        </p:nvSpPr>
        <p:spPr>
          <a:xfrm>
            <a:off x="548640" y="4480560"/>
            <a:ext cx="4297680" cy="228600"/>
          </a:xfrm>
          <a:prstGeom prst="rect">
            <a:avLst/>
          </a:prstGeom>
          <a:noFill/>
          <a:ln/>
        </p:spPr>
        <p:txBody>
          <a:bodyPr wrap="square" lIns="0" tIns="0" rIns="0" bIns="0" rtlCol="0" anchor="t"/>
          <a:lstStyle/>
          <a:p>
            <a:pPr indent="0" marL="0">
              <a:buNone/>
            </a:pPr>
            <a:r>
              <a:rPr lang="en-US" sz="1200" dirty="0">
                <a:solidFill>
                  <a:srgbClr val="9FB3B8"/>
                </a:solidFill>
              </a:rPr>
              <a:t>Team members  |  Course / Institution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19456"/>
            <a:ext cx="548640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02  |  THE PROBLEM</a:t>
            </a:r>
            <a:endParaRPr lang="en-US" sz="1100" dirty="0"/>
          </a:p>
        </p:txBody>
      </p:sp>
      <p:sp>
        <p:nvSpPr>
          <p:cNvPr id="4" name="Text 0"/>
          <p:cNvSpPr/>
          <p:nvPr>
            <p:ph idx="100" type="title" hasCustomPrompt="1"/>
          </p:nvPr>
        </p:nvSpPr>
        <p:spPr>
          <a:xfrm>
            <a:off x="457200" y="420624"/>
            <a:ext cx="8229600" cy="566928"/>
          </a:xfrm>
          <a:prstGeom prst="rect">
            <a:avLst/>
          </a:prstGeom>
          <a:noFill/>
          <a:ln/>
        </p:spPr>
        <p:txBody>
          <a:bodyPr wrap="square" lIns="0" tIns="0" rIns="0" bIns="0" rtlCol="0" anchor="ctr"/>
          <a:lstStyle/>
          <a:p>
            <a:pPr algn="l" indent="0" marL="0">
              <a:buNone/>
            </a:pPr>
            <a:r>
              <a:rPr lang="en-US" sz="2800" b="1" dirty="0">
                <a:solidFill>
                  <a:schemeClr val="tx1"/>
                </a:solidFill>
              </a:rPr>
              <a:t>The Problem: Emergency Response Is Fragmented</a:t>
            </a:r>
            <a:endParaRPr lang="en-US" sz="2800" dirty="0"/>
          </a:p>
        </p:txBody>
      </p:sp>
      <p:sp>
        <p:nvSpPr>
          <p:cNvPr id="5" name="Shape 2"/>
          <p:cNvSpPr/>
          <p:nvPr/>
        </p:nvSpPr>
        <p:spPr>
          <a:xfrm>
            <a:off x="457200" y="1234440"/>
            <a:ext cx="402336" cy="402336"/>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557784" y="1335024"/>
            <a:ext cx="201168" cy="201168"/>
          </a:xfrm>
          <a:prstGeom prst="rect">
            <a:avLst/>
          </a:prstGeom>
        </p:spPr>
      </p:pic>
      <p:sp>
        <p:nvSpPr>
          <p:cNvPr id="7" name="Text 3"/>
          <p:cNvSpPr txBox="1"/>
          <p:nvPr/>
        </p:nvSpPr>
        <p:spPr>
          <a:xfrm>
            <a:off x="1005840" y="1188720"/>
            <a:ext cx="3611880" cy="493776"/>
          </a:xfrm>
          <a:prstGeom prst="rect">
            <a:avLst/>
          </a:prstGeom>
          <a:noFill/>
          <a:ln/>
        </p:spPr>
        <p:txBody>
          <a:bodyPr wrap="square" lIns="0" tIns="0" rIns="0" bIns="0" rtlCol="0" anchor="ctr"/>
          <a:lstStyle/>
          <a:p>
            <a:pPr indent="0" marL="0">
              <a:buNone/>
            </a:pPr>
            <a:r>
              <a:rPr lang="en-US" sz="1400" dirty="0">
                <a:solidFill>
                  <a:schemeClr val="tx1"/>
                </a:solidFill>
              </a:rPr>
              <a:t>Requests arrive through disconnected channels: calls, messages, forms</a:t>
            </a:r>
            <a:endParaRPr lang="en-US" sz="1400" dirty="0"/>
          </a:p>
        </p:txBody>
      </p:sp>
      <p:sp>
        <p:nvSpPr>
          <p:cNvPr id="8" name="Shape 4"/>
          <p:cNvSpPr/>
          <p:nvPr/>
        </p:nvSpPr>
        <p:spPr>
          <a:xfrm>
            <a:off x="457200" y="1819656"/>
            <a:ext cx="402336" cy="402336"/>
          </a:xfrm>
          <a:prstGeom prst="ellipse">
            <a:avLst/>
          </a:prstGeom>
          <a:solidFill>
            <a:schemeClr val="accent1"/>
          </a:solidFill>
          <a:ln/>
        </p:spPr>
      </p:sp>
      <p:pic>
        <p:nvPicPr>
          <p:cNvPr id="9" name="Image 1" descr="preencoded.png">    </p:cNvPr>
          <p:cNvPicPr>
            <a:picLocks noChangeAspect="1"/>
          </p:cNvPicPr>
          <p:nvPr/>
        </p:nvPicPr>
        <p:blipFill>
          <a:blip r:embed="rId2"/>
          <a:stretch>
            <a:fillRect/>
          </a:stretch>
        </p:blipFill>
        <p:spPr>
          <a:xfrm>
            <a:off x="557784" y="1920240"/>
            <a:ext cx="201168" cy="201168"/>
          </a:xfrm>
          <a:prstGeom prst="rect">
            <a:avLst/>
          </a:prstGeom>
        </p:spPr>
      </p:pic>
      <p:sp>
        <p:nvSpPr>
          <p:cNvPr id="10" name="Text 5"/>
          <p:cNvSpPr txBox="1"/>
          <p:nvPr/>
        </p:nvSpPr>
        <p:spPr>
          <a:xfrm>
            <a:off x="1005840" y="1773936"/>
            <a:ext cx="3611880" cy="493776"/>
          </a:xfrm>
          <a:prstGeom prst="rect">
            <a:avLst/>
          </a:prstGeom>
          <a:noFill/>
          <a:ln/>
        </p:spPr>
        <p:txBody>
          <a:bodyPr wrap="square" lIns="0" tIns="0" rIns="0" bIns="0" rtlCol="0" anchor="ctr"/>
          <a:lstStyle/>
          <a:p>
            <a:pPr indent="0" marL="0">
              <a:buNone/>
            </a:pPr>
            <a:r>
              <a:rPr lang="en-US" sz="1400" dirty="0">
                <a:solidFill>
                  <a:schemeClr val="tx1"/>
                </a:solidFill>
              </a:rPr>
              <a:t>Survivors don’t know which organization or shelter can help</a:t>
            </a:r>
            <a:endParaRPr lang="en-US" sz="1400" dirty="0"/>
          </a:p>
        </p:txBody>
      </p:sp>
      <p:sp>
        <p:nvSpPr>
          <p:cNvPr id="11" name="Shape 6"/>
          <p:cNvSpPr/>
          <p:nvPr/>
        </p:nvSpPr>
        <p:spPr>
          <a:xfrm>
            <a:off x="457200" y="2404872"/>
            <a:ext cx="402336" cy="402336"/>
          </a:xfrm>
          <a:prstGeom prst="ellipse">
            <a:avLst/>
          </a:prstGeom>
          <a:solidFill>
            <a:schemeClr val="accent1"/>
          </a:solidFill>
          <a:ln/>
        </p:spPr>
      </p:sp>
      <p:pic>
        <p:nvPicPr>
          <p:cNvPr id="12" name="Image 2" descr="preencoded.png">    </p:cNvPr>
          <p:cNvPicPr>
            <a:picLocks noChangeAspect="1"/>
          </p:cNvPicPr>
          <p:nvPr/>
        </p:nvPicPr>
        <p:blipFill>
          <a:blip r:embed="rId3"/>
          <a:stretch>
            <a:fillRect/>
          </a:stretch>
        </p:blipFill>
        <p:spPr>
          <a:xfrm>
            <a:off x="557784" y="2505456"/>
            <a:ext cx="201168" cy="201168"/>
          </a:xfrm>
          <a:prstGeom prst="rect">
            <a:avLst/>
          </a:prstGeom>
        </p:spPr>
      </p:pic>
      <p:sp>
        <p:nvSpPr>
          <p:cNvPr id="13" name="Text 7"/>
          <p:cNvSpPr txBox="1"/>
          <p:nvPr/>
        </p:nvSpPr>
        <p:spPr>
          <a:xfrm>
            <a:off x="1005840" y="2359152"/>
            <a:ext cx="3611880" cy="493776"/>
          </a:xfrm>
          <a:prstGeom prst="rect">
            <a:avLst/>
          </a:prstGeom>
          <a:noFill/>
          <a:ln/>
        </p:spPr>
        <p:txBody>
          <a:bodyPr wrap="square" lIns="0" tIns="0" rIns="0" bIns="0" rtlCol="0" anchor="ctr"/>
          <a:lstStyle/>
          <a:p>
            <a:pPr indent="0" marL="0">
              <a:buNone/>
            </a:pPr>
            <a:r>
              <a:rPr lang="en-US" sz="1400" dirty="0">
                <a:solidFill>
                  <a:schemeClr val="tx1"/>
                </a:solidFill>
              </a:rPr>
              <a:t>Responders can’t tell which request is closest or most urgent</a:t>
            </a:r>
            <a:endParaRPr lang="en-US" sz="1400" dirty="0"/>
          </a:p>
        </p:txBody>
      </p:sp>
      <p:sp>
        <p:nvSpPr>
          <p:cNvPr id="14" name="Shape 8"/>
          <p:cNvSpPr/>
          <p:nvPr/>
        </p:nvSpPr>
        <p:spPr>
          <a:xfrm>
            <a:off x="457200" y="2990088"/>
            <a:ext cx="402336" cy="402336"/>
          </a:xfrm>
          <a:prstGeom prst="ellipse">
            <a:avLst/>
          </a:prstGeom>
          <a:solidFill>
            <a:schemeClr val="accent1"/>
          </a:solidFill>
          <a:ln/>
        </p:spPr>
      </p:sp>
      <p:pic>
        <p:nvPicPr>
          <p:cNvPr id="15" name="Image 3" descr="preencoded.png">    </p:cNvPr>
          <p:cNvPicPr>
            <a:picLocks noChangeAspect="1"/>
          </p:cNvPicPr>
          <p:nvPr/>
        </p:nvPicPr>
        <p:blipFill>
          <a:blip r:embed="rId4"/>
          <a:stretch>
            <a:fillRect/>
          </a:stretch>
        </p:blipFill>
        <p:spPr>
          <a:xfrm>
            <a:off x="557784" y="3090672"/>
            <a:ext cx="201168" cy="201168"/>
          </a:xfrm>
          <a:prstGeom prst="rect">
            <a:avLst/>
          </a:prstGeom>
        </p:spPr>
      </p:pic>
      <p:sp>
        <p:nvSpPr>
          <p:cNvPr id="16" name="Text 9"/>
          <p:cNvSpPr txBox="1"/>
          <p:nvPr/>
        </p:nvSpPr>
        <p:spPr>
          <a:xfrm>
            <a:off x="1005840" y="2944368"/>
            <a:ext cx="3611880" cy="493776"/>
          </a:xfrm>
          <a:prstGeom prst="rect">
            <a:avLst/>
          </a:prstGeom>
          <a:noFill/>
          <a:ln/>
        </p:spPr>
        <p:txBody>
          <a:bodyPr wrap="square" lIns="0" tIns="0" rIns="0" bIns="0" rtlCol="0" anchor="ctr"/>
          <a:lstStyle/>
          <a:p>
            <a:pPr indent="0" marL="0">
              <a:buNone/>
            </a:pPr>
            <a:r>
              <a:rPr lang="en-US" sz="1400" dirty="0">
                <a:solidFill>
                  <a:schemeClr val="tx1"/>
                </a:solidFill>
              </a:rPr>
              <a:t>Resource availability changes by the hour</a:t>
            </a:r>
            <a:endParaRPr lang="en-US" sz="1400" dirty="0"/>
          </a:p>
        </p:txBody>
      </p:sp>
      <p:sp>
        <p:nvSpPr>
          <p:cNvPr id="17" name="Shape 10"/>
          <p:cNvSpPr/>
          <p:nvPr/>
        </p:nvSpPr>
        <p:spPr>
          <a:xfrm>
            <a:off x="457200" y="3575304"/>
            <a:ext cx="402336" cy="402336"/>
          </a:xfrm>
          <a:prstGeom prst="ellipse">
            <a:avLst/>
          </a:prstGeom>
          <a:solidFill>
            <a:schemeClr val="accent1"/>
          </a:solidFill>
          <a:ln/>
        </p:spPr>
      </p:sp>
      <p:pic>
        <p:nvPicPr>
          <p:cNvPr id="18" name="Image 4" descr="preencoded.png">    </p:cNvPr>
          <p:cNvPicPr>
            <a:picLocks noChangeAspect="1"/>
          </p:cNvPicPr>
          <p:nvPr/>
        </p:nvPicPr>
        <p:blipFill>
          <a:blip r:embed="rId5"/>
          <a:stretch>
            <a:fillRect/>
          </a:stretch>
        </p:blipFill>
        <p:spPr>
          <a:xfrm>
            <a:off x="557784" y="3675888"/>
            <a:ext cx="201168" cy="201168"/>
          </a:xfrm>
          <a:prstGeom prst="rect">
            <a:avLst/>
          </a:prstGeom>
        </p:spPr>
      </p:pic>
      <p:sp>
        <p:nvSpPr>
          <p:cNvPr id="19" name="Text 11"/>
          <p:cNvSpPr txBox="1"/>
          <p:nvPr/>
        </p:nvSpPr>
        <p:spPr>
          <a:xfrm>
            <a:off x="1005840" y="3529584"/>
            <a:ext cx="3611880" cy="493776"/>
          </a:xfrm>
          <a:prstGeom prst="rect">
            <a:avLst/>
          </a:prstGeom>
          <a:noFill/>
          <a:ln/>
        </p:spPr>
        <p:txBody>
          <a:bodyPr wrap="square" lIns="0" tIns="0" rIns="0" bIns="0" rtlCol="0" anchor="ctr"/>
          <a:lstStyle/>
          <a:p>
            <a:pPr indent="0" marL="0">
              <a:buNone/>
            </a:pPr>
            <a:r>
              <a:rPr lang="en-US" sz="1400" dirty="0">
                <a:solidFill>
                  <a:schemeClr val="tx1"/>
                </a:solidFill>
              </a:rPr>
              <a:t>Manual coordination leads to delays, duplication, and missed requests</a:t>
            </a:r>
            <a:endParaRPr lang="en-US" sz="1400" dirty="0"/>
          </a:p>
        </p:txBody>
      </p:sp>
      <p:sp>
        <p:nvSpPr>
          <p:cNvPr id="20" name="Diagram panel"/>
          <p:cNvSpPr/>
          <p:nvPr/>
        </p:nvSpPr>
        <p:spPr>
          <a:xfrm>
            <a:off x="4892040" y="1188720"/>
            <a:ext cx="3794760" cy="2834640"/>
          </a:xfrm>
          <a:prstGeom prst="roundRect">
            <a:avLst>
              <a:gd name="adj" fmla="val 2581"/>
            </a:avLst>
          </a:prstGeom>
          <a:solidFill>
            <a:schemeClr val="bg2"/>
          </a:solidFill>
          <a:ln/>
        </p:spPr>
      </p:sp>
      <p:sp>
        <p:nvSpPr>
          <p:cNvPr id="21" name="Shape 13"/>
          <p:cNvSpPr/>
          <p:nvPr/>
        </p:nvSpPr>
        <p:spPr>
          <a:xfrm>
            <a:off x="5074920" y="2240280"/>
            <a:ext cx="731520" cy="731520"/>
          </a:xfrm>
          <a:prstGeom prst="ellipse">
            <a:avLst/>
          </a:prstGeom>
          <a:solidFill>
            <a:schemeClr val="tx2"/>
          </a:solidFill>
          <a:ln/>
        </p:spPr>
      </p:sp>
      <p:pic>
        <p:nvPicPr>
          <p:cNvPr id="22" name="Image 5" descr="preencoded.png">    </p:cNvPr>
          <p:cNvPicPr>
            <a:picLocks noChangeAspect="1"/>
          </p:cNvPicPr>
          <p:nvPr/>
        </p:nvPicPr>
        <p:blipFill>
          <a:blip r:embed="rId6"/>
          <a:stretch>
            <a:fillRect/>
          </a:stretch>
        </p:blipFill>
        <p:spPr>
          <a:xfrm>
            <a:off x="5257800" y="2423160"/>
            <a:ext cx="365760" cy="365760"/>
          </a:xfrm>
          <a:prstGeom prst="rect">
            <a:avLst/>
          </a:prstGeom>
        </p:spPr>
      </p:pic>
      <p:sp>
        <p:nvSpPr>
          <p:cNvPr id="23" name="Text 14"/>
          <p:cNvSpPr txBox="1"/>
          <p:nvPr/>
        </p:nvSpPr>
        <p:spPr>
          <a:xfrm>
            <a:off x="4892040" y="3017520"/>
            <a:ext cx="1097280" cy="228600"/>
          </a:xfrm>
          <a:prstGeom prst="rect">
            <a:avLst/>
          </a:prstGeom>
          <a:noFill/>
          <a:ln/>
        </p:spPr>
        <p:txBody>
          <a:bodyPr wrap="square" lIns="0" tIns="0" rIns="0" bIns="0" rtlCol="0" anchor="t"/>
          <a:lstStyle/>
          <a:p>
            <a:pPr algn="ctr" indent="0" marL="0">
              <a:buNone/>
            </a:pPr>
            <a:r>
              <a:rPr lang="en-US" sz="1200" b="1" dirty="0">
                <a:solidFill>
                  <a:schemeClr val="tx1"/>
                </a:solidFill>
              </a:rPr>
              <a:t>Survivor</a:t>
            </a:r>
            <a:endParaRPr lang="en-US" sz="1200" dirty="0"/>
          </a:p>
        </p:txBody>
      </p:sp>
      <p:sp>
        <p:nvSpPr>
          <p:cNvPr id="24" name="Text 15"/>
          <p:cNvSpPr txBox="1"/>
          <p:nvPr/>
        </p:nvSpPr>
        <p:spPr>
          <a:xfrm>
            <a:off x="4983480" y="3337560"/>
            <a:ext cx="1920240" cy="457200"/>
          </a:xfrm>
          <a:prstGeom prst="rect">
            <a:avLst/>
          </a:prstGeom>
          <a:noFill/>
          <a:ln/>
        </p:spPr>
        <p:txBody>
          <a:bodyPr wrap="square" lIns="0" tIns="0" rIns="0" bIns="0" rtlCol="0" anchor="t"/>
          <a:lstStyle/>
          <a:p>
            <a:pPr indent="0" marL="0">
              <a:buNone/>
            </a:pPr>
            <a:r>
              <a:rPr lang="en-US" sz="1200" i="1" dirty="0">
                <a:solidFill>
                  <a:srgbClr val="5A6C72"/>
                </a:solidFill>
              </a:rPr>
              <a:t>Calls / messages / forms: same request repeated</a:t>
            </a:r>
            <a:endParaRPr lang="en-US" sz="1200" dirty="0"/>
          </a:p>
        </p:txBody>
      </p:sp>
      <p:sp>
        <p:nvSpPr>
          <p:cNvPr id="25" name="Shape 16"/>
          <p:cNvSpPr/>
          <p:nvPr/>
        </p:nvSpPr>
        <p:spPr>
          <a:xfrm flipV="1">
            <a:off x="5852160" y="1645920"/>
            <a:ext cx="1463040" cy="960120"/>
          </a:xfrm>
          <a:prstGeom prst="line">
            <a:avLst/>
          </a:prstGeom>
          <a:noFill/>
          <a:ln w="25400">
            <a:solidFill>
              <a:srgbClr val="E5383B"/>
            </a:solidFill>
            <a:prstDash val="dash"/>
            <a:tailEnd type="triangle"/>
          </a:ln>
        </p:spPr>
      </p:sp>
      <p:sp>
        <p:nvSpPr>
          <p:cNvPr id="26" name="Shape 17"/>
          <p:cNvSpPr/>
          <p:nvPr/>
        </p:nvSpPr>
        <p:spPr>
          <a:xfrm>
            <a:off x="5852160" y="2606040"/>
            <a:ext cx="1463040" cy="0"/>
          </a:xfrm>
          <a:prstGeom prst="line">
            <a:avLst/>
          </a:prstGeom>
          <a:noFill/>
          <a:ln w="25400">
            <a:solidFill>
              <a:srgbClr val="E5383B"/>
            </a:solidFill>
            <a:prstDash val="dash"/>
            <a:tailEnd type="triangle"/>
          </a:ln>
        </p:spPr>
      </p:sp>
      <p:sp>
        <p:nvSpPr>
          <p:cNvPr id="27" name="Shape 18"/>
          <p:cNvSpPr/>
          <p:nvPr/>
        </p:nvSpPr>
        <p:spPr>
          <a:xfrm>
            <a:off x="5852160" y="2606040"/>
            <a:ext cx="1463040" cy="960120"/>
          </a:xfrm>
          <a:prstGeom prst="line">
            <a:avLst/>
          </a:prstGeom>
          <a:noFill/>
          <a:ln w="25400">
            <a:solidFill>
              <a:srgbClr val="E5383B"/>
            </a:solidFill>
            <a:prstDash val="dash"/>
            <a:tailEnd type="triangle"/>
          </a:ln>
        </p:spPr>
      </p:sp>
      <p:sp>
        <p:nvSpPr>
          <p:cNvPr id="28" name="Shape 19"/>
          <p:cNvSpPr/>
          <p:nvPr/>
        </p:nvSpPr>
        <p:spPr>
          <a:xfrm>
            <a:off x="7315200" y="1371600"/>
            <a:ext cx="1234440" cy="548640"/>
          </a:xfrm>
          <a:prstGeom prst="roundRect">
            <a:avLst>
              <a:gd name="adj" fmla="val 13333"/>
            </a:avLst>
          </a:prstGeom>
          <a:solidFill>
            <a:schemeClr val="tx1"/>
          </a:solidFill>
          <a:ln/>
        </p:spPr>
      </p:sp>
      <p:sp>
        <p:nvSpPr>
          <p:cNvPr id="29" name="Text 20"/>
          <p:cNvSpPr txBox="1"/>
          <p:nvPr/>
        </p:nvSpPr>
        <p:spPr>
          <a:xfrm>
            <a:off x="7315200" y="1371600"/>
            <a:ext cx="1234440" cy="548640"/>
          </a:xfrm>
          <a:prstGeom prst="rect">
            <a:avLst/>
          </a:prstGeom>
          <a:noFill/>
          <a:ln/>
        </p:spPr>
        <p:txBody>
          <a:bodyPr wrap="square" lIns="0" tIns="0" rIns="0" bIns="0" rtlCol="0" anchor="ctr"/>
          <a:lstStyle/>
          <a:p>
            <a:pPr algn="ctr" indent="0" marL="0">
              <a:buNone/>
            </a:pPr>
            <a:r>
              <a:rPr lang="en-US" sz="1100" b="1" dirty="0">
                <a:solidFill>
                  <a:schemeClr val="bg1"/>
                </a:solidFill>
              </a:rPr>
              <a:t>Organization A</a:t>
            </a:r>
            <a:endParaRPr lang="en-US" sz="1100" dirty="0"/>
          </a:p>
        </p:txBody>
      </p:sp>
      <p:sp>
        <p:nvSpPr>
          <p:cNvPr id="30" name="Shape 21"/>
          <p:cNvSpPr/>
          <p:nvPr/>
        </p:nvSpPr>
        <p:spPr>
          <a:xfrm>
            <a:off x="7315200" y="2331720"/>
            <a:ext cx="1234440" cy="548640"/>
          </a:xfrm>
          <a:prstGeom prst="roundRect">
            <a:avLst>
              <a:gd name="adj" fmla="val 13333"/>
            </a:avLst>
          </a:prstGeom>
          <a:solidFill>
            <a:schemeClr val="tx1"/>
          </a:solidFill>
          <a:ln/>
        </p:spPr>
      </p:sp>
      <p:sp>
        <p:nvSpPr>
          <p:cNvPr id="31" name="Text 22"/>
          <p:cNvSpPr txBox="1"/>
          <p:nvPr/>
        </p:nvSpPr>
        <p:spPr>
          <a:xfrm>
            <a:off x="7315200" y="2331720"/>
            <a:ext cx="1234440" cy="548640"/>
          </a:xfrm>
          <a:prstGeom prst="rect">
            <a:avLst/>
          </a:prstGeom>
          <a:noFill/>
          <a:ln/>
        </p:spPr>
        <p:txBody>
          <a:bodyPr wrap="square" lIns="0" tIns="0" rIns="0" bIns="0" rtlCol="0" anchor="ctr"/>
          <a:lstStyle/>
          <a:p>
            <a:pPr algn="ctr" indent="0" marL="0">
              <a:buNone/>
            </a:pPr>
            <a:r>
              <a:rPr lang="en-US" sz="1100" b="1" dirty="0">
                <a:solidFill>
                  <a:schemeClr val="bg1"/>
                </a:solidFill>
              </a:rPr>
              <a:t>Organization B</a:t>
            </a:r>
            <a:endParaRPr lang="en-US" sz="1100" dirty="0"/>
          </a:p>
        </p:txBody>
      </p:sp>
      <p:sp>
        <p:nvSpPr>
          <p:cNvPr id="32" name="Shape 23"/>
          <p:cNvSpPr/>
          <p:nvPr/>
        </p:nvSpPr>
        <p:spPr>
          <a:xfrm>
            <a:off x="7315200" y="3291840"/>
            <a:ext cx="1234440" cy="548640"/>
          </a:xfrm>
          <a:prstGeom prst="roundRect">
            <a:avLst>
              <a:gd name="adj" fmla="val 13333"/>
            </a:avLst>
          </a:prstGeom>
          <a:solidFill>
            <a:schemeClr val="tx1"/>
          </a:solidFill>
          <a:ln/>
        </p:spPr>
      </p:sp>
      <p:sp>
        <p:nvSpPr>
          <p:cNvPr id="33" name="Text 24"/>
          <p:cNvSpPr txBox="1"/>
          <p:nvPr/>
        </p:nvSpPr>
        <p:spPr>
          <a:xfrm>
            <a:off x="7315200" y="3291840"/>
            <a:ext cx="1234440" cy="548640"/>
          </a:xfrm>
          <a:prstGeom prst="rect">
            <a:avLst/>
          </a:prstGeom>
          <a:noFill/>
          <a:ln/>
        </p:spPr>
        <p:txBody>
          <a:bodyPr wrap="square" lIns="0" tIns="0" rIns="0" bIns="0" rtlCol="0" anchor="ctr"/>
          <a:lstStyle/>
          <a:p>
            <a:pPr algn="ctr" indent="0" marL="0">
              <a:buNone/>
            </a:pPr>
            <a:r>
              <a:rPr lang="en-US" sz="1100" b="1" dirty="0">
                <a:solidFill>
                  <a:schemeClr val="bg1"/>
                </a:solidFill>
              </a:rPr>
              <a:t>Organization C</a:t>
            </a:r>
            <a:endParaRPr lang="en-US" sz="1100" dirty="0"/>
          </a:p>
        </p:txBody>
      </p:sp>
      <p:sp>
        <p:nvSpPr>
          <p:cNvPr id="34" name="Shape 25"/>
          <p:cNvSpPr/>
          <p:nvPr/>
        </p:nvSpPr>
        <p:spPr>
          <a:xfrm>
            <a:off x="457200" y="4206240"/>
            <a:ext cx="8229600" cy="512064"/>
          </a:xfrm>
          <a:prstGeom prst="roundRect">
            <a:avLst>
              <a:gd name="adj" fmla="val 14286"/>
            </a:avLst>
          </a:prstGeom>
          <a:solidFill>
            <a:schemeClr val="tx1"/>
          </a:solidFill>
          <a:ln/>
        </p:spPr>
      </p:sp>
      <p:sp>
        <p:nvSpPr>
          <p:cNvPr id="35" name="Text 26"/>
          <p:cNvSpPr txBox="1"/>
          <p:nvPr/>
        </p:nvSpPr>
        <p:spPr>
          <a:xfrm>
            <a:off x="685800" y="4206240"/>
            <a:ext cx="7772400" cy="512064"/>
          </a:xfrm>
          <a:prstGeom prst="rect">
            <a:avLst/>
          </a:prstGeom>
          <a:noFill/>
          <a:ln/>
        </p:spPr>
        <p:txBody>
          <a:bodyPr wrap="square" lIns="0" tIns="0" rIns="0" bIns="0" rtlCol="0" anchor="ctr"/>
          <a:lstStyle/>
          <a:p>
            <a:pPr indent="0" marL="0">
              <a:buNone/>
            </a:pPr>
            <a:r>
              <a:rPr lang="en-US" sz="1400" dirty="0">
                <a:solidFill>
                  <a:srgbClr val="FFFFFF"/>
                </a:solidFill>
              </a:rPr>
              <a:t>The real problem isn’t only a shortage of resources: </a:t>
            </a:r>
            <a:pPr indent="0" marL="0">
              <a:buNone/>
            </a:pPr>
            <a:r>
              <a:rPr lang="en-US" sz="1400" b="1" dirty="0">
                <a:solidFill>
                  <a:srgbClr val="E9C46A"/>
                </a:solidFill>
              </a:rPr>
              <a:t>it’s the lack of a shared, current picture.</a:t>
            </a:r>
            <a:endParaRPr lang="en-US" sz="14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7A8A8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19456"/>
            <a:ext cx="548640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03  |  THE SOLUTION</a:t>
            </a:r>
            <a:endParaRPr lang="en-US" sz="1100" dirty="0"/>
          </a:p>
        </p:txBody>
      </p:sp>
      <p:sp>
        <p:nvSpPr>
          <p:cNvPr id="4" name="Text 0"/>
          <p:cNvSpPr/>
          <p:nvPr>
            <p:ph idx="100" type="title" hasCustomPrompt="1"/>
          </p:nvPr>
        </p:nvSpPr>
        <p:spPr>
          <a:xfrm>
            <a:off x="457200" y="420624"/>
            <a:ext cx="8229600" cy="566928"/>
          </a:xfrm>
          <a:prstGeom prst="rect">
            <a:avLst/>
          </a:prstGeom>
          <a:noFill/>
          <a:ln/>
        </p:spPr>
        <p:txBody>
          <a:bodyPr wrap="square" lIns="0" tIns="0" rIns="0" bIns="0" rtlCol="0" anchor="ctr"/>
          <a:lstStyle/>
          <a:p>
            <a:pPr algn="l" indent="0" marL="0">
              <a:buNone/>
            </a:pPr>
            <a:r>
              <a:rPr lang="en-US" sz="2800" b="1" dirty="0">
                <a:solidFill>
                  <a:schemeClr val="tx1"/>
                </a:solidFill>
              </a:rPr>
              <a:t>The Solution and Main Value</a:t>
            </a:r>
            <a:endParaRPr lang="en-US" sz="2800" dirty="0"/>
          </a:p>
        </p:txBody>
      </p:sp>
      <p:sp>
        <p:nvSpPr>
          <p:cNvPr id="5" name="Text 2"/>
          <p:cNvSpPr txBox="1"/>
          <p:nvPr/>
        </p:nvSpPr>
        <p:spPr>
          <a:xfrm>
            <a:off x="457200" y="1051560"/>
            <a:ext cx="8229600" cy="274320"/>
          </a:xfrm>
          <a:prstGeom prst="rect">
            <a:avLst/>
          </a:prstGeom>
          <a:noFill/>
          <a:ln/>
        </p:spPr>
        <p:txBody>
          <a:bodyPr wrap="square" lIns="0" tIns="0" rIns="0" bIns="0" rtlCol="0" anchor="t"/>
          <a:lstStyle/>
          <a:p>
            <a:pPr indent="0" marL="0">
              <a:buNone/>
            </a:pPr>
            <a:r>
              <a:rPr lang="en-US" sz="1600" b="1" dirty="0">
                <a:solidFill>
                  <a:schemeClr val="tx2"/>
                </a:solidFill>
              </a:rPr>
              <a:t>One shared emergency coordination network</a:t>
            </a:r>
            <a:endParaRPr lang="en-US" sz="1600" dirty="0"/>
          </a:p>
        </p:txBody>
      </p:sp>
      <p:sp>
        <p:nvSpPr>
          <p:cNvPr id="6" name="Step card"/>
          <p:cNvSpPr/>
          <p:nvPr/>
        </p:nvSpPr>
        <p:spPr>
          <a:xfrm>
            <a:off x="457200" y="1463040"/>
            <a:ext cx="1828800" cy="1691640"/>
          </a:xfrm>
          <a:prstGeom prst="roundRect">
            <a:avLst>
              <a:gd name="adj" fmla="val 4324"/>
            </a:avLst>
          </a:prstGeom>
          <a:solidFill>
            <a:schemeClr val="bg2"/>
          </a:solidFill>
          <a:ln/>
        </p:spPr>
      </p:sp>
      <p:sp>
        <p:nvSpPr>
          <p:cNvPr id="7" name="Shape 4"/>
          <p:cNvSpPr/>
          <p:nvPr/>
        </p:nvSpPr>
        <p:spPr>
          <a:xfrm>
            <a:off x="594360" y="1600200"/>
            <a:ext cx="457200" cy="457200"/>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708660" y="1714500"/>
            <a:ext cx="228600" cy="228600"/>
          </a:xfrm>
          <a:prstGeom prst="rect">
            <a:avLst/>
          </a:prstGeom>
        </p:spPr>
      </p:pic>
      <p:sp>
        <p:nvSpPr>
          <p:cNvPr id="9" name="Text 5"/>
          <p:cNvSpPr txBox="1"/>
          <p:nvPr/>
        </p:nvSpPr>
        <p:spPr>
          <a:xfrm>
            <a:off x="1170432" y="1600200"/>
            <a:ext cx="1051560" cy="457200"/>
          </a:xfrm>
          <a:prstGeom prst="rect">
            <a:avLst/>
          </a:prstGeom>
          <a:noFill/>
          <a:ln/>
        </p:spPr>
        <p:txBody>
          <a:bodyPr wrap="square" lIns="0" tIns="0" rIns="0" bIns="0" rtlCol="0" anchor="ctr"/>
          <a:lstStyle/>
          <a:p>
            <a:pPr indent="0" marL="0">
              <a:buNone/>
            </a:pPr>
            <a:r>
              <a:rPr lang="en-US" sz="1600" b="1" dirty="0">
                <a:solidFill>
                  <a:schemeClr val="tx1"/>
                </a:solidFill>
              </a:rPr>
              <a:t>Request</a:t>
            </a:r>
            <a:endParaRPr lang="en-US" sz="1600" dirty="0"/>
          </a:p>
        </p:txBody>
      </p:sp>
      <p:sp>
        <p:nvSpPr>
          <p:cNvPr id="10" name="Text 6"/>
          <p:cNvSpPr txBox="1"/>
          <p:nvPr/>
        </p:nvSpPr>
        <p:spPr>
          <a:xfrm>
            <a:off x="594360" y="2176272"/>
            <a:ext cx="1600200" cy="914400"/>
          </a:xfrm>
          <a:prstGeom prst="rect">
            <a:avLst/>
          </a:prstGeom>
          <a:noFill/>
          <a:ln/>
        </p:spPr>
        <p:txBody>
          <a:bodyPr wrap="square" lIns="0" tIns="0" rIns="0" bIns="0" rtlCol="0" anchor="t"/>
          <a:lstStyle/>
          <a:p>
            <a:pPr indent="0" marL="0">
              <a:buNone/>
            </a:pPr>
            <a:r>
              <a:rPr lang="en-US" sz="1400" dirty="0">
                <a:solidFill>
                  <a:schemeClr val="tx1"/>
                </a:solidFill>
              </a:rPr>
              <a:t>Survivor sends a request or SOS</a:t>
            </a:r>
            <a:endParaRPr lang="en-US" sz="1400" dirty="0"/>
          </a:p>
        </p:txBody>
      </p:sp>
      <p:pic>
        <p:nvPicPr>
          <p:cNvPr id="11" name="Image 1" descr="preencoded.png">    </p:cNvPr>
          <p:cNvPicPr>
            <a:picLocks noChangeAspect="1"/>
          </p:cNvPicPr>
          <p:nvPr/>
        </p:nvPicPr>
        <p:blipFill>
          <a:blip r:embed="rId2"/>
          <a:stretch>
            <a:fillRect/>
          </a:stretch>
        </p:blipFill>
        <p:spPr>
          <a:xfrm>
            <a:off x="2346808" y="2217420"/>
            <a:ext cx="182880" cy="182880"/>
          </a:xfrm>
          <a:prstGeom prst="rect">
            <a:avLst/>
          </a:prstGeom>
        </p:spPr>
      </p:pic>
      <p:sp>
        <p:nvSpPr>
          <p:cNvPr id="12" name="Step card"/>
          <p:cNvSpPr/>
          <p:nvPr/>
        </p:nvSpPr>
        <p:spPr>
          <a:xfrm>
            <a:off x="2590495" y="1463040"/>
            <a:ext cx="1828800" cy="1691640"/>
          </a:xfrm>
          <a:prstGeom prst="roundRect">
            <a:avLst>
              <a:gd name="adj" fmla="val 4324"/>
            </a:avLst>
          </a:prstGeom>
          <a:solidFill>
            <a:schemeClr val="bg2"/>
          </a:solidFill>
          <a:ln/>
        </p:spPr>
      </p:sp>
      <p:sp>
        <p:nvSpPr>
          <p:cNvPr id="13" name="Shape 8"/>
          <p:cNvSpPr/>
          <p:nvPr/>
        </p:nvSpPr>
        <p:spPr>
          <a:xfrm>
            <a:off x="2727655" y="1600200"/>
            <a:ext cx="457200" cy="457200"/>
          </a:xfrm>
          <a:prstGeom prst="ellipse">
            <a:avLst/>
          </a:prstGeom>
          <a:solidFill>
            <a:schemeClr val="accent2"/>
          </a:solidFill>
          <a:ln/>
        </p:spPr>
      </p:sp>
      <p:pic>
        <p:nvPicPr>
          <p:cNvPr id="14" name="Image 2" descr="preencoded.png">    </p:cNvPr>
          <p:cNvPicPr>
            <a:picLocks noChangeAspect="1"/>
          </p:cNvPicPr>
          <p:nvPr/>
        </p:nvPicPr>
        <p:blipFill>
          <a:blip r:embed="rId3"/>
          <a:stretch>
            <a:fillRect/>
          </a:stretch>
        </p:blipFill>
        <p:spPr>
          <a:xfrm>
            <a:off x="2841955" y="1714500"/>
            <a:ext cx="228600" cy="228600"/>
          </a:xfrm>
          <a:prstGeom prst="rect">
            <a:avLst/>
          </a:prstGeom>
        </p:spPr>
      </p:pic>
      <p:sp>
        <p:nvSpPr>
          <p:cNvPr id="15" name="Text 9"/>
          <p:cNvSpPr txBox="1"/>
          <p:nvPr/>
        </p:nvSpPr>
        <p:spPr>
          <a:xfrm>
            <a:off x="3303727" y="1600200"/>
            <a:ext cx="1051560" cy="457200"/>
          </a:xfrm>
          <a:prstGeom prst="rect">
            <a:avLst/>
          </a:prstGeom>
          <a:noFill/>
          <a:ln/>
        </p:spPr>
        <p:txBody>
          <a:bodyPr wrap="square" lIns="0" tIns="0" rIns="0" bIns="0" rtlCol="0" anchor="ctr"/>
          <a:lstStyle/>
          <a:p>
            <a:pPr indent="0" marL="0">
              <a:buNone/>
            </a:pPr>
            <a:r>
              <a:rPr lang="en-US" sz="1600" b="1" dirty="0">
                <a:solidFill>
                  <a:schemeClr val="tx1"/>
                </a:solidFill>
              </a:rPr>
              <a:t>Locate</a:t>
            </a:r>
            <a:endParaRPr lang="en-US" sz="1600" dirty="0"/>
          </a:p>
        </p:txBody>
      </p:sp>
      <p:sp>
        <p:nvSpPr>
          <p:cNvPr id="16" name="Text 10"/>
          <p:cNvSpPr txBox="1"/>
          <p:nvPr/>
        </p:nvSpPr>
        <p:spPr>
          <a:xfrm>
            <a:off x="2727655" y="2176272"/>
            <a:ext cx="1600200" cy="914400"/>
          </a:xfrm>
          <a:prstGeom prst="rect">
            <a:avLst/>
          </a:prstGeom>
          <a:noFill/>
          <a:ln/>
        </p:spPr>
        <p:txBody>
          <a:bodyPr wrap="square" lIns="0" tIns="0" rIns="0" bIns="0" rtlCol="0" anchor="t"/>
          <a:lstStyle/>
          <a:p>
            <a:pPr indent="0" marL="0">
              <a:buNone/>
            </a:pPr>
            <a:r>
              <a:rPr lang="en-US" sz="1400" dirty="0">
                <a:solidFill>
                  <a:schemeClr val="tx1"/>
                </a:solidFill>
              </a:rPr>
              <a:t>Platform records the need, urgency, and GPS location</a:t>
            </a:r>
            <a:endParaRPr lang="en-US" sz="1400" dirty="0"/>
          </a:p>
        </p:txBody>
      </p:sp>
      <p:pic>
        <p:nvPicPr>
          <p:cNvPr id="17" name="Image 3" descr="preencoded.png">    </p:cNvPr>
          <p:cNvPicPr>
            <a:picLocks noChangeAspect="1"/>
          </p:cNvPicPr>
          <p:nvPr/>
        </p:nvPicPr>
        <p:blipFill>
          <a:blip r:embed="rId4"/>
          <a:stretch>
            <a:fillRect/>
          </a:stretch>
        </p:blipFill>
        <p:spPr>
          <a:xfrm>
            <a:off x="4480103" y="2217420"/>
            <a:ext cx="182880" cy="182880"/>
          </a:xfrm>
          <a:prstGeom prst="rect">
            <a:avLst/>
          </a:prstGeom>
        </p:spPr>
      </p:pic>
      <p:sp>
        <p:nvSpPr>
          <p:cNvPr id="18" name="Step card"/>
          <p:cNvSpPr/>
          <p:nvPr/>
        </p:nvSpPr>
        <p:spPr>
          <a:xfrm>
            <a:off x="4723790" y="1463040"/>
            <a:ext cx="1828800" cy="1691640"/>
          </a:xfrm>
          <a:prstGeom prst="roundRect">
            <a:avLst>
              <a:gd name="adj" fmla="val 4324"/>
            </a:avLst>
          </a:prstGeom>
          <a:solidFill>
            <a:schemeClr val="bg2"/>
          </a:solidFill>
          <a:ln/>
        </p:spPr>
      </p:sp>
      <p:sp>
        <p:nvSpPr>
          <p:cNvPr id="19" name="Shape 12"/>
          <p:cNvSpPr/>
          <p:nvPr/>
        </p:nvSpPr>
        <p:spPr>
          <a:xfrm>
            <a:off x="4860950" y="1600200"/>
            <a:ext cx="457200" cy="457200"/>
          </a:xfrm>
          <a:prstGeom prst="ellipse">
            <a:avLst/>
          </a:prstGeom>
          <a:solidFill>
            <a:schemeClr val="accent3"/>
          </a:solidFill>
          <a:ln/>
        </p:spPr>
      </p:sp>
      <p:pic>
        <p:nvPicPr>
          <p:cNvPr id="20" name="Image 4" descr="preencoded.png">    </p:cNvPr>
          <p:cNvPicPr>
            <a:picLocks noChangeAspect="1"/>
          </p:cNvPicPr>
          <p:nvPr/>
        </p:nvPicPr>
        <p:blipFill>
          <a:blip r:embed="rId5"/>
          <a:stretch>
            <a:fillRect/>
          </a:stretch>
        </p:blipFill>
        <p:spPr>
          <a:xfrm>
            <a:off x="4975250" y="1714500"/>
            <a:ext cx="228600" cy="228600"/>
          </a:xfrm>
          <a:prstGeom prst="rect">
            <a:avLst/>
          </a:prstGeom>
        </p:spPr>
      </p:pic>
      <p:sp>
        <p:nvSpPr>
          <p:cNvPr id="21" name="Text 13"/>
          <p:cNvSpPr txBox="1"/>
          <p:nvPr/>
        </p:nvSpPr>
        <p:spPr>
          <a:xfrm>
            <a:off x="5437022" y="1600200"/>
            <a:ext cx="1051560" cy="457200"/>
          </a:xfrm>
          <a:prstGeom prst="rect">
            <a:avLst/>
          </a:prstGeom>
          <a:noFill/>
          <a:ln/>
        </p:spPr>
        <p:txBody>
          <a:bodyPr wrap="square" lIns="0" tIns="0" rIns="0" bIns="0" rtlCol="0" anchor="ctr"/>
          <a:lstStyle/>
          <a:p>
            <a:pPr indent="0" marL="0">
              <a:buNone/>
            </a:pPr>
            <a:r>
              <a:rPr lang="en-US" sz="1600" b="1" dirty="0">
                <a:solidFill>
                  <a:schemeClr val="tx1"/>
                </a:solidFill>
              </a:rPr>
              <a:t>Match</a:t>
            </a:r>
            <a:endParaRPr lang="en-US" sz="1600" dirty="0"/>
          </a:p>
        </p:txBody>
      </p:sp>
      <p:sp>
        <p:nvSpPr>
          <p:cNvPr id="22" name="Text 14"/>
          <p:cNvSpPr txBox="1"/>
          <p:nvPr/>
        </p:nvSpPr>
        <p:spPr>
          <a:xfrm>
            <a:off x="4860950" y="2176272"/>
            <a:ext cx="1600200" cy="914400"/>
          </a:xfrm>
          <a:prstGeom prst="rect">
            <a:avLst/>
          </a:prstGeom>
          <a:noFill/>
          <a:ln/>
        </p:spPr>
        <p:txBody>
          <a:bodyPr wrap="square" lIns="0" tIns="0" rIns="0" bIns="0" rtlCol="0" anchor="t"/>
          <a:lstStyle/>
          <a:p>
            <a:pPr indent="0" marL="0">
              <a:buNone/>
            </a:pPr>
            <a:r>
              <a:rPr lang="en-US" sz="1400" dirty="0">
                <a:solidFill>
                  <a:schemeClr val="tx1"/>
                </a:solidFill>
              </a:rPr>
              <a:t>Verified responders and resources are matched by suitability and distance</a:t>
            </a:r>
            <a:endParaRPr lang="en-US" sz="1400" dirty="0"/>
          </a:p>
        </p:txBody>
      </p:sp>
      <p:pic>
        <p:nvPicPr>
          <p:cNvPr id="23" name="Image 5" descr="preencoded.png">    </p:cNvPr>
          <p:cNvPicPr>
            <a:picLocks noChangeAspect="1"/>
          </p:cNvPicPr>
          <p:nvPr/>
        </p:nvPicPr>
        <p:blipFill>
          <a:blip r:embed="rId6"/>
          <a:stretch>
            <a:fillRect/>
          </a:stretch>
        </p:blipFill>
        <p:spPr>
          <a:xfrm>
            <a:off x="6613398" y="2217420"/>
            <a:ext cx="182880" cy="182880"/>
          </a:xfrm>
          <a:prstGeom prst="rect">
            <a:avLst/>
          </a:prstGeom>
        </p:spPr>
      </p:pic>
      <p:sp>
        <p:nvSpPr>
          <p:cNvPr id="24" name="Step card"/>
          <p:cNvSpPr/>
          <p:nvPr/>
        </p:nvSpPr>
        <p:spPr>
          <a:xfrm>
            <a:off x="6857086" y="1463040"/>
            <a:ext cx="1828800" cy="1691640"/>
          </a:xfrm>
          <a:prstGeom prst="roundRect">
            <a:avLst>
              <a:gd name="adj" fmla="val 4324"/>
            </a:avLst>
          </a:prstGeom>
          <a:solidFill>
            <a:schemeClr val="bg2"/>
          </a:solidFill>
          <a:ln/>
        </p:spPr>
      </p:sp>
      <p:sp>
        <p:nvSpPr>
          <p:cNvPr id="25" name="Shape 16"/>
          <p:cNvSpPr/>
          <p:nvPr/>
        </p:nvSpPr>
        <p:spPr>
          <a:xfrm>
            <a:off x="6994246" y="1600200"/>
            <a:ext cx="457200" cy="457200"/>
          </a:xfrm>
          <a:prstGeom prst="ellipse">
            <a:avLst/>
          </a:prstGeom>
          <a:solidFill>
            <a:schemeClr val="accent4"/>
          </a:solidFill>
          <a:ln/>
        </p:spPr>
      </p:sp>
      <p:pic>
        <p:nvPicPr>
          <p:cNvPr id="26" name="Image 6" descr="preencoded.png">    </p:cNvPr>
          <p:cNvPicPr>
            <a:picLocks noChangeAspect="1"/>
          </p:cNvPicPr>
          <p:nvPr/>
        </p:nvPicPr>
        <p:blipFill>
          <a:blip r:embed="rId7"/>
          <a:stretch>
            <a:fillRect/>
          </a:stretch>
        </p:blipFill>
        <p:spPr>
          <a:xfrm>
            <a:off x="7108546" y="1714500"/>
            <a:ext cx="228600" cy="228600"/>
          </a:xfrm>
          <a:prstGeom prst="rect">
            <a:avLst/>
          </a:prstGeom>
        </p:spPr>
      </p:pic>
      <p:sp>
        <p:nvSpPr>
          <p:cNvPr id="27" name="Text 17"/>
          <p:cNvSpPr txBox="1"/>
          <p:nvPr/>
        </p:nvSpPr>
        <p:spPr>
          <a:xfrm>
            <a:off x="7570318" y="1600200"/>
            <a:ext cx="1051560" cy="457200"/>
          </a:xfrm>
          <a:prstGeom prst="rect">
            <a:avLst/>
          </a:prstGeom>
          <a:noFill/>
          <a:ln/>
        </p:spPr>
        <p:txBody>
          <a:bodyPr wrap="square" lIns="0" tIns="0" rIns="0" bIns="0" rtlCol="0" anchor="ctr"/>
          <a:lstStyle/>
          <a:p>
            <a:pPr indent="0" marL="0">
              <a:buNone/>
            </a:pPr>
            <a:r>
              <a:rPr lang="en-US" sz="1600" b="1" dirty="0">
                <a:solidFill>
                  <a:schemeClr val="tx1"/>
                </a:solidFill>
              </a:rPr>
              <a:t>Resolve</a:t>
            </a:r>
            <a:endParaRPr lang="en-US" sz="1600" dirty="0"/>
          </a:p>
        </p:txBody>
      </p:sp>
      <p:sp>
        <p:nvSpPr>
          <p:cNvPr id="28" name="Text 18"/>
          <p:cNvSpPr txBox="1"/>
          <p:nvPr/>
        </p:nvSpPr>
        <p:spPr>
          <a:xfrm>
            <a:off x="6994246" y="2176272"/>
            <a:ext cx="1600200" cy="914400"/>
          </a:xfrm>
          <a:prstGeom prst="rect">
            <a:avLst/>
          </a:prstGeom>
          <a:noFill/>
          <a:ln/>
        </p:spPr>
        <p:txBody>
          <a:bodyPr wrap="square" lIns="0" tIns="0" rIns="0" bIns="0" rtlCol="0" anchor="t"/>
          <a:lstStyle/>
          <a:p>
            <a:pPr indent="0" marL="0">
              <a:buNone/>
            </a:pPr>
            <a:r>
              <a:rPr lang="en-US" sz="1400" dirty="0">
                <a:solidFill>
                  <a:schemeClr val="tx1"/>
                </a:solidFill>
              </a:rPr>
              <a:t>Request is assigned and tracked through completion</a:t>
            </a:r>
            <a:endParaRPr lang="en-US" sz="1400" dirty="0"/>
          </a:p>
        </p:txBody>
      </p:sp>
      <p:sp>
        <p:nvSpPr>
          <p:cNvPr id="29" name="Key value band"/>
          <p:cNvSpPr/>
          <p:nvPr/>
        </p:nvSpPr>
        <p:spPr>
          <a:xfrm>
            <a:off x="457200" y="3337560"/>
            <a:ext cx="8229600" cy="1371600"/>
          </a:xfrm>
          <a:prstGeom prst="roundRect">
            <a:avLst>
              <a:gd name="adj" fmla="val 5333"/>
            </a:avLst>
          </a:prstGeom>
          <a:solidFill>
            <a:schemeClr val="tx1"/>
          </a:solidFill>
          <a:ln/>
        </p:spPr>
      </p:sp>
      <p:sp>
        <p:nvSpPr>
          <p:cNvPr id="30" name="Text 20"/>
          <p:cNvSpPr txBox="1"/>
          <p:nvPr/>
        </p:nvSpPr>
        <p:spPr>
          <a:xfrm>
            <a:off x="731520" y="3429000"/>
            <a:ext cx="2743200" cy="274320"/>
          </a:xfrm>
          <a:prstGeom prst="rect">
            <a:avLst/>
          </a:prstGeom>
          <a:noFill/>
          <a:ln/>
        </p:spPr>
        <p:txBody>
          <a:bodyPr wrap="square" lIns="0" tIns="0" rIns="0" bIns="0" rtlCol="0" anchor="t"/>
          <a:lstStyle/>
          <a:p>
            <a:pPr indent="0" marL="0">
              <a:buNone/>
            </a:pPr>
            <a:r>
              <a:rPr lang="en-US" sz="1600" b="1" dirty="0">
                <a:solidFill>
                  <a:schemeClr val="accent6"/>
                </a:solidFill>
              </a:rPr>
              <a:t>Key value</a:t>
            </a:r>
            <a:endParaRPr lang="en-US" sz="1600" dirty="0"/>
          </a:p>
        </p:txBody>
      </p:sp>
      <p:pic>
        <p:nvPicPr>
          <p:cNvPr id="31" name="Image 7" descr="preencoded.png">    </p:cNvPr>
          <p:cNvPicPr>
            <a:picLocks noChangeAspect="1"/>
          </p:cNvPicPr>
          <p:nvPr/>
        </p:nvPicPr>
        <p:blipFill>
          <a:blip r:embed="rId8"/>
          <a:stretch>
            <a:fillRect/>
          </a:stretch>
        </p:blipFill>
        <p:spPr>
          <a:xfrm>
            <a:off x="731520" y="3803904"/>
            <a:ext cx="182880" cy="182880"/>
          </a:xfrm>
          <a:prstGeom prst="rect">
            <a:avLst/>
          </a:prstGeom>
        </p:spPr>
      </p:pic>
      <p:sp>
        <p:nvSpPr>
          <p:cNvPr id="32" name="Text 21"/>
          <p:cNvSpPr txBox="1"/>
          <p:nvPr/>
        </p:nvSpPr>
        <p:spPr>
          <a:xfrm>
            <a:off x="1005840" y="3767328"/>
            <a:ext cx="3657600" cy="256032"/>
          </a:xfrm>
          <a:prstGeom prst="rect">
            <a:avLst/>
          </a:prstGeom>
          <a:noFill/>
          <a:ln/>
        </p:spPr>
        <p:txBody>
          <a:bodyPr wrap="square" lIns="0" tIns="0" rIns="0" bIns="0" rtlCol="0" anchor="t"/>
          <a:lstStyle/>
          <a:p>
            <a:pPr indent="0" marL="0">
              <a:buNone/>
            </a:pPr>
            <a:r>
              <a:rPr lang="en-US" sz="1400" dirty="0">
                <a:solidFill>
                  <a:schemeClr val="bg1"/>
                </a:solidFill>
              </a:rPr>
              <a:t>Faster routing of urgent requests</a:t>
            </a:r>
            <a:endParaRPr lang="en-US" sz="1400" dirty="0"/>
          </a:p>
        </p:txBody>
      </p:sp>
      <p:pic>
        <p:nvPicPr>
          <p:cNvPr id="33" name="Image 8" descr="preencoded.png">    </p:cNvPr>
          <p:cNvPicPr>
            <a:picLocks noChangeAspect="1"/>
          </p:cNvPicPr>
          <p:nvPr/>
        </p:nvPicPr>
        <p:blipFill>
          <a:blip r:embed="rId9"/>
          <a:stretch>
            <a:fillRect/>
          </a:stretch>
        </p:blipFill>
        <p:spPr>
          <a:xfrm>
            <a:off x="731520" y="4096512"/>
            <a:ext cx="182880" cy="182880"/>
          </a:xfrm>
          <a:prstGeom prst="rect">
            <a:avLst/>
          </a:prstGeom>
        </p:spPr>
      </p:pic>
      <p:sp>
        <p:nvSpPr>
          <p:cNvPr id="34" name="Text 22"/>
          <p:cNvSpPr txBox="1"/>
          <p:nvPr/>
        </p:nvSpPr>
        <p:spPr>
          <a:xfrm>
            <a:off x="1005840" y="4059936"/>
            <a:ext cx="3657600" cy="256032"/>
          </a:xfrm>
          <a:prstGeom prst="rect">
            <a:avLst/>
          </a:prstGeom>
          <a:noFill/>
          <a:ln/>
        </p:spPr>
        <p:txBody>
          <a:bodyPr wrap="square" lIns="0" tIns="0" rIns="0" bIns="0" rtlCol="0" anchor="t"/>
          <a:lstStyle/>
          <a:p>
            <a:pPr indent="0" marL="0">
              <a:buNone/>
            </a:pPr>
            <a:r>
              <a:rPr lang="en-US" sz="1400" dirty="0">
                <a:solidFill>
                  <a:schemeClr val="bg1"/>
                </a:solidFill>
              </a:rPr>
              <a:t>Better use of nearby volunteers and resources</a:t>
            </a:r>
            <a:endParaRPr lang="en-US" sz="1400" dirty="0"/>
          </a:p>
        </p:txBody>
      </p:sp>
      <p:pic>
        <p:nvPicPr>
          <p:cNvPr id="35" name="Image 9" descr="preencoded.png">    </p:cNvPr>
          <p:cNvPicPr>
            <a:picLocks noChangeAspect="1"/>
          </p:cNvPicPr>
          <p:nvPr/>
        </p:nvPicPr>
        <p:blipFill>
          <a:blip r:embed="rId10"/>
          <a:stretch>
            <a:fillRect/>
          </a:stretch>
        </p:blipFill>
        <p:spPr>
          <a:xfrm>
            <a:off x="731520" y="4389120"/>
            <a:ext cx="182880" cy="182880"/>
          </a:xfrm>
          <a:prstGeom prst="rect">
            <a:avLst/>
          </a:prstGeom>
        </p:spPr>
      </p:pic>
      <p:sp>
        <p:nvSpPr>
          <p:cNvPr id="36" name="Text 23"/>
          <p:cNvSpPr txBox="1"/>
          <p:nvPr/>
        </p:nvSpPr>
        <p:spPr>
          <a:xfrm>
            <a:off x="1005840" y="4352544"/>
            <a:ext cx="3657600" cy="256032"/>
          </a:xfrm>
          <a:prstGeom prst="rect">
            <a:avLst/>
          </a:prstGeom>
          <a:noFill/>
          <a:ln/>
        </p:spPr>
        <p:txBody>
          <a:bodyPr wrap="square" lIns="0" tIns="0" rIns="0" bIns="0" rtlCol="0" anchor="t"/>
          <a:lstStyle/>
          <a:p>
            <a:pPr indent="0" marL="0">
              <a:buNone/>
            </a:pPr>
            <a:r>
              <a:rPr lang="en-US" sz="1400" dirty="0">
                <a:solidFill>
                  <a:schemeClr val="bg1"/>
                </a:solidFill>
              </a:rPr>
              <a:t>A verified responder network</a:t>
            </a:r>
            <a:endParaRPr lang="en-US" sz="1400" dirty="0"/>
          </a:p>
        </p:txBody>
      </p:sp>
      <p:pic>
        <p:nvPicPr>
          <p:cNvPr id="37" name="Image 10" descr="preencoded.png">    </p:cNvPr>
          <p:cNvPicPr>
            <a:picLocks noChangeAspect="1"/>
          </p:cNvPicPr>
          <p:nvPr/>
        </p:nvPicPr>
        <p:blipFill>
          <a:blip r:embed="rId11"/>
          <a:stretch>
            <a:fillRect/>
          </a:stretch>
        </p:blipFill>
        <p:spPr>
          <a:xfrm>
            <a:off x="4846320" y="3803904"/>
            <a:ext cx="182880" cy="182880"/>
          </a:xfrm>
          <a:prstGeom prst="rect">
            <a:avLst/>
          </a:prstGeom>
        </p:spPr>
      </p:pic>
      <p:sp>
        <p:nvSpPr>
          <p:cNvPr id="38" name="Text 24"/>
          <p:cNvSpPr txBox="1"/>
          <p:nvPr/>
        </p:nvSpPr>
        <p:spPr>
          <a:xfrm>
            <a:off x="5120640" y="3767328"/>
            <a:ext cx="3474720" cy="256032"/>
          </a:xfrm>
          <a:prstGeom prst="rect">
            <a:avLst/>
          </a:prstGeom>
          <a:noFill/>
          <a:ln/>
        </p:spPr>
        <p:txBody>
          <a:bodyPr wrap="square" lIns="0" tIns="0" rIns="0" bIns="0" rtlCol="0" anchor="t"/>
          <a:lstStyle/>
          <a:p>
            <a:pPr indent="0" marL="0">
              <a:buNone/>
            </a:pPr>
            <a:r>
              <a:rPr lang="en-US" sz="1400" dirty="0">
                <a:solidFill>
                  <a:schemeClr val="bg1"/>
                </a:solidFill>
              </a:rPr>
              <a:t>Live status instead of repeated phone calls</a:t>
            </a:r>
            <a:endParaRPr lang="en-US" sz="1400" dirty="0"/>
          </a:p>
        </p:txBody>
      </p:sp>
      <p:pic>
        <p:nvPicPr>
          <p:cNvPr id="39" name="Image 11" descr="preencoded.png">    </p:cNvPr>
          <p:cNvPicPr>
            <a:picLocks noChangeAspect="1"/>
          </p:cNvPicPr>
          <p:nvPr/>
        </p:nvPicPr>
        <p:blipFill>
          <a:blip r:embed="rId12"/>
          <a:stretch>
            <a:fillRect/>
          </a:stretch>
        </p:blipFill>
        <p:spPr>
          <a:xfrm>
            <a:off x="4846320" y="4096512"/>
            <a:ext cx="182880" cy="182880"/>
          </a:xfrm>
          <a:prstGeom prst="rect">
            <a:avLst/>
          </a:prstGeom>
        </p:spPr>
      </p:pic>
      <p:sp>
        <p:nvSpPr>
          <p:cNvPr id="40" name="Text 25"/>
          <p:cNvSpPr txBox="1"/>
          <p:nvPr/>
        </p:nvSpPr>
        <p:spPr>
          <a:xfrm>
            <a:off x="5120640" y="4059936"/>
            <a:ext cx="3474720" cy="256032"/>
          </a:xfrm>
          <a:prstGeom prst="rect">
            <a:avLst/>
          </a:prstGeom>
          <a:noFill/>
          <a:ln/>
        </p:spPr>
        <p:txBody>
          <a:bodyPr wrap="square" lIns="0" tIns="0" rIns="0" bIns="0" rtlCol="0" anchor="t"/>
          <a:lstStyle/>
          <a:p>
            <a:pPr indent="0" marL="0">
              <a:buNone/>
            </a:pPr>
            <a:r>
              <a:rPr lang="en-US" sz="1400" dirty="0">
                <a:solidFill>
                  <a:schemeClr val="bg1"/>
                </a:solidFill>
              </a:rPr>
              <a:t>One command center for administrators</a:t>
            </a:r>
            <a:endParaRPr lang="en-US" sz="14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7A8A8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19456"/>
            <a:ext cx="548640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04  |  USERS</a:t>
            </a:r>
            <a:endParaRPr lang="en-US" sz="1100" dirty="0"/>
          </a:p>
        </p:txBody>
      </p:sp>
      <p:sp>
        <p:nvSpPr>
          <p:cNvPr id="4" name="Text 0"/>
          <p:cNvSpPr/>
          <p:nvPr>
            <p:ph idx="100" type="title" hasCustomPrompt="1"/>
          </p:nvPr>
        </p:nvSpPr>
        <p:spPr>
          <a:xfrm>
            <a:off x="457200" y="420624"/>
            <a:ext cx="8229600" cy="566928"/>
          </a:xfrm>
          <a:prstGeom prst="rect">
            <a:avLst/>
          </a:prstGeom>
          <a:noFill/>
          <a:ln/>
        </p:spPr>
        <p:txBody>
          <a:bodyPr wrap="square" lIns="0" tIns="0" rIns="0" bIns="0" rtlCol="0" anchor="ctr"/>
          <a:lstStyle/>
          <a:p>
            <a:pPr algn="l" indent="0" marL="0">
              <a:buNone/>
            </a:pPr>
            <a:r>
              <a:rPr lang="en-US" sz="2800" b="1" dirty="0">
                <a:solidFill>
                  <a:schemeClr val="tx1"/>
                </a:solidFill>
              </a:rPr>
              <a:t>Users and Their Responsibilities</a:t>
            </a:r>
            <a:endParaRPr lang="en-US" sz="2800" dirty="0"/>
          </a:p>
        </p:txBody>
      </p:sp>
      <p:sp>
        <p:nvSpPr>
          <p:cNvPr id="5" name="Role card"/>
          <p:cNvSpPr/>
          <p:nvPr/>
        </p:nvSpPr>
        <p:spPr>
          <a:xfrm>
            <a:off x="457200" y="1188720"/>
            <a:ext cx="2651760" cy="1261872"/>
          </a:xfrm>
          <a:prstGeom prst="roundRect">
            <a:avLst>
              <a:gd name="adj" fmla="val 5797"/>
            </a:avLst>
          </a:prstGeom>
          <a:solidFill>
            <a:schemeClr val="bg2"/>
          </a:solidFill>
          <a:ln/>
        </p:spPr>
      </p:sp>
      <p:sp>
        <p:nvSpPr>
          <p:cNvPr id="6" name="Shape 3"/>
          <p:cNvSpPr/>
          <p:nvPr/>
        </p:nvSpPr>
        <p:spPr>
          <a:xfrm>
            <a:off x="594360" y="1325880"/>
            <a:ext cx="457200" cy="45720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708660" y="1440180"/>
            <a:ext cx="228600" cy="228600"/>
          </a:xfrm>
          <a:prstGeom prst="rect">
            <a:avLst/>
          </a:prstGeom>
        </p:spPr>
      </p:pic>
      <p:sp>
        <p:nvSpPr>
          <p:cNvPr id="8" name="Text 4"/>
          <p:cNvSpPr txBox="1"/>
          <p:nvPr/>
        </p:nvSpPr>
        <p:spPr>
          <a:xfrm>
            <a:off x="1170432" y="1325880"/>
            <a:ext cx="1828800" cy="457200"/>
          </a:xfrm>
          <a:prstGeom prst="rect">
            <a:avLst/>
          </a:prstGeom>
          <a:noFill/>
          <a:ln/>
        </p:spPr>
        <p:txBody>
          <a:bodyPr wrap="square" lIns="0" tIns="0" rIns="0" bIns="0" rtlCol="0" anchor="ctr"/>
          <a:lstStyle/>
          <a:p>
            <a:pPr indent="0" marL="0">
              <a:buNone/>
            </a:pPr>
            <a:r>
              <a:rPr lang="en-US" sz="1600" b="1" dirty="0">
                <a:solidFill>
                  <a:schemeClr val="tx1"/>
                </a:solidFill>
              </a:rPr>
              <a:t>Survivor</a:t>
            </a:r>
            <a:endParaRPr lang="en-US" sz="1600" dirty="0"/>
          </a:p>
        </p:txBody>
      </p:sp>
      <p:sp>
        <p:nvSpPr>
          <p:cNvPr id="9" name="Text 5"/>
          <p:cNvSpPr txBox="1"/>
          <p:nvPr/>
        </p:nvSpPr>
        <p:spPr>
          <a:xfrm>
            <a:off x="594360" y="1883664"/>
            <a:ext cx="2377440" cy="530352"/>
          </a:xfrm>
          <a:prstGeom prst="rect">
            <a:avLst/>
          </a:prstGeom>
          <a:noFill/>
          <a:ln/>
        </p:spPr>
        <p:txBody>
          <a:bodyPr wrap="square" lIns="0" tIns="0" rIns="0" bIns="0" rtlCol="0" anchor="t"/>
          <a:lstStyle/>
          <a:p>
            <a:pPr indent="0" marL="0">
              <a:buNone/>
            </a:pPr>
            <a:r>
              <a:rPr lang="en-US" sz="1400" dirty="0">
                <a:solidFill>
                  <a:schemeClr val="tx1"/>
                </a:solidFill>
              </a:rPr>
              <a:t>Reports an emergency and tracks help</a:t>
            </a:r>
            <a:endParaRPr lang="en-US" sz="1400" dirty="0"/>
          </a:p>
        </p:txBody>
      </p:sp>
      <p:sp>
        <p:nvSpPr>
          <p:cNvPr id="10" name="Role card"/>
          <p:cNvSpPr/>
          <p:nvPr/>
        </p:nvSpPr>
        <p:spPr>
          <a:xfrm>
            <a:off x="3246120" y="1188720"/>
            <a:ext cx="2651760" cy="1261872"/>
          </a:xfrm>
          <a:prstGeom prst="roundRect">
            <a:avLst>
              <a:gd name="adj" fmla="val 5797"/>
            </a:avLst>
          </a:prstGeom>
          <a:solidFill>
            <a:schemeClr val="bg2"/>
          </a:solidFill>
          <a:ln/>
        </p:spPr>
      </p:sp>
      <p:sp>
        <p:nvSpPr>
          <p:cNvPr id="11" name="Shape 7"/>
          <p:cNvSpPr/>
          <p:nvPr/>
        </p:nvSpPr>
        <p:spPr>
          <a:xfrm>
            <a:off x="3383280" y="1325880"/>
            <a:ext cx="457200" cy="457200"/>
          </a:xfrm>
          <a:prstGeom prst="ellipse">
            <a:avLst/>
          </a:prstGeom>
          <a:solidFill>
            <a:schemeClr val="accent3"/>
          </a:solidFill>
          <a:ln/>
        </p:spPr>
      </p:sp>
      <p:pic>
        <p:nvPicPr>
          <p:cNvPr id="12" name="Image 1" descr="preencoded.png">    </p:cNvPr>
          <p:cNvPicPr>
            <a:picLocks noChangeAspect="1"/>
          </p:cNvPicPr>
          <p:nvPr/>
        </p:nvPicPr>
        <p:blipFill>
          <a:blip r:embed="rId2"/>
          <a:stretch>
            <a:fillRect/>
          </a:stretch>
        </p:blipFill>
        <p:spPr>
          <a:xfrm>
            <a:off x="3497580" y="1440180"/>
            <a:ext cx="228600" cy="228600"/>
          </a:xfrm>
          <a:prstGeom prst="rect">
            <a:avLst/>
          </a:prstGeom>
        </p:spPr>
      </p:pic>
      <p:sp>
        <p:nvSpPr>
          <p:cNvPr id="13" name="Text 8"/>
          <p:cNvSpPr txBox="1"/>
          <p:nvPr/>
        </p:nvSpPr>
        <p:spPr>
          <a:xfrm>
            <a:off x="3959352" y="1325880"/>
            <a:ext cx="1828800" cy="457200"/>
          </a:xfrm>
          <a:prstGeom prst="rect">
            <a:avLst/>
          </a:prstGeom>
          <a:noFill/>
          <a:ln/>
        </p:spPr>
        <p:txBody>
          <a:bodyPr wrap="square" lIns="0" tIns="0" rIns="0" bIns="0" rtlCol="0" anchor="ctr"/>
          <a:lstStyle/>
          <a:p>
            <a:pPr indent="0" marL="0">
              <a:buNone/>
            </a:pPr>
            <a:r>
              <a:rPr lang="en-US" sz="1600" b="1" dirty="0">
                <a:solidFill>
                  <a:schemeClr val="tx1"/>
                </a:solidFill>
              </a:rPr>
              <a:t>Volunteer</a:t>
            </a:r>
            <a:endParaRPr lang="en-US" sz="1600" dirty="0"/>
          </a:p>
        </p:txBody>
      </p:sp>
      <p:sp>
        <p:nvSpPr>
          <p:cNvPr id="14" name="Text 9"/>
          <p:cNvSpPr txBox="1"/>
          <p:nvPr/>
        </p:nvSpPr>
        <p:spPr>
          <a:xfrm>
            <a:off x="3383280" y="1883664"/>
            <a:ext cx="2377440" cy="530352"/>
          </a:xfrm>
          <a:prstGeom prst="rect">
            <a:avLst/>
          </a:prstGeom>
          <a:noFill/>
          <a:ln/>
        </p:spPr>
        <p:txBody>
          <a:bodyPr wrap="square" lIns="0" tIns="0" rIns="0" bIns="0" rtlCol="0" anchor="t"/>
          <a:lstStyle/>
          <a:p>
            <a:pPr indent="0" marL="0">
              <a:buNone/>
            </a:pPr>
            <a:r>
              <a:rPr lang="en-US" sz="1400" dirty="0">
                <a:solidFill>
                  <a:schemeClr val="tx1"/>
                </a:solidFill>
              </a:rPr>
              <a:t>Accepts nearby tasks and provides on-ground assistance</a:t>
            </a:r>
            <a:endParaRPr lang="en-US" sz="1400" dirty="0"/>
          </a:p>
        </p:txBody>
      </p:sp>
      <p:sp>
        <p:nvSpPr>
          <p:cNvPr id="15" name="Role card"/>
          <p:cNvSpPr/>
          <p:nvPr/>
        </p:nvSpPr>
        <p:spPr>
          <a:xfrm>
            <a:off x="6035040" y="1188720"/>
            <a:ext cx="2651760" cy="1261872"/>
          </a:xfrm>
          <a:prstGeom prst="roundRect">
            <a:avLst>
              <a:gd name="adj" fmla="val 5797"/>
            </a:avLst>
          </a:prstGeom>
          <a:solidFill>
            <a:schemeClr val="bg2"/>
          </a:solidFill>
          <a:ln/>
        </p:spPr>
      </p:sp>
      <p:sp>
        <p:nvSpPr>
          <p:cNvPr id="16" name="Shape 11"/>
          <p:cNvSpPr/>
          <p:nvPr/>
        </p:nvSpPr>
        <p:spPr>
          <a:xfrm>
            <a:off x="6172200" y="1325880"/>
            <a:ext cx="457200" cy="457200"/>
          </a:xfrm>
          <a:prstGeom prst="ellipse">
            <a:avLst/>
          </a:prstGeom>
          <a:solidFill>
            <a:schemeClr val="accent4"/>
          </a:solidFill>
          <a:ln/>
        </p:spPr>
      </p:sp>
      <p:pic>
        <p:nvPicPr>
          <p:cNvPr id="17" name="Image 2" descr="preencoded.png">    </p:cNvPr>
          <p:cNvPicPr>
            <a:picLocks noChangeAspect="1"/>
          </p:cNvPicPr>
          <p:nvPr/>
        </p:nvPicPr>
        <p:blipFill>
          <a:blip r:embed="rId3"/>
          <a:stretch>
            <a:fillRect/>
          </a:stretch>
        </p:blipFill>
        <p:spPr>
          <a:xfrm>
            <a:off x="6286500" y="1440180"/>
            <a:ext cx="228600" cy="228600"/>
          </a:xfrm>
          <a:prstGeom prst="rect">
            <a:avLst/>
          </a:prstGeom>
        </p:spPr>
      </p:pic>
      <p:sp>
        <p:nvSpPr>
          <p:cNvPr id="18" name="Text 12"/>
          <p:cNvSpPr txBox="1"/>
          <p:nvPr/>
        </p:nvSpPr>
        <p:spPr>
          <a:xfrm>
            <a:off x="6748272" y="1325880"/>
            <a:ext cx="1828800" cy="457200"/>
          </a:xfrm>
          <a:prstGeom prst="rect">
            <a:avLst/>
          </a:prstGeom>
          <a:noFill/>
          <a:ln/>
        </p:spPr>
        <p:txBody>
          <a:bodyPr wrap="square" lIns="0" tIns="0" rIns="0" bIns="0" rtlCol="0" anchor="ctr"/>
          <a:lstStyle/>
          <a:p>
            <a:pPr indent="0" marL="0">
              <a:buNone/>
            </a:pPr>
            <a:r>
              <a:rPr lang="en-US" sz="1600" b="1" dirty="0">
                <a:solidFill>
                  <a:schemeClr val="tx1"/>
                </a:solidFill>
              </a:rPr>
              <a:t>NGO</a:t>
            </a:r>
            <a:endParaRPr lang="en-US" sz="1600" dirty="0"/>
          </a:p>
        </p:txBody>
      </p:sp>
      <p:sp>
        <p:nvSpPr>
          <p:cNvPr id="19" name="Text 13"/>
          <p:cNvSpPr txBox="1"/>
          <p:nvPr/>
        </p:nvSpPr>
        <p:spPr>
          <a:xfrm>
            <a:off x="6172200" y="1883664"/>
            <a:ext cx="2377440" cy="530352"/>
          </a:xfrm>
          <a:prstGeom prst="rect">
            <a:avLst/>
          </a:prstGeom>
          <a:noFill/>
          <a:ln/>
        </p:spPr>
        <p:txBody>
          <a:bodyPr wrap="square" lIns="0" tIns="0" rIns="0" bIns="0" rtlCol="0" anchor="t"/>
          <a:lstStyle/>
          <a:p>
            <a:pPr indent="0" marL="0">
              <a:buNone/>
            </a:pPr>
            <a:r>
              <a:rPr lang="en-US" sz="1400" dirty="0">
                <a:solidFill>
                  <a:schemeClr val="tx1"/>
                </a:solidFill>
              </a:rPr>
              <a:t>Manages resources, requests, and distribution</a:t>
            </a:r>
            <a:endParaRPr lang="en-US" sz="1400" dirty="0"/>
          </a:p>
        </p:txBody>
      </p:sp>
      <p:sp>
        <p:nvSpPr>
          <p:cNvPr id="20" name="Role card"/>
          <p:cNvSpPr/>
          <p:nvPr/>
        </p:nvSpPr>
        <p:spPr>
          <a:xfrm>
            <a:off x="457200" y="2560320"/>
            <a:ext cx="2651760" cy="1261872"/>
          </a:xfrm>
          <a:prstGeom prst="roundRect">
            <a:avLst>
              <a:gd name="adj" fmla="val 5797"/>
            </a:avLst>
          </a:prstGeom>
          <a:solidFill>
            <a:schemeClr val="bg2"/>
          </a:solidFill>
          <a:ln/>
        </p:spPr>
      </p:sp>
      <p:sp>
        <p:nvSpPr>
          <p:cNvPr id="21" name="Shape 15"/>
          <p:cNvSpPr/>
          <p:nvPr/>
        </p:nvSpPr>
        <p:spPr>
          <a:xfrm>
            <a:off x="594360" y="2697480"/>
            <a:ext cx="457200" cy="457200"/>
          </a:xfrm>
          <a:prstGeom prst="ellipse">
            <a:avLst/>
          </a:prstGeom>
          <a:solidFill>
            <a:schemeClr val="accent5"/>
          </a:solidFill>
          <a:ln/>
        </p:spPr>
      </p:sp>
      <p:pic>
        <p:nvPicPr>
          <p:cNvPr id="22" name="Image 3" descr="preencoded.png">    </p:cNvPr>
          <p:cNvPicPr>
            <a:picLocks noChangeAspect="1"/>
          </p:cNvPicPr>
          <p:nvPr/>
        </p:nvPicPr>
        <p:blipFill>
          <a:blip r:embed="rId4"/>
          <a:stretch>
            <a:fillRect/>
          </a:stretch>
        </p:blipFill>
        <p:spPr>
          <a:xfrm>
            <a:off x="708660" y="2811780"/>
            <a:ext cx="228600" cy="228600"/>
          </a:xfrm>
          <a:prstGeom prst="rect">
            <a:avLst/>
          </a:prstGeom>
        </p:spPr>
      </p:pic>
      <p:sp>
        <p:nvSpPr>
          <p:cNvPr id="23" name="Text 16"/>
          <p:cNvSpPr txBox="1"/>
          <p:nvPr/>
        </p:nvSpPr>
        <p:spPr>
          <a:xfrm>
            <a:off x="1170432" y="2697480"/>
            <a:ext cx="1828800" cy="457200"/>
          </a:xfrm>
          <a:prstGeom prst="rect">
            <a:avLst/>
          </a:prstGeom>
          <a:noFill/>
          <a:ln/>
        </p:spPr>
        <p:txBody>
          <a:bodyPr wrap="square" lIns="0" tIns="0" rIns="0" bIns="0" rtlCol="0" anchor="ctr"/>
          <a:lstStyle/>
          <a:p>
            <a:pPr indent="0" marL="0">
              <a:buNone/>
            </a:pPr>
            <a:r>
              <a:rPr lang="en-US" sz="1600" b="1" dirty="0">
                <a:solidFill>
                  <a:schemeClr val="tx1"/>
                </a:solidFill>
              </a:rPr>
              <a:t>Shelter Manager</a:t>
            </a:r>
            <a:endParaRPr lang="en-US" sz="1600" dirty="0"/>
          </a:p>
        </p:txBody>
      </p:sp>
      <p:sp>
        <p:nvSpPr>
          <p:cNvPr id="24" name="Text 17"/>
          <p:cNvSpPr txBox="1"/>
          <p:nvPr/>
        </p:nvSpPr>
        <p:spPr>
          <a:xfrm>
            <a:off x="594360" y="3255264"/>
            <a:ext cx="2377440" cy="530352"/>
          </a:xfrm>
          <a:prstGeom prst="rect">
            <a:avLst/>
          </a:prstGeom>
          <a:noFill/>
          <a:ln/>
        </p:spPr>
        <p:txBody>
          <a:bodyPr wrap="square" lIns="0" tIns="0" rIns="0" bIns="0" rtlCol="0" anchor="t"/>
          <a:lstStyle/>
          <a:p>
            <a:pPr indent="0" marL="0">
              <a:buNone/>
            </a:pPr>
            <a:r>
              <a:rPr lang="en-US" sz="1400" dirty="0">
                <a:solidFill>
                  <a:schemeClr val="tx1"/>
                </a:solidFill>
              </a:rPr>
              <a:t>Updates capacity, occupancy, and facilities</a:t>
            </a:r>
            <a:endParaRPr lang="en-US" sz="1400" dirty="0"/>
          </a:p>
        </p:txBody>
      </p:sp>
      <p:sp>
        <p:nvSpPr>
          <p:cNvPr id="25" name="Role card"/>
          <p:cNvSpPr/>
          <p:nvPr/>
        </p:nvSpPr>
        <p:spPr>
          <a:xfrm>
            <a:off x="3246120" y="2560320"/>
            <a:ext cx="2651760" cy="1261872"/>
          </a:xfrm>
          <a:prstGeom prst="roundRect">
            <a:avLst>
              <a:gd name="adj" fmla="val 5797"/>
            </a:avLst>
          </a:prstGeom>
          <a:solidFill>
            <a:schemeClr val="bg2"/>
          </a:solidFill>
          <a:ln/>
        </p:spPr>
      </p:sp>
      <p:sp>
        <p:nvSpPr>
          <p:cNvPr id="26" name="Shape 19"/>
          <p:cNvSpPr/>
          <p:nvPr/>
        </p:nvSpPr>
        <p:spPr>
          <a:xfrm>
            <a:off x="3383280" y="2697480"/>
            <a:ext cx="457200" cy="457200"/>
          </a:xfrm>
          <a:prstGeom prst="ellipse">
            <a:avLst/>
          </a:prstGeom>
          <a:solidFill>
            <a:schemeClr val="accent2"/>
          </a:solidFill>
          <a:ln/>
        </p:spPr>
      </p:sp>
      <p:pic>
        <p:nvPicPr>
          <p:cNvPr id="27" name="Image 4" descr="preencoded.png">    </p:cNvPr>
          <p:cNvPicPr>
            <a:picLocks noChangeAspect="1"/>
          </p:cNvPicPr>
          <p:nvPr/>
        </p:nvPicPr>
        <p:blipFill>
          <a:blip r:embed="rId5"/>
          <a:stretch>
            <a:fillRect/>
          </a:stretch>
        </p:blipFill>
        <p:spPr>
          <a:xfrm>
            <a:off x="3497580" y="2811780"/>
            <a:ext cx="228600" cy="228600"/>
          </a:xfrm>
          <a:prstGeom prst="rect">
            <a:avLst/>
          </a:prstGeom>
        </p:spPr>
      </p:pic>
      <p:sp>
        <p:nvSpPr>
          <p:cNvPr id="28" name="Text 20"/>
          <p:cNvSpPr txBox="1"/>
          <p:nvPr/>
        </p:nvSpPr>
        <p:spPr>
          <a:xfrm>
            <a:off x="3959352" y="2697480"/>
            <a:ext cx="1828800" cy="457200"/>
          </a:xfrm>
          <a:prstGeom prst="rect">
            <a:avLst/>
          </a:prstGeom>
          <a:noFill/>
          <a:ln/>
        </p:spPr>
        <p:txBody>
          <a:bodyPr wrap="square" lIns="0" tIns="0" rIns="0" bIns="0" rtlCol="0" anchor="ctr"/>
          <a:lstStyle/>
          <a:p>
            <a:pPr indent="0" marL="0">
              <a:buNone/>
            </a:pPr>
            <a:r>
              <a:rPr lang="en-US" sz="1600" b="1" dirty="0">
                <a:solidFill>
                  <a:schemeClr val="tx1"/>
                </a:solidFill>
              </a:rPr>
              <a:t>Resource Provider</a:t>
            </a:r>
            <a:endParaRPr lang="en-US" sz="1600" dirty="0"/>
          </a:p>
        </p:txBody>
      </p:sp>
      <p:sp>
        <p:nvSpPr>
          <p:cNvPr id="29" name="Text 21"/>
          <p:cNvSpPr txBox="1"/>
          <p:nvPr/>
        </p:nvSpPr>
        <p:spPr>
          <a:xfrm>
            <a:off x="3383280" y="3255264"/>
            <a:ext cx="2377440" cy="530352"/>
          </a:xfrm>
          <a:prstGeom prst="rect">
            <a:avLst/>
          </a:prstGeom>
          <a:noFill/>
          <a:ln/>
        </p:spPr>
        <p:txBody>
          <a:bodyPr wrap="square" lIns="0" tIns="0" rIns="0" bIns="0" rtlCol="0" anchor="t"/>
          <a:lstStyle/>
          <a:p>
            <a:pPr indent="0" marL="0">
              <a:buNone/>
            </a:pPr>
            <a:r>
              <a:rPr lang="en-US" sz="1400" dirty="0">
                <a:solidFill>
                  <a:schemeClr val="tx1"/>
                </a:solidFill>
              </a:rPr>
              <a:t>Publishes and maintains emergency inventory</a:t>
            </a:r>
            <a:endParaRPr lang="en-US" sz="1400" dirty="0"/>
          </a:p>
        </p:txBody>
      </p:sp>
      <p:sp>
        <p:nvSpPr>
          <p:cNvPr id="30" name="Role card"/>
          <p:cNvSpPr/>
          <p:nvPr/>
        </p:nvSpPr>
        <p:spPr>
          <a:xfrm>
            <a:off x="6035040" y="2560320"/>
            <a:ext cx="2651760" cy="1261872"/>
          </a:xfrm>
          <a:prstGeom prst="roundRect">
            <a:avLst>
              <a:gd name="adj" fmla="val 5797"/>
            </a:avLst>
          </a:prstGeom>
          <a:solidFill>
            <a:schemeClr val="bg2"/>
          </a:solidFill>
          <a:ln/>
        </p:spPr>
      </p:sp>
      <p:sp>
        <p:nvSpPr>
          <p:cNvPr id="31" name="Shape 23"/>
          <p:cNvSpPr/>
          <p:nvPr/>
        </p:nvSpPr>
        <p:spPr>
          <a:xfrm>
            <a:off x="6172200" y="2697480"/>
            <a:ext cx="457200" cy="457200"/>
          </a:xfrm>
          <a:prstGeom prst="ellipse">
            <a:avLst/>
          </a:prstGeom>
          <a:solidFill>
            <a:schemeClr val="tx2"/>
          </a:solidFill>
          <a:ln/>
        </p:spPr>
      </p:sp>
      <p:pic>
        <p:nvPicPr>
          <p:cNvPr id="32" name="Image 5" descr="preencoded.png">    </p:cNvPr>
          <p:cNvPicPr>
            <a:picLocks noChangeAspect="1"/>
          </p:cNvPicPr>
          <p:nvPr/>
        </p:nvPicPr>
        <p:blipFill>
          <a:blip r:embed="rId6"/>
          <a:stretch>
            <a:fillRect/>
          </a:stretch>
        </p:blipFill>
        <p:spPr>
          <a:xfrm>
            <a:off x="6286500" y="2811780"/>
            <a:ext cx="228600" cy="228600"/>
          </a:xfrm>
          <a:prstGeom prst="rect">
            <a:avLst/>
          </a:prstGeom>
        </p:spPr>
      </p:pic>
      <p:sp>
        <p:nvSpPr>
          <p:cNvPr id="33" name="Text 24"/>
          <p:cNvSpPr txBox="1"/>
          <p:nvPr/>
        </p:nvSpPr>
        <p:spPr>
          <a:xfrm>
            <a:off x="6748272" y="2697480"/>
            <a:ext cx="1828800" cy="457200"/>
          </a:xfrm>
          <a:prstGeom prst="rect">
            <a:avLst/>
          </a:prstGeom>
          <a:noFill/>
          <a:ln/>
        </p:spPr>
        <p:txBody>
          <a:bodyPr wrap="square" lIns="0" tIns="0" rIns="0" bIns="0" rtlCol="0" anchor="ctr"/>
          <a:lstStyle/>
          <a:p>
            <a:pPr indent="0" marL="0">
              <a:buNone/>
            </a:pPr>
            <a:r>
              <a:rPr lang="en-US" sz="1600" b="1" dirty="0">
                <a:solidFill>
                  <a:schemeClr val="tx1"/>
                </a:solidFill>
              </a:rPr>
              <a:t>Administrator</a:t>
            </a:r>
            <a:endParaRPr lang="en-US" sz="1600" dirty="0"/>
          </a:p>
        </p:txBody>
      </p:sp>
      <p:sp>
        <p:nvSpPr>
          <p:cNvPr id="34" name="Text 25"/>
          <p:cNvSpPr txBox="1"/>
          <p:nvPr/>
        </p:nvSpPr>
        <p:spPr>
          <a:xfrm>
            <a:off x="6172200" y="3255264"/>
            <a:ext cx="2377440" cy="530352"/>
          </a:xfrm>
          <a:prstGeom prst="rect">
            <a:avLst/>
          </a:prstGeom>
          <a:noFill/>
          <a:ln/>
        </p:spPr>
        <p:txBody>
          <a:bodyPr wrap="square" lIns="0" tIns="0" rIns="0" bIns="0" rtlCol="0" anchor="t"/>
          <a:lstStyle/>
          <a:p>
            <a:pPr indent="0" marL="0">
              <a:buNone/>
            </a:pPr>
            <a:r>
              <a:rPr lang="en-US" sz="1400" dirty="0">
                <a:solidFill>
                  <a:schemeClr val="tx1"/>
                </a:solidFill>
              </a:rPr>
              <a:t>Verifies users and coordinates the entire network</a:t>
            </a:r>
            <a:endParaRPr lang="en-US" sz="1400" dirty="0"/>
          </a:p>
        </p:txBody>
      </p:sp>
      <p:sp>
        <p:nvSpPr>
          <p:cNvPr id="35" name="Shape 26"/>
          <p:cNvSpPr/>
          <p:nvPr/>
        </p:nvSpPr>
        <p:spPr>
          <a:xfrm>
            <a:off x="457200" y="4023360"/>
            <a:ext cx="8229600" cy="713232"/>
          </a:xfrm>
          <a:prstGeom prst="roundRect">
            <a:avLst>
              <a:gd name="adj" fmla="val 10256"/>
            </a:avLst>
          </a:prstGeom>
          <a:solidFill>
            <a:schemeClr val="accent2">
              <a:alpha val="22000"/>
            </a:schemeClr>
          </a:solidFill>
          <a:ln/>
        </p:spPr>
      </p:sp>
      <p:sp>
        <p:nvSpPr>
          <p:cNvPr id="36" name="Shape 27"/>
          <p:cNvSpPr/>
          <p:nvPr/>
        </p:nvSpPr>
        <p:spPr>
          <a:xfrm>
            <a:off x="621792" y="4160520"/>
            <a:ext cx="438912" cy="438912"/>
          </a:xfrm>
          <a:prstGeom prst="ellipse">
            <a:avLst/>
          </a:prstGeom>
          <a:solidFill>
            <a:schemeClr val="accent2"/>
          </a:solidFill>
          <a:ln/>
        </p:spPr>
      </p:sp>
      <p:pic>
        <p:nvPicPr>
          <p:cNvPr id="37" name="Image 6" descr="preencoded.png">    </p:cNvPr>
          <p:cNvPicPr>
            <a:picLocks noChangeAspect="1"/>
          </p:cNvPicPr>
          <p:nvPr/>
        </p:nvPicPr>
        <p:blipFill>
          <a:blip r:embed="rId7"/>
          <a:stretch>
            <a:fillRect/>
          </a:stretch>
        </p:blipFill>
        <p:spPr>
          <a:xfrm>
            <a:off x="731520" y="4270248"/>
            <a:ext cx="219456" cy="219456"/>
          </a:xfrm>
          <a:prstGeom prst="rect">
            <a:avLst/>
          </a:prstGeom>
        </p:spPr>
      </p:pic>
      <p:sp>
        <p:nvSpPr>
          <p:cNvPr id="38" name="Text 28"/>
          <p:cNvSpPr txBox="1"/>
          <p:nvPr/>
        </p:nvSpPr>
        <p:spPr>
          <a:xfrm>
            <a:off x="1280160" y="4023360"/>
            <a:ext cx="7223760" cy="713232"/>
          </a:xfrm>
          <a:prstGeom prst="rect">
            <a:avLst/>
          </a:prstGeom>
          <a:noFill/>
          <a:ln/>
        </p:spPr>
        <p:txBody>
          <a:bodyPr wrap="square" lIns="0" tIns="0" rIns="0" bIns="0" rtlCol="0" anchor="ctr"/>
          <a:lstStyle/>
          <a:p>
            <a:pPr indent="0" marL="0">
              <a:buNone/>
            </a:pPr>
            <a:r>
              <a:rPr lang="en-US" sz="1400" b="1" dirty="0">
                <a:solidFill>
                  <a:schemeClr val="tx1"/>
                </a:solidFill>
              </a:rPr>
              <a:t>Survivors get immediate access. </a:t>
            </a:r>
            <a:pPr indent="0" marL="0">
              <a:buNone/>
            </a:pPr>
            <a:r>
              <a:rPr lang="en-US" sz="1400" dirty="0">
                <a:solidFill>
                  <a:schemeClr val="tx1"/>
                </a:solidFill>
              </a:rPr>
              <a:t>Volunteers, NGOs, shelter managers, and resource providers need admin verification before receiving trusted responder access.</a:t>
            </a:r>
            <a:endParaRPr lang="en-US" sz="14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7A8A8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19456"/>
            <a:ext cx="548640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05  |  SURVIVOR EXPERIENCE</a:t>
            </a:r>
            <a:endParaRPr lang="en-US" sz="1100" dirty="0"/>
          </a:p>
        </p:txBody>
      </p:sp>
      <p:sp>
        <p:nvSpPr>
          <p:cNvPr id="4" name="Text 0"/>
          <p:cNvSpPr/>
          <p:nvPr>
            <p:ph idx="100" type="title" hasCustomPrompt="1"/>
          </p:nvPr>
        </p:nvSpPr>
        <p:spPr>
          <a:xfrm>
            <a:off x="457200" y="420624"/>
            <a:ext cx="8229600" cy="566928"/>
          </a:xfrm>
          <a:prstGeom prst="rect">
            <a:avLst/>
          </a:prstGeom>
          <a:noFill/>
          <a:ln/>
        </p:spPr>
        <p:txBody>
          <a:bodyPr wrap="square" lIns="0" tIns="0" rIns="0" bIns="0" rtlCol="0" anchor="ctr"/>
          <a:lstStyle/>
          <a:p>
            <a:pPr algn="l" indent="0" marL="0">
              <a:buNone/>
            </a:pPr>
            <a:r>
              <a:rPr lang="en-US" sz="2800" b="1" dirty="0">
                <a:solidFill>
                  <a:schemeClr val="tx1"/>
                </a:solidFill>
              </a:rPr>
              <a:t>Survivor Experience: SOS in Three Taps</a:t>
            </a:r>
            <a:endParaRPr lang="en-US" sz="2800" dirty="0"/>
          </a:p>
        </p:txBody>
      </p:sp>
      <p:sp>
        <p:nvSpPr>
          <p:cNvPr id="5" name="Shape 2"/>
          <p:cNvSpPr/>
          <p:nvPr/>
        </p:nvSpPr>
        <p:spPr>
          <a:xfrm>
            <a:off x="457200" y="1143000"/>
            <a:ext cx="1554480" cy="274320"/>
          </a:xfrm>
          <a:prstGeom prst="roundRect">
            <a:avLst>
              <a:gd name="adj" fmla="val 50000"/>
            </a:avLst>
          </a:prstGeom>
          <a:solidFill>
            <a:schemeClr val="accent1"/>
          </a:solidFill>
          <a:ln/>
        </p:spPr>
      </p:sp>
      <p:sp>
        <p:nvSpPr>
          <p:cNvPr id="6" name="Text 3"/>
          <p:cNvSpPr txBox="1"/>
          <p:nvPr/>
        </p:nvSpPr>
        <p:spPr>
          <a:xfrm>
            <a:off x="457200" y="1143000"/>
            <a:ext cx="1554480" cy="274320"/>
          </a:xfrm>
          <a:prstGeom prst="rect">
            <a:avLst/>
          </a:prstGeom>
          <a:noFill/>
          <a:ln/>
        </p:spPr>
        <p:txBody>
          <a:bodyPr wrap="square" lIns="0" tIns="0" rIns="0" bIns="0" rtlCol="0" anchor="ctr"/>
          <a:lstStyle/>
          <a:p>
            <a:pPr algn="ctr" indent="0" marL="0">
              <a:buNone/>
            </a:pPr>
            <a:r>
              <a:rPr lang="en-US" sz="1200" b="1" dirty="0">
                <a:solidFill>
                  <a:schemeClr val="bg1"/>
                </a:solidFill>
              </a:rPr>
              <a:t>3 taps or fewer</a:t>
            </a:r>
            <a:endParaRPr lang="en-US" sz="1200" dirty="0"/>
          </a:p>
        </p:txBody>
      </p:sp>
      <p:sp>
        <p:nvSpPr>
          <p:cNvPr id="7" name="Shape 4"/>
          <p:cNvSpPr/>
          <p:nvPr/>
        </p:nvSpPr>
        <p:spPr>
          <a:xfrm>
            <a:off x="457200" y="1554480"/>
            <a:ext cx="1280160" cy="2331720"/>
          </a:xfrm>
          <a:prstGeom prst="roundRect">
            <a:avLst>
              <a:gd name="adj" fmla="val 11429"/>
            </a:avLst>
          </a:prstGeom>
          <a:solidFill>
            <a:schemeClr val="tx1"/>
          </a:solidFill>
          <a:ln/>
          <a:effectLst>
            <a:outerShdw sx="100000" sy="100000" kx="0" ky="0" algn="bl" rotWithShape="0" blurRad="76200" dist="25400" dir="5400000">
              <a:srgbClr val="000000">
                <a:alpha val="12000"/>
              </a:srgbClr>
            </a:outerShdw>
          </a:effectLst>
        </p:spPr>
      </p:sp>
      <p:sp>
        <p:nvSpPr>
          <p:cNvPr id="8" name="Shape 5"/>
          <p:cNvSpPr/>
          <p:nvPr/>
        </p:nvSpPr>
        <p:spPr>
          <a:xfrm>
            <a:off x="521208" y="1645920"/>
            <a:ext cx="1152144" cy="2148840"/>
          </a:xfrm>
          <a:prstGeom prst="roundRect">
            <a:avLst>
              <a:gd name="adj" fmla="val 7937"/>
            </a:avLst>
          </a:prstGeom>
          <a:solidFill>
            <a:srgbClr val="FFFFFF"/>
          </a:solidFill>
          <a:ln/>
        </p:spPr>
      </p:sp>
      <p:sp>
        <p:nvSpPr>
          <p:cNvPr id="9" name="Shape 6"/>
          <p:cNvSpPr/>
          <p:nvPr/>
        </p:nvSpPr>
        <p:spPr>
          <a:xfrm>
            <a:off x="1965960" y="1554480"/>
            <a:ext cx="1280160" cy="2331720"/>
          </a:xfrm>
          <a:prstGeom prst="roundRect">
            <a:avLst>
              <a:gd name="adj" fmla="val 11429"/>
            </a:avLst>
          </a:prstGeom>
          <a:solidFill>
            <a:schemeClr val="tx1"/>
          </a:solidFill>
          <a:ln/>
          <a:effectLst>
            <a:outerShdw sx="100000" sy="100000" kx="0" ky="0" algn="bl" rotWithShape="0" blurRad="76200" dist="25400" dir="5400000">
              <a:srgbClr val="000000">
                <a:alpha val="12000"/>
              </a:srgbClr>
            </a:outerShdw>
          </a:effectLst>
        </p:spPr>
      </p:sp>
      <p:sp>
        <p:nvSpPr>
          <p:cNvPr id="10" name="Shape 7"/>
          <p:cNvSpPr/>
          <p:nvPr/>
        </p:nvSpPr>
        <p:spPr>
          <a:xfrm>
            <a:off x="2029968" y="1645920"/>
            <a:ext cx="1152144" cy="2148840"/>
          </a:xfrm>
          <a:prstGeom prst="roundRect">
            <a:avLst>
              <a:gd name="adj" fmla="val 7937"/>
            </a:avLst>
          </a:prstGeom>
          <a:solidFill>
            <a:srgbClr val="FFFFFF"/>
          </a:solidFill>
          <a:ln/>
        </p:spPr>
      </p:sp>
      <p:sp>
        <p:nvSpPr>
          <p:cNvPr id="11" name="Shape 8"/>
          <p:cNvSpPr/>
          <p:nvPr/>
        </p:nvSpPr>
        <p:spPr>
          <a:xfrm>
            <a:off x="3474720" y="1554480"/>
            <a:ext cx="1280160" cy="2331720"/>
          </a:xfrm>
          <a:prstGeom prst="roundRect">
            <a:avLst>
              <a:gd name="adj" fmla="val 11429"/>
            </a:avLst>
          </a:prstGeom>
          <a:solidFill>
            <a:schemeClr val="tx1"/>
          </a:solidFill>
          <a:ln/>
          <a:effectLst>
            <a:outerShdw sx="100000" sy="100000" kx="0" ky="0" algn="bl" rotWithShape="0" blurRad="76200" dist="25400" dir="5400000">
              <a:srgbClr val="000000">
                <a:alpha val="12000"/>
              </a:srgbClr>
            </a:outerShdw>
          </a:effectLst>
        </p:spPr>
      </p:sp>
      <p:sp>
        <p:nvSpPr>
          <p:cNvPr id="12" name="Shape 9"/>
          <p:cNvSpPr/>
          <p:nvPr/>
        </p:nvSpPr>
        <p:spPr>
          <a:xfrm>
            <a:off x="3538728" y="1645920"/>
            <a:ext cx="1152144" cy="2148840"/>
          </a:xfrm>
          <a:prstGeom prst="roundRect">
            <a:avLst>
              <a:gd name="adj" fmla="val 7937"/>
            </a:avLst>
          </a:prstGeom>
          <a:solidFill>
            <a:srgbClr val="FFFFFF"/>
          </a:solidFill>
          <a:ln/>
        </p:spPr>
      </p:sp>
      <p:sp>
        <p:nvSpPr>
          <p:cNvPr id="13" name="Shape 10"/>
          <p:cNvSpPr/>
          <p:nvPr/>
        </p:nvSpPr>
        <p:spPr>
          <a:xfrm>
            <a:off x="640080" y="2057400"/>
            <a:ext cx="914400" cy="914400"/>
          </a:xfrm>
          <a:prstGeom prst="ellipse">
            <a:avLst/>
          </a:prstGeom>
          <a:solidFill>
            <a:schemeClr val="accent1"/>
          </a:solidFill>
          <a:ln w="76200">
            <a:solidFill>
              <a:srgbClr val="E5383B">
                <a:alpha val="30000"/>
              </a:srgbClr>
            </a:solidFill>
            <a:prstDash val="solid"/>
          </a:ln>
        </p:spPr>
      </p:sp>
      <p:sp>
        <p:nvSpPr>
          <p:cNvPr id="14" name="Text 11"/>
          <p:cNvSpPr txBox="1"/>
          <p:nvPr/>
        </p:nvSpPr>
        <p:spPr>
          <a:xfrm>
            <a:off x="640080" y="2057400"/>
            <a:ext cx="914400" cy="914400"/>
          </a:xfrm>
          <a:prstGeom prst="rect">
            <a:avLst/>
          </a:prstGeom>
          <a:noFill/>
          <a:ln/>
        </p:spPr>
        <p:txBody>
          <a:bodyPr wrap="square" lIns="0" tIns="0" rIns="0" bIns="0" rtlCol="0" anchor="ctr"/>
          <a:lstStyle/>
          <a:p>
            <a:pPr algn="ctr" indent="0" marL="0">
              <a:buNone/>
            </a:pPr>
            <a:r>
              <a:rPr lang="en-US" sz="2200" b="1" dirty="0">
                <a:solidFill>
                  <a:schemeClr val="bg1"/>
                </a:solidFill>
              </a:rPr>
              <a:t>SOS</a:t>
            </a:r>
            <a:endParaRPr lang="en-US" sz="2200" dirty="0"/>
          </a:p>
        </p:txBody>
      </p:sp>
      <p:sp>
        <p:nvSpPr>
          <p:cNvPr id="15" name="Text 12"/>
          <p:cNvSpPr txBox="1"/>
          <p:nvPr/>
        </p:nvSpPr>
        <p:spPr>
          <a:xfrm>
            <a:off x="548640" y="3108960"/>
            <a:ext cx="1097280" cy="228600"/>
          </a:xfrm>
          <a:prstGeom prst="rect">
            <a:avLst/>
          </a:prstGeom>
          <a:noFill/>
          <a:ln/>
        </p:spPr>
        <p:txBody>
          <a:bodyPr wrap="square" lIns="0" tIns="0" rIns="0" bIns="0" rtlCol="0" anchor="t"/>
          <a:lstStyle/>
          <a:p>
            <a:pPr algn="ctr" indent="0" marL="0">
              <a:buNone/>
            </a:pPr>
            <a:r>
              <a:rPr lang="en-US" sz="1200" b="1" dirty="0">
                <a:solidFill>
                  <a:schemeClr val="tx1"/>
                </a:solidFill>
              </a:rPr>
              <a:t>I need help</a:t>
            </a:r>
            <a:endParaRPr lang="en-US" sz="1200" dirty="0"/>
          </a:p>
        </p:txBody>
      </p:sp>
      <p:sp>
        <p:nvSpPr>
          <p:cNvPr id="16" name="Shape 13"/>
          <p:cNvSpPr/>
          <p:nvPr/>
        </p:nvSpPr>
        <p:spPr>
          <a:xfrm>
            <a:off x="685800" y="3383280"/>
            <a:ext cx="822960" cy="219456"/>
          </a:xfrm>
          <a:prstGeom prst="roundRect">
            <a:avLst>
              <a:gd name="adj" fmla="val 50000"/>
            </a:avLst>
          </a:prstGeom>
          <a:solidFill>
            <a:srgbClr val="FBE3E3"/>
          </a:solidFill>
          <a:ln/>
        </p:spPr>
      </p:sp>
      <p:sp>
        <p:nvSpPr>
          <p:cNvPr id="17" name="Text 14"/>
          <p:cNvSpPr txBox="1"/>
          <p:nvPr/>
        </p:nvSpPr>
        <p:spPr>
          <a:xfrm>
            <a:off x="685800" y="3383280"/>
            <a:ext cx="822960" cy="219456"/>
          </a:xfrm>
          <a:prstGeom prst="rect">
            <a:avLst/>
          </a:prstGeom>
          <a:noFill/>
          <a:ln/>
        </p:spPr>
        <p:txBody>
          <a:bodyPr wrap="square" lIns="0" tIns="0" rIns="0" bIns="0" rtlCol="0" anchor="ctr"/>
          <a:lstStyle/>
          <a:p>
            <a:pPr algn="ctr" indent="0" marL="0">
              <a:buNone/>
            </a:pPr>
            <a:r>
              <a:rPr lang="en-US" sz="1000" b="1" dirty="0">
                <a:solidFill>
                  <a:srgbClr val="E5383B"/>
                </a:solidFill>
              </a:rPr>
              <a:t>Helpline</a:t>
            </a:r>
            <a:endParaRPr lang="en-US" sz="1000" dirty="0"/>
          </a:p>
        </p:txBody>
      </p:sp>
      <p:sp>
        <p:nvSpPr>
          <p:cNvPr id="18" name="Text 15"/>
          <p:cNvSpPr txBox="1"/>
          <p:nvPr/>
        </p:nvSpPr>
        <p:spPr>
          <a:xfrm>
            <a:off x="2057400" y="1737360"/>
            <a:ext cx="1097280" cy="201168"/>
          </a:xfrm>
          <a:prstGeom prst="rect">
            <a:avLst/>
          </a:prstGeom>
          <a:noFill/>
          <a:ln/>
        </p:spPr>
        <p:txBody>
          <a:bodyPr wrap="square" lIns="0" tIns="0" rIns="0" bIns="0" rtlCol="0" anchor="t"/>
          <a:lstStyle/>
          <a:p>
            <a:pPr algn="ctr" indent="0" marL="0">
              <a:buNone/>
            </a:pPr>
            <a:r>
              <a:rPr lang="en-US" sz="1000" b="1" dirty="0">
                <a:solidFill>
                  <a:schemeClr val="tx1"/>
                </a:solidFill>
              </a:rPr>
              <a:t>What do you need?</a:t>
            </a:r>
            <a:endParaRPr lang="en-US" sz="1000" dirty="0"/>
          </a:p>
        </p:txBody>
      </p:sp>
      <p:sp>
        <p:nvSpPr>
          <p:cNvPr id="19" name="Shape 16"/>
          <p:cNvSpPr/>
          <p:nvPr/>
        </p:nvSpPr>
        <p:spPr>
          <a:xfrm>
            <a:off x="2093976" y="2057400"/>
            <a:ext cx="484632" cy="676656"/>
          </a:xfrm>
          <a:prstGeom prst="roundRect">
            <a:avLst>
              <a:gd name="adj" fmla="val 11321"/>
            </a:avLst>
          </a:prstGeom>
          <a:solidFill>
            <a:srgbClr val="EDF3F4"/>
          </a:solidFill>
          <a:ln w="19050">
            <a:solidFill>
              <a:srgbClr val="E5383B"/>
            </a:solidFill>
            <a:prstDash val="solid"/>
          </a:ln>
        </p:spPr>
      </p:sp>
      <p:pic>
        <p:nvPicPr>
          <p:cNvPr id="20" name="Image 0" descr="preencoded.png">    </p:cNvPr>
          <p:cNvPicPr>
            <a:picLocks noChangeAspect="1"/>
          </p:cNvPicPr>
          <p:nvPr/>
        </p:nvPicPr>
        <p:blipFill>
          <a:blip r:embed="rId1"/>
          <a:stretch>
            <a:fillRect/>
          </a:stretch>
        </p:blipFill>
        <p:spPr>
          <a:xfrm>
            <a:off x="2221992" y="2148840"/>
            <a:ext cx="228600" cy="228600"/>
          </a:xfrm>
          <a:prstGeom prst="rect">
            <a:avLst/>
          </a:prstGeom>
        </p:spPr>
      </p:pic>
      <p:sp>
        <p:nvSpPr>
          <p:cNvPr id="21" name="Text 17"/>
          <p:cNvSpPr txBox="1"/>
          <p:nvPr/>
        </p:nvSpPr>
        <p:spPr>
          <a:xfrm>
            <a:off x="2093976" y="2468880"/>
            <a:ext cx="484632" cy="182880"/>
          </a:xfrm>
          <a:prstGeom prst="rect">
            <a:avLst/>
          </a:prstGeom>
          <a:noFill/>
          <a:ln/>
        </p:spPr>
        <p:txBody>
          <a:bodyPr wrap="square" lIns="0" tIns="0" rIns="0" bIns="0" rtlCol="0" anchor="t"/>
          <a:lstStyle/>
          <a:p>
            <a:pPr algn="ctr" indent="0" marL="0">
              <a:buNone/>
            </a:pPr>
            <a:r>
              <a:rPr lang="en-US" sz="800" b="1" dirty="0">
                <a:solidFill>
                  <a:schemeClr val="tx1"/>
                </a:solidFill>
              </a:rPr>
              <a:t>Medical</a:t>
            </a:r>
            <a:endParaRPr lang="en-US" sz="800" dirty="0"/>
          </a:p>
        </p:txBody>
      </p:sp>
      <p:sp>
        <p:nvSpPr>
          <p:cNvPr id="22" name="Shape 18"/>
          <p:cNvSpPr/>
          <p:nvPr/>
        </p:nvSpPr>
        <p:spPr>
          <a:xfrm>
            <a:off x="2615184" y="2057400"/>
            <a:ext cx="484632" cy="676656"/>
          </a:xfrm>
          <a:prstGeom prst="roundRect">
            <a:avLst>
              <a:gd name="adj" fmla="val 11321"/>
            </a:avLst>
          </a:prstGeom>
          <a:solidFill>
            <a:srgbClr val="EDF3F4"/>
          </a:solidFill>
          <a:ln/>
        </p:spPr>
      </p:sp>
      <p:pic>
        <p:nvPicPr>
          <p:cNvPr id="23" name="Image 1" descr="preencoded.png">    </p:cNvPr>
          <p:cNvPicPr>
            <a:picLocks noChangeAspect="1"/>
          </p:cNvPicPr>
          <p:nvPr/>
        </p:nvPicPr>
        <p:blipFill>
          <a:blip r:embed="rId2"/>
          <a:stretch>
            <a:fillRect/>
          </a:stretch>
        </p:blipFill>
        <p:spPr>
          <a:xfrm>
            <a:off x="2743200" y="2148840"/>
            <a:ext cx="228600" cy="228600"/>
          </a:xfrm>
          <a:prstGeom prst="rect">
            <a:avLst/>
          </a:prstGeom>
        </p:spPr>
      </p:pic>
      <p:sp>
        <p:nvSpPr>
          <p:cNvPr id="24" name="Text 19"/>
          <p:cNvSpPr txBox="1"/>
          <p:nvPr/>
        </p:nvSpPr>
        <p:spPr>
          <a:xfrm>
            <a:off x="2615184" y="2468880"/>
            <a:ext cx="484632" cy="182880"/>
          </a:xfrm>
          <a:prstGeom prst="rect">
            <a:avLst/>
          </a:prstGeom>
          <a:noFill/>
          <a:ln/>
        </p:spPr>
        <p:txBody>
          <a:bodyPr wrap="square" lIns="0" tIns="0" rIns="0" bIns="0" rtlCol="0" anchor="t"/>
          <a:lstStyle/>
          <a:p>
            <a:pPr algn="ctr" indent="0" marL="0">
              <a:buNone/>
            </a:pPr>
            <a:r>
              <a:rPr lang="en-US" sz="800" b="1" dirty="0">
                <a:solidFill>
                  <a:schemeClr val="tx1"/>
                </a:solidFill>
              </a:rPr>
              <a:t>Rescue</a:t>
            </a:r>
            <a:endParaRPr lang="en-US" sz="800" dirty="0"/>
          </a:p>
        </p:txBody>
      </p:sp>
      <p:sp>
        <p:nvSpPr>
          <p:cNvPr id="25" name="Shape 20"/>
          <p:cNvSpPr/>
          <p:nvPr/>
        </p:nvSpPr>
        <p:spPr>
          <a:xfrm>
            <a:off x="2093976" y="2807208"/>
            <a:ext cx="484632" cy="676656"/>
          </a:xfrm>
          <a:prstGeom prst="roundRect">
            <a:avLst>
              <a:gd name="adj" fmla="val 11321"/>
            </a:avLst>
          </a:prstGeom>
          <a:solidFill>
            <a:srgbClr val="EDF3F4"/>
          </a:solidFill>
          <a:ln/>
        </p:spPr>
      </p:sp>
      <p:pic>
        <p:nvPicPr>
          <p:cNvPr id="26" name="Image 2" descr="preencoded.png">    </p:cNvPr>
          <p:cNvPicPr>
            <a:picLocks noChangeAspect="1"/>
          </p:cNvPicPr>
          <p:nvPr/>
        </p:nvPicPr>
        <p:blipFill>
          <a:blip r:embed="rId3"/>
          <a:stretch>
            <a:fillRect/>
          </a:stretch>
        </p:blipFill>
        <p:spPr>
          <a:xfrm>
            <a:off x="2221992" y="2898648"/>
            <a:ext cx="228600" cy="228600"/>
          </a:xfrm>
          <a:prstGeom prst="rect">
            <a:avLst/>
          </a:prstGeom>
        </p:spPr>
      </p:pic>
      <p:sp>
        <p:nvSpPr>
          <p:cNvPr id="27" name="Text 21"/>
          <p:cNvSpPr txBox="1"/>
          <p:nvPr/>
        </p:nvSpPr>
        <p:spPr>
          <a:xfrm>
            <a:off x="2093976" y="3218688"/>
            <a:ext cx="484632" cy="182880"/>
          </a:xfrm>
          <a:prstGeom prst="rect">
            <a:avLst/>
          </a:prstGeom>
          <a:noFill/>
          <a:ln/>
        </p:spPr>
        <p:txBody>
          <a:bodyPr wrap="square" lIns="0" tIns="0" rIns="0" bIns="0" rtlCol="0" anchor="t"/>
          <a:lstStyle/>
          <a:p>
            <a:pPr algn="ctr" indent="0" marL="0">
              <a:buNone/>
            </a:pPr>
            <a:r>
              <a:rPr lang="en-US" sz="800" b="1" dirty="0">
                <a:solidFill>
                  <a:schemeClr val="tx1"/>
                </a:solidFill>
              </a:rPr>
              <a:t>Food/Water</a:t>
            </a:r>
            <a:endParaRPr lang="en-US" sz="800" dirty="0"/>
          </a:p>
        </p:txBody>
      </p:sp>
      <p:sp>
        <p:nvSpPr>
          <p:cNvPr id="28" name="Shape 22"/>
          <p:cNvSpPr/>
          <p:nvPr/>
        </p:nvSpPr>
        <p:spPr>
          <a:xfrm>
            <a:off x="2615184" y="2807208"/>
            <a:ext cx="484632" cy="676656"/>
          </a:xfrm>
          <a:prstGeom prst="roundRect">
            <a:avLst>
              <a:gd name="adj" fmla="val 11321"/>
            </a:avLst>
          </a:prstGeom>
          <a:solidFill>
            <a:srgbClr val="EDF3F4"/>
          </a:solidFill>
          <a:ln/>
        </p:spPr>
      </p:sp>
      <p:pic>
        <p:nvPicPr>
          <p:cNvPr id="29" name="Image 3" descr="preencoded.png">    </p:cNvPr>
          <p:cNvPicPr>
            <a:picLocks noChangeAspect="1"/>
          </p:cNvPicPr>
          <p:nvPr/>
        </p:nvPicPr>
        <p:blipFill>
          <a:blip r:embed="rId4"/>
          <a:stretch>
            <a:fillRect/>
          </a:stretch>
        </p:blipFill>
        <p:spPr>
          <a:xfrm>
            <a:off x="2743200" y="2898648"/>
            <a:ext cx="228600" cy="228600"/>
          </a:xfrm>
          <a:prstGeom prst="rect">
            <a:avLst/>
          </a:prstGeom>
        </p:spPr>
      </p:pic>
      <p:sp>
        <p:nvSpPr>
          <p:cNvPr id="30" name="Text 23"/>
          <p:cNvSpPr txBox="1"/>
          <p:nvPr/>
        </p:nvSpPr>
        <p:spPr>
          <a:xfrm>
            <a:off x="2615184" y="3218688"/>
            <a:ext cx="484632" cy="182880"/>
          </a:xfrm>
          <a:prstGeom prst="rect">
            <a:avLst/>
          </a:prstGeom>
          <a:noFill/>
          <a:ln/>
        </p:spPr>
        <p:txBody>
          <a:bodyPr wrap="square" lIns="0" tIns="0" rIns="0" bIns="0" rtlCol="0" anchor="t"/>
          <a:lstStyle/>
          <a:p>
            <a:pPr algn="ctr" indent="0" marL="0">
              <a:buNone/>
            </a:pPr>
            <a:r>
              <a:rPr lang="en-US" sz="800" b="1" dirty="0">
                <a:solidFill>
                  <a:schemeClr val="tx1"/>
                </a:solidFill>
              </a:rPr>
              <a:t>Shelter</a:t>
            </a:r>
            <a:endParaRPr lang="en-US" sz="800" dirty="0"/>
          </a:p>
        </p:txBody>
      </p:sp>
      <p:sp>
        <p:nvSpPr>
          <p:cNvPr id="31" name="Shape 24"/>
          <p:cNvSpPr/>
          <p:nvPr/>
        </p:nvSpPr>
        <p:spPr>
          <a:xfrm>
            <a:off x="2148840" y="3520440"/>
            <a:ext cx="914400" cy="219456"/>
          </a:xfrm>
          <a:prstGeom prst="roundRect">
            <a:avLst>
              <a:gd name="adj" fmla="val 50000"/>
            </a:avLst>
          </a:prstGeom>
          <a:solidFill>
            <a:schemeClr val="accent1"/>
          </a:solidFill>
          <a:ln/>
        </p:spPr>
      </p:sp>
      <p:sp>
        <p:nvSpPr>
          <p:cNvPr id="32" name="Text 25"/>
          <p:cNvSpPr txBox="1"/>
          <p:nvPr/>
        </p:nvSpPr>
        <p:spPr>
          <a:xfrm>
            <a:off x="2148840" y="3520440"/>
            <a:ext cx="914400" cy="219456"/>
          </a:xfrm>
          <a:prstGeom prst="rect">
            <a:avLst/>
          </a:prstGeom>
          <a:noFill/>
          <a:ln/>
        </p:spPr>
        <p:txBody>
          <a:bodyPr wrap="square" lIns="0" tIns="0" rIns="0" bIns="0" rtlCol="0" anchor="ctr"/>
          <a:lstStyle/>
          <a:p>
            <a:pPr algn="ctr" indent="0" marL="0">
              <a:buNone/>
            </a:pPr>
            <a:r>
              <a:rPr lang="en-US" sz="1000" b="1" dirty="0">
                <a:solidFill>
                  <a:schemeClr val="bg1"/>
                </a:solidFill>
              </a:rPr>
              <a:t>Continue</a:t>
            </a:r>
            <a:endParaRPr lang="en-US" sz="1000" dirty="0"/>
          </a:p>
        </p:txBody>
      </p:sp>
      <p:sp>
        <p:nvSpPr>
          <p:cNvPr id="33" name="Shape 26"/>
          <p:cNvSpPr/>
          <p:nvPr/>
        </p:nvSpPr>
        <p:spPr>
          <a:xfrm>
            <a:off x="3794760" y="1874520"/>
            <a:ext cx="640080" cy="640080"/>
          </a:xfrm>
          <a:prstGeom prst="ellipse">
            <a:avLst/>
          </a:prstGeom>
          <a:solidFill>
            <a:schemeClr val="accent3"/>
          </a:solidFill>
          <a:ln/>
        </p:spPr>
      </p:sp>
      <p:pic>
        <p:nvPicPr>
          <p:cNvPr id="34" name="Image 4" descr="preencoded.png">    </p:cNvPr>
          <p:cNvPicPr>
            <a:picLocks noChangeAspect="1"/>
          </p:cNvPicPr>
          <p:nvPr/>
        </p:nvPicPr>
        <p:blipFill>
          <a:blip r:embed="rId5"/>
          <a:stretch>
            <a:fillRect/>
          </a:stretch>
        </p:blipFill>
        <p:spPr>
          <a:xfrm>
            <a:off x="3954780" y="2034540"/>
            <a:ext cx="320040" cy="320040"/>
          </a:xfrm>
          <a:prstGeom prst="rect">
            <a:avLst/>
          </a:prstGeom>
        </p:spPr>
      </p:pic>
      <p:sp>
        <p:nvSpPr>
          <p:cNvPr id="35" name="Text 27"/>
          <p:cNvSpPr txBox="1"/>
          <p:nvPr/>
        </p:nvSpPr>
        <p:spPr>
          <a:xfrm>
            <a:off x="3566160" y="2606040"/>
            <a:ext cx="1097280" cy="228600"/>
          </a:xfrm>
          <a:prstGeom prst="rect">
            <a:avLst/>
          </a:prstGeom>
          <a:noFill/>
          <a:ln/>
        </p:spPr>
        <p:txBody>
          <a:bodyPr wrap="square" lIns="0" tIns="0" rIns="0" bIns="0" rtlCol="0" anchor="t"/>
          <a:lstStyle/>
          <a:p>
            <a:pPr algn="ctr" indent="0" marL="0">
              <a:buNone/>
            </a:pPr>
            <a:r>
              <a:rPr lang="en-US" sz="1200" b="1" dirty="0">
                <a:solidFill>
                  <a:schemeClr val="tx1"/>
                </a:solidFill>
              </a:rPr>
              <a:t>Request sent</a:t>
            </a:r>
            <a:endParaRPr lang="en-US" sz="1200" dirty="0"/>
          </a:p>
        </p:txBody>
      </p:sp>
      <p:sp>
        <p:nvSpPr>
          <p:cNvPr id="36" name="Text 28"/>
          <p:cNvSpPr txBox="1"/>
          <p:nvPr/>
        </p:nvSpPr>
        <p:spPr>
          <a:xfrm>
            <a:off x="3566160" y="2834640"/>
            <a:ext cx="1097280" cy="182880"/>
          </a:xfrm>
          <a:prstGeom prst="rect">
            <a:avLst/>
          </a:prstGeom>
          <a:noFill/>
          <a:ln/>
        </p:spPr>
        <p:txBody>
          <a:bodyPr wrap="square" lIns="0" tIns="0" rIns="0" bIns="0" rtlCol="0" anchor="t"/>
          <a:lstStyle/>
          <a:p>
            <a:pPr algn="ctr" indent="0" marL="0">
              <a:buNone/>
            </a:pPr>
            <a:r>
              <a:rPr lang="en-US" sz="1000" dirty="0">
                <a:solidFill>
                  <a:srgbClr val="5A6C72"/>
                </a:solidFill>
              </a:rPr>
              <a:t>GPS attached</a:t>
            </a:r>
            <a:endParaRPr lang="en-US" sz="1000" dirty="0"/>
          </a:p>
        </p:txBody>
      </p:sp>
      <p:sp>
        <p:nvSpPr>
          <p:cNvPr id="37" name="Shape 29"/>
          <p:cNvSpPr/>
          <p:nvPr/>
        </p:nvSpPr>
        <p:spPr>
          <a:xfrm>
            <a:off x="3675888" y="3154680"/>
            <a:ext cx="109728" cy="109728"/>
          </a:xfrm>
          <a:prstGeom prst="ellipse">
            <a:avLst/>
          </a:prstGeom>
          <a:solidFill>
            <a:srgbClr val="2A9D8F"/>
          </a:solidFill>
          <a:ln/>
        </p:spPr>
      </p:sp>
      <p:sp>
        <p:nvSpPr>
          <p:cNvPr id="38" name="Text 30"/>
          <p:cNvSpPr txBox="1"/>
          <p:nvPr/>
        </p:nvSpPr>
        <p:spPr>
          <a:xfrm>
            <a:off x="3858768" y="3118104"/>
            <a:ext cx="822960" cy="182880"/>
          </a:xfrm>
          <a:prstGeom prst="rect">
            <a:avLst/>
          </a:prstGeom>
          <a:noFill/>
          <a:ln/>
        </p:spPr>
        <p:txBody>
          <a:bodyPr wrap="square" lIns="0" tIns="0" rIns="0" bIns="0" rtlCol="0" anchor="t"/>
          <a:lstStyle/>
          <a:p>
            <a:pPr indent="0" marL="0">
              <a:buNone/>
            </a:pPr>
            <a:r>
              <a:rPr lang="en-US" sz="1000" dirty="0">
                <a:solidFill>
                  <a:srgbClr val="10252B"/>
                </a:solidFill>
              </a:rPr>
              <a:t>Submitted</a:t>
            </a:r>
            <a:endParaRPr lang="en-US" sz="1000" dirty="0"/>
          </a:p>
        </p:txBody>
      </p:sp>
      <p:sp>
        <p:nvSpPr>
          <p:cNvPr id="39" name="Shape 31"/>
          <p:cNvSpPr/>
          <p:nvPr/>
        </p:nvSpPr>
        <p:spPr>
          <a:xfrm>
            <a:off x="3675888" y="3355848"/>
            <a:ext cx="109728" cy="109728"/>
          </a:xfrm>
          <a:prstGeom prst="ellipse">
            <a:avLst/>
          </a:prstGeom>
          <a:solidFill>
            <a:srgbClr val="C7D3D6"/>
          </a:solidFill>
          <a:ln/>
        </p:spPr>
      </p:sp>
      <p:sp>
        <p:nvSpPr>
          <p:cNvPr id="40" name="Text 32"/>
          <p:cNvSpPr txBox="1"/>
          <p:nvPr/>
        </p:nvSpPr>
        <p:spPr>
          <a:xfrm>
            <a:off x="3858768" y="3319272"/>
            <a:ext cx="822960" cy="182880"/>
          </a:xfrm>
          <a:prstGeom prst="rect">
            <a:avLst/>
          </a:prstGeom>
          <a:noFill/>
          <a:ln/>
        </p:spPr>
        <p:txBody>
          <a:bodyPr wrap="square" lIns="0" tIns="0" rIns="0" bIns="0" rtlCol="0" anchor="t"/>
          <a:lstStyle/>
          <a:p>
            <a:pPr indent="0" marL="0">
              <a:buNone/>
            </a:pPr>
            <a:r>
              <a:rPr lang="en-US" sz="1000" dirty="0">
                <a:solidFill>
                  <a:srgbClr val="5A6C72"/>
                </a:solidFill>
              </a:rPr>
              <a:t>Assigned</a:t>
            </a:r>
            <a:endParaRPr lang="en-US" sz="1000" dirty="0"/>
          </a:p>
        </p:txBody>
      </p:sp>
      <p:sp>
        <p:nvSpPr>
          <p:cNvPr id="41" name="Shape 33"/>
          <p:cNvSpPr/>
          <p:nvPr/>
        </p:nvSpPr>
        <p:spPr>
          <a:xfrm>
            <a:off x="3675888" y="3557016"/>
            <a:ext cx="109728" cy="109728"/>
          </a:xfrm>
          <a:prstGeom prst="ellipse">
            <a:avLst/>
          </a:prstGeom>
          <a:solidFill>
            <a:srgbClr val="C7D3D6"/>
          </a:solidFill>
          <a:ln/>
        </p:spPr>
      </p:sp>
      <p:sp>
        <p:nvSpPr>
          <p:cNvPr id="42" name="Text 34"/>
          <p:cNvSpPr txBox="1"/>
          <p:nvPr/>
        </p:nvSpPr>
        <p:spPr>
          <a:xfrm>
            <a:off x="3858768" y="3520440"/>
            <a:ext cx="822960" cy="182880"/>
          </a:xfrm>
          <a:prstGeom prst="rect">
            <a:avLst/>
          </a:prstGeom>
          <a:noFill/>
          <a:ln/>
        </p:spPr>
        <p:txBody>
          <a:bodyPr wrap="square" lIns="0" tIns="0" rIns="0" bIns="0" rtlCol="0" anchor="t"/>
          <a:lstStyle/>
          <a:p>
            <a:pPr indent="0" marL="0">
              <a:buNone/>
            </a:pPr>
            <a:r>
              <a:rPr lang="en-US" sz="1000" dirty="0">
                <a:solidFill>
                  <a:srgbClr val="5A6C72"/>
                </a:solidFill>
              </a:rPr>
              <a:t>In Progress</a:t>
            </a:r>
            <a:endParaRPr lang="en-US" sz="1000" dirty="0"/>
          </a:p>
        </p:txBody>
      </p:sp>
      <p:pic>
        <p:nvPicPr>
          <p:cNvPr id="43" name="Image 5" descr="preencoded.png">    </p:cNvPr>
          <p:cNvPicPr>
            <a:picLocks noChangeAspect="1"/>
          </p:cNvPicPr>
          <p:nvPr/>
        </p:nvPicPr>
        <p:blipFill>
          <a:blip r:embed="rId6"/>
          <a:stretch>
            <a:fillRect/>
          </a:stretch>
        </p:blipFill>
        <p:spPr>
          <a:xfrm>
            <a:off x="1760220" y="2606040"/>
            <a:ext cx="182880" cy="182880"/>
          </a:xfrm>
          <a:prstGeom prst="rect">
            <a:avLst/>
          </a:prstGeom>
        </p:spPr>
      </p:pic>
      <p:pic>
        <p:nvPicPr>
          <p:cNvPr id="44" name="Image 6" descr="preencoded.png">    </p:cNvPr>
          <p:cNvPicPr>
            <a:picLocks noChangeAspect="1"/>
          </p:cNvPicPr>
          <p:nvPr/>
        </p:nvPicPr>
        <p:blipFill>
          <a:blip r:embed="rId7"/>
          <a:stretch>
            <a:fillRect/>
          </a:stretch>
        </p:blipFill>
        <p:spPr>
          <a:xfrm>
            <a:off x="3268980" y="2606040"/>
            <a:ext cx="182880" cy="182880"/>
          </a:xfrm>
          <a:prstGeom prst="rect">
            <a:avLst/>
          </a:prstGeom>
        </p:spPr>
      </p:pic>
      <p:sp>
        <p:nvSpPr>
          <p:cNvPr id="45" name="Text 35"/>
          <p:cNvSpPr txBox="1"/>
          <p:nvPr/>
        </p:nvSpPr>
        <p:spPr>
          <a:xfrm>
            <a:off x="411480" y="3977640"/>
            <a:ext cx="1371600" cy="548640"/>
          </a:xfrm>
          <a:prstGeom prst="rect">
            <a:avLst/>
          </a:prstGeom>
          <a:noFill/>
          <a:ln/>
        </p:spPr>
        <p:txBody>
          <a:bodyPr wrap="square" lIns="0" tIns="0" rIns="0" bIns="0" rtlCol="0" anchor="t"/>
          <a:lstStyle/>
          <a:p>
            <a:pPr algn="ctr" indent="0" marL="0">
              <a:buNone/>
            </a:pPr>
            <a:r>
              <a:rPr lang="en-US" sz="1200" b="1" dirty="0">
                <a:solidFill>
                  <a:schemeClr val="tx2"/>
                </a:solidFill>
              </a:rPr>
              <a:t>1. Tap SOS / “I need help”</a:t>
            </a:r>
            <a:endParaRPr lang="en-US" sz="1200" dirty="0"/>
          </a:p>
        </p:txBody>
      </p:sp>
      <p:sp>
        <p:nvSpPr>
          <p:cNvPr id="46" name="Text 36"/>
          <p:cNvSpPr txBox="1"/>
          <p:nvPr/>
        </p:nvSpPr>
        <p:spPr>
          <a:xfrm>
            <a:off x="1920240" y="3977640"/>
            <a:ext cx="1371600" cy="548640"/>
          </a:xfrm>
          <a:prstGeom prst="rect">
            <a:avLst/>
          </a:prstGeom>
          <a:noFill/>
          <a:ln/>
        </p:spPr>
        <p:txBody>
          <a:bodyPr wrap="square" lIns="0" tIns="0" rIns="0" bIns="0" rtlCol="0" anchor="t"/>
          <a:lstStyle/>
          <a:p>
            <a:pPr algn="ctr" indent="0" marL="0">
              <a:buNone/>
            </a:pPr>
            <a:r>
              <a:rPr lang="en-US" sz="1200" b="1" dirty="0">
                <a:solidFill>
                  <a:schemeClr val="tx2"/>
                </a:solidFill>
              </a:rPr>
              <a:t>2. Select the primary need</a:t>
            </a:r>
            <a:endParaRPr lang="en-US" sz="1200" dirty="0"/>
          </a:p>
        </p:txBody>
      </p:sp>
      <p:sp>
        <p:nvSpPr>
          <p:cNvPr id="47" name="Text 37"/>
          <p:cNvSpPr txBox="1"/>
          <p:nvPr/>
        </p:nvSpPr>
        <p:spPr>
          <a:xfrm>
            <a:off x="3429000" y="3977640"/>
            <a:ext cx="1371600" cy="548640"/>
          </a:xfrm>
          <a:prstGeom prst="rect">
            <a:avLst/>
          </a:prstGeom>
          <a:noFill/>
          <a:ln/>
        </p:spPr>
        <p:txBody>
          <a:bodyPr wrap="square" lIns="0" tIns="0" rIns="0" bIns="0" rtlCol="0" anchor="t"/>
          <a:lstStyle/>
          <a:p>
            <a:pPr algn="ctr" indent="0" marL="0">
              <a:buNone/>
            </a:pPr>
            <a:r>
              <a:rPr lang="en-US" sz="1200" b="1" dirty="0">
                <a:solidFill>
                  <a:schemeClr val="tx2"/>
                </a:solidFill>
              </a:rPr>
              <a:t>3. Send with GPS location attached</a:t>
            </a:r>
            <a:endParaRPr lang="en-US" sz="1200" dirty="0"/>
          </a:p>
        </p:txBody>
      </p:sp>
      <p:sp>
        <p:nvSpPr>
          <p:cNvPr id="48" name="Text 38"/>
          <p:cNvSpPr txBox="1"/>
          <p:nvPr/>
        </p:nvSpPr>
        <p:spPr>
          <a:xfrm>
            <a:off x="5120640" y="1143000"/>
            <a:ext cx="3566160" cy="274320"/>
          </a:xfrm>
          <a:prstGeom prst="rect">
            <a:avLst/>
          </a:prstGeom>
          <a:noFill/>
          <a:ln/>
        </p:spPr>
        <p:txBody>
          <a:bodyPr wrap="square" lIns="0" tIns="0" rIns="0" bIns="0" rtlCol="0" anchor="t"/>
          <a:lstStyle/>
          <a:p>
            <a:pPr indent="0" marL="0">
              <a:buNone/>
            </a:pPr>
            <a:r>
              <a:rPr lang="en-US" sz="1600" b="1" dirty="0">
                <a:solidFill>
                  <a:schemeClr val="tx2"/>
                </a:solidFill>
              </a:rPr>
              <a:t>Supporting features</a:t>
            </a:r>
            <a:endParaRPr lang="en-US" sz="1600" dirty="0"/>
          </a:p>
        </p:txBody>
      </p:sp>
      <p:sp>
        <p:nvSpPr>
          <p:cNvPr id="49" name="Shape 39"/>
          <p:cNvSpPr/>
          <p:nvPr/>
        </p:nvSpPr>
        <p:spPr>
          <a:xfrm>
            <a:off x="5120640" y="1609344"/>
            <a:ext cx="347472" cy="347472"/>
          </a:xfrm>
          <a:prstGeom prst="ellipse">
            <a:avLst/>
          </a:prstGeom>
          <a:solidFill>
            <a:schemeClr val="accent3"/>
          </a:solidFill>
          <a:ln/>
        </p:spPr>
      </p:sp>
      <p:pic>
        <p:nvPicPr>
          <p:cNvPr id="50" name="Image 7" descr="preencoded.png">    </p:cNvPr>
          <p:cNvPicPr>
            <a:picLocks noChangeAspect="1"/>
          </p:cNvPicPr>
          <p:nvPr/>
        </p:nvPicPr>
        <p:blipFill>
          <a:blip r:embed="rId8"/>
          <a:stretch>
            <a:fillRect/>
          </a:stretch>
        </p:blipFill>
        <p:spPr>
          <a:xfrm>
            <a:off x="5207508" y="1696212"/>
            <a:ext cx="173736" cy="173736"/>
          </a:xfrm>
          <a:prstGeom prst="rect">
            <a:avLst/>
          </a:prstGeom>
        </p:spPr>
      </p:pic>
      <p:sp>
        <p:nvSpPr>
          <p:cNvPr id="51" name="Text 40"/>
          <p:cNvSpPr txBox="1"/>
          <p:nvPr/>
        </p:nvSpPr>
        <p:spPr>
          <a:xfrm>
            <a:off x="5623560" y="1554480"/>
            <a:ext cx="3063240" cy="457200"/>
          </a:xfrm>
          <a:prstGeom prst="rect">
            <a:avLst/>
          </a:prstGeom>
          <a:noFill/>
          <a:ln/>
        </p:spPr>
        <p:txBody>
          <a:bodyPr wrap="square" lIns="0" tIns="0" rIns="0" bIns="0" rtlCol="0" anchor="ctr"/>
          <a:lstStyle/>
          <a:p>
            <a:pPr indent="0" marL="0">
              <a:buNone/>
            </a:pPr>
            <a:r>
              <a:rPr lang="en-US" sz="1400" dirty="0">
                <a:solidFill>
                  <a:schemeClr val="tx1"/>
                </a:solidFill>
              </a:rPr>
              <a:t>Auto-detected location with manual fallback</a:t>
            </a:r>
            <a:endParaRPr lang="en-US" sz="1400" dirty="0"/>
          </a:p>
        </p:txBody>
      </p:sp>
      <p:sp>
        <p:nvSpPr>
          <p:cNvPr id="52" name="Shape 41"/>
          <p:cNvSpPr/>
          <p:nvPr/>
        </p:nvSpPr>
        <p:spPr>
          <a:xfrm>
            <a:off x="5120640" y="2221992"/>
            <a:ext cx="347472" cy="347472"/>
          </a:xfrm>
          <a:prstGeom prst="ellipse">
            <a:avLst/>
          </a:prstGeom>
          <a:solidFill>
            <a:schemeClr val="accent3"/>
          </a:solidFill>
          <a:ln/>
        </p:spPr>
      </p:sp>
      <p:pic>
        <p:nvPicPr>
          <p:cNvPr id="53" name="Image 8" descr="preencoded.png">    </p:cNvPr>
          <p:cNvPicPr>
            <a:picLocks noChangeAspect="1"/>
          </p:cNvPicPr>
          <p:nvPr/>
        </p:nvPicPr>
        <p:blipFill>
          <a:blip r:embed="rId9"/>
          <a:stretch>
            <a:fillRect/>
          </a:stretch>
        </p:blipFill>
        <p:spPr>
          <a:xfrm>
            <a:off x="5207508" y="2308860"/>
            <a:ext cx="173736" cy="173736"/>
          </a:xfrm>
          <a:prstGeom prst="rect">
            <a:avLst/>
          </a:prstGeom>
        </p:spPr>
      </p:pic>
      <p:sp>
        <p:nvSpPr>
          <p:cNvPr id="54" name="Text 42"/>
          <p:cNvSpPr txBox="1"/>
          <p:nvPr/>
        </p:nvSpPr>
        <p:spPr>
          <a:xfrm>
            <a:off x="5623560" y="2167128"/>
            <a:ext cx="3063240" cy="457200"/>
          </a:xfrm>
          <a:prstGeom prst="rect">
            <a:avLst/>
          </a:prstGeom>
          <a:noFill/>
          <a:ln/>
        </p:spPr>
        <p:txBody>
          <a:bodyPr wrap="square" lIns="0" tIns="0" rIns="0" bIns="0" rtlCol="0" anchor="ctr"/>
          <a:lstStyle/>
          <a:p>
            <a:pPr indent="0" marL="0">
              <a:buNone/>
            </a:pPr>
            <a:r>
              <a:rPr lang="en-US" sz="1400" dirty="0">
                <a:solidFill>
                  <a:schemeClr val="tx1"/>
                </a:solidFill>
              </a:rPr>
              <a:t>People-affected selector</a:t>
            </a:r>
            <a:endParaRPr lang="en-US" sz="1400" dirty="0"/>
          </a:p>
        </p:txBody>
      </p:sp>
      <p:sp>
        <p:nvSpPr>
          <p:cNvPr id="55" name="Shape 43"/>
          <p:cNvSpPr/>
          <p:nvPr/>
        </p:nvSpPr>
        <p:spPr>
          <a:xfrm>
            <a:off x="5120640" y="2834640"/>
            <a:ext cx="347472" cy="347472"/>
          </a:xfrm>
          <a:prstGeom prst="ellipse">
            <a:avLst/>
          </a:prstGeom>
          <a:solidFill>
            <a:schemeClr val="accent3"/>
          </a:solidFill>
          <a:ln/>
        </p:spPr>
      </p:sp>
      <p:pic>
        <p:nvPicPr>
          <p:cNvPr id="56" name="Image 9" descr="preencoded.png">    </p:cNvPr>
          <p:cNvPicPr>
            <a:picLocks noChangeAspect="1"/>
          </p:cNvPicPr>
          <p:nvPr/>
        </p:nvPicPr>
        <p:blipFill>
          <a:blip r:embed="rId10"/>
          <a:stretch>
            <a:fillRect/>
          </a:stretch>
        </p:blipFill>
        <p:spPr>
          <a:xfrm>
            <a:off x="5207508" y="2921508"/>
            <a:ext cx="173736" cy="173736"/>
          </a:xfrm>
          <a:prstGeom prst="rect">
            <a:avLst/>
          </a:prstGeom>
        </p:spPr>
      </p:pic>
      <p:sp>
        <p:nvSpPr>
          <p:cNvPr id="57" name="Text 44"/>
          <p:cNvSpPr txBox="1"/>
          <p:nvPr/>
        </p:nvSpPr>
        <p:spPr>
          <a:xfrm>
            <a:off x="5623560" y="2779776"/>
            <a:ext cx="3063240" cy="457200"/>
          </a:xfrm>
          <a:prstGeom prst="rect">
            <a:avLst/>
          </a:prstGeom>
          <a:noFill/>
          <a:ln/>
        </p:spPr>
        <p:txBody>
          <a:bodyPr wrap="square" lIns="0" tIns="0" rIns="0" bIns="0" rtlCol="0" anchor="ctr"/>
          <a:lstStyle/>
          <a:p>
            <a:pPr indent="0" marL="0">
              <a:buNone/>
            </a:pPr>
            <a:r>
              <a:rPr lang="en-US" sz="1400" dirty="0">
                <a:solidFill>
                  <a:schemeClr val="tx1"/>
                </a:solidFill>
              </a:rPr>
              <a:t>Optional description and photo/video evidence</a:t>
            </a:r>
            <a:endParaRPr lang="en-US" sz="1400" dirty="0"/>
          </a:p>
        </p:txBody>
      </p:sp>
      <p:sp>
        <p:nvSpPr>
          <p:cNvPr id="58" name="Shape 45"/>
          <p:cNvSpPr/>
          <p:nvPr/>
        </p:nvSpPr>
        <p:spPr>
          <a:xfrm>
            <a:off x="5120640" y="3447288"/>
            <a:ext cx="347472" cy="347472"/>
          </a:xfrm>
          <a:prstGeom prst="ellipse">
            <a:avLst/>
          </a:prstGeom>
          <a:solidFill>
            <a:schemeClr val="accent3"/>
          </a:solidFill>
          <a:ln/>
        </p:spPr>
      </p:sp>
      <p:pic>
        <p:nvPicPr>
          <p:cNvPr id="59" name="Image 10" descr="preencoded.png">    </p:cNvPr>
          <p:cNvPicPr>
            <a:picLocks noChangeAspect="1"/>
          </p:cNvPicPr>
          <p:nvPr/>
        </p:nvPicPr>
        <p:blipFill>
          <a:blip r:embed="rId11"/>
          <a:stretch>
            <a:fillRect/>
          </a:stretch>
        </p:blipFill>
        <p:spPr>
          <a:xfrm>
            <a:off x="5207508" y="3534156"/>
            <a:ext cx="173736" cy="173736"/>
          </a:xfrm>
          <a:prstGeom prst="rect">
            <a:avLst/>
          </a:prstGeom>
        </p:spPr>
      </p:pic>
      <p:sp>
        <p:nvSpPr>
          <p:cNvPr id="60" name="Text 46"/>
          <p:cNvSpPr txBox="1"/>
          <p:nvPr/>
        </p:nvSpPr>
        <p:spPr>
          <a:xfrm>
            <a:off x="5623560" y="3392424"/>
            <a:ext cx="3063240" cy="457200"/>
          </a:xfrm>
          <a:prstGeom prst="rect">
            <a:avLst/>
          </a:prstGeom>
          <a:noFill/>
          <a:ln/>
        </p:spPr>
        <p:txBody>
          <a:bodyPr wrap="square" lIns="0" tIns="0" rIns="0" bIns="0" rtlCol="0" anchor="ctr"/>
          <a:lstStyle/>
          <a:p>
            <a:pPr indent="0" marL="0">
              <a:buNone/>
            </a:pPr>
            <a:r>
              <a:rPr lang="en-US" sz="1400" dirty="0">
                <a:solidFill>
                  <a:schemeClr val="tx1"/>
                </a:solidFill>
              </a:rPr>
              <a:t>Emergency helpline shown directly in the flow</a:t>
            </a:r>
            <a:endParaRPr lang="en-US" sz="1400" dirty="0"/>
          </a:p>
        </p:txBody>
      </p:sp>
      <p:sp>
        <p:nvSpPr>
          <p:cNvPr id="61" name="Shape 47"/>
          <p:cNvSpPr/>
          <p:nvPr/>
        </p:nvSpPr>
        <p:spPr>
          <a:xfrm>
            <a:off x="5120640" y="4059936"/>
            <a:ext cx="347472" cy="347472"/>
          </a:xfrm>
          <a:prstGeom prst="ellipse">
            <a:avLst/>
          </a:prstGeom>
          <a:solidFill>
            <a:schemeClr val="accent3"/>
          </a:solidFill>
          <a:ln/>
        </p:spPr>
      </p:sp>
      <p:pic>
        <p:nvPicPr>
          <p:cNvPr id="62" name="Image 11" descr="preencoded.png">    </p:cNvPr>
          <p:cNvPicPr>
            <a:picLocks noChangeAspect="1"/>
          </p:cNvPicPr>
          <p:nvPr/>
        </p:nvPicPr>
        <p:blipFill>
          <a:blip r:embed="rId12"/>
          <a:stretch>
            <a:fillRect/>
          </a:stretch>
        </p:blipFill>
        <p:spPr>
          <a:xfrm>
            <a:off x="5207508" y="4146804"/>
            <a:ext cx="173736" cy="173736"/>
          </a:xfrm>
          <a:prstGeom prst="rect">
            <a:avLst/>
          </a:prstGeom>
        </p:spPr>
      </p:pic>
      <p:sp>
        <p:nvSpPr>
          <p:cNvPr id="63" name="Text 48"/>
          <p:cNvSpPr txBox="1"/>
          <p:nvPr/>
        </p:nvSpPr>
        <p:spPr>
          <a:xfrm>
            <a:off x="5623560" y="4005072"/>
            <a:ext cx="3063240" cy="457200"/>
          </a:xfrm>
          <a:prstGeom prst="rect">
            <a:avLst/>
          </a:prstGeom>
          <a:noFill/>
          <a:ln/>
        </p:spPr>
        <p:txBody>
          <a:bodyPr wrap="square" lIns="0" tIns="0" rIns="0" bIns="0" rtlCol="0" anchor="ctr"/>
          <a:lstStyle/>
          <a:p>
            <a:pPr indent="0" marL="0">
              <a:buNone/>
            </a:pPr>
            <a:r>
              <a:rPr lang="en-US" sz="1400" dirty="0">
                <a:solidFill>
                  <a:schemeClr val="tx1"/>
                </a:solidFill>
              </a:rPr>
              <a:t>Draft saved locally if the form is interrupted</a:t>
            </a:r>
            <a:endParaRPr lang="en-US" sz="14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7A8A8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19456"/>
            <a:ext cx="548640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06  |  ACCOUNTABILITY</a:t>
            </a:r>
            <a:endParaRPr lang="en-US" sz="1100" dirty="0"/>
          </a:p>
        </p:txBody>
      </p:sp>
      <p:sp>
        <p:nvSpPr>
          <p:cNvPr id="4" name="Text 0"/>
          <p:cNvSpPr/>
          <p:nvPr>
            <p:ph idx="100" type="title" hasCustomPrompt="1"/>
          </p:nvPr>
        </p:nvSpPr>
        <p:spPr>
          <a:xfrm>
            <a:off x="457200" y="420624"/>
            <a:ext cx="8229600" cy="566928"/>
          </a:xfrm>
          <a:prstGeom prst="rect">
            <a:avLst/>
          </a:prstGeom>
          <a:noFill/>
          <a:ln/>
        </p:spPr>
        <p:txBody>
          <a:bodyPr wrap="square" lIns="0" tIns="0" rIns="0" bIns="0" rtlCol="0" anchor="ctr"/>
          <a:lstStyle/>
          <a:p>
            <a:pPr algn="l" indent="0" marL="0">
              <a:buNone/>
            </a:pPr>
            <a:r>
              <a:rPr lang="en-US" sz="2800" b="1" dirty="0">
                <a:solidFill>
                  <a:schemeClr val="tx1"/>
                </a:solidFill>
              </a:rPr>
              <a:t>Request Lifecycle and Accountability</a:t>
            </a:r>
            <a:endParaRPr lang="en-US" sz="2800" dirty="0"/>
          </a:p>
        </p:txBody>
      </p:sp>
      <p:sp>
        <p:nvSpPr>
          <p:cNvPr id="5" name="Shape 2"/>
          <p:cNvSpPr/>
          <p:nvPr/>
        </p:nvSpPr>
        <p:spPr>
          <a:xfrm>
            <a:off x="457200" y="1188720"/>
            <a:ext cx="1261872" cy="566928"/>
          </a:xfrm>
          <a:prstGeom prst="roundRect">
            <a:avLst>
              <a:gd name="adj" fmla="val 50000"/>
            </a:avLst>
          </a:prstGeom>
          <a:solidFill>
            <a:schemeClr val="tx2"/>
          </a:solidFill>
          <a:ln/>
        </p:spPr>
      </p:sp>
      <p:sp>
        <p:nvSpPr>
          <p:cNvPr id="6" name="Text 3"/>
          <p:cNvSpPr txBox="1"/>
          <p:nvPr/>
        </p:nvSpPr>
        <p:spPr>
          <a:xfrm>
            <a:off x="457200" y="1188720"/>
            <a:ext cx="1261872" cy="566928"/>
          </a:xfrm>
          <a:prstGeom prst="rect">
            <a:avLst/>
          </a:prstGeom>
          <a:noFill/>
          <a:ln/>
        </p:spPr>
        <p:txBody>
          <a:bodyPr wrap="square" lIns="0" tIns="0" rIns="0" bIns="0" rtlCol="0" anchor="ctr"/>
          <a:lstStyle/>
          <a:p>
            <a:pPr algn="ctr" indent="0" marL="0">
              <a:buNone/>
            </a:pPr>
            <a:r>
              <a:rPr lang="en-US" sz="1400" b="1" dirty="0">
                <a:solidFill>
                  <a:schemeClr val="bg1"/>
                </a:solidFill>
              </a:rPr>
              <a:t>Submitted</a:t>
            </a:r>
            <a:endParaRPr lang="en-US" sz="1400" dirty="0"/>
          </a:p>
        </p:txBody>
      </p:sp>
      <p:sp>
        <p:nvSpPr>
          <p:cNvPr id="7" name="Shape 4"/>
          <p:cNvSpPr/>
          <p:nvPr/>
        </p:nvSpPr>
        <p:spPr>
          <a:xfrm>
            <a:off x="1847088" y="1188720"/>
            <a:ext cx="1261872" cy="566928"/>
          </a:xfrm>
          <a:prstGeom prst="roundRect">
            <a:avLst>
              <a:gd name="adj" fmla="val 50000"/>
            </a:avLst>
          </a:prstGeom>
          <a:solidFill>
            <a:schemeClr val="tx2"/>
          </a:solidFill>
          <a:ln/>
        </p:spPr>
      </p:sp>
      <p:sp>
        <p:nvSpPr>
          <p:cNvPr id="8" name="Text 5"/>
          <p:cNvSpPr txBox="1"/>
          <p:nvPr/>
        </p:nvSpPr>
        <p:spPr>
          <a:xfrm>
            <a:off x="1847088" y="1188720"/>
            <a:ext cx="1261872" cy="566928"/>
          </a:xfrm>
          <a:prstGeom prst="rect">
            <a:avLst/>
          </a:prstGeom>
          <a:noFill/>
          <a:ln/>
        </p:spPr>
        <p:txBody>
          <a:bodyPr wrap="square" lIns="0" tIns="0" rIns="0" bIns="0" rtlCol="0" anchor="ctr"/>
          <a:lstStyle/>
          <a:p>
            <a:pPr algn="ctr" indent="0" marL="0">
              <a:buNone/>
            </a:pPr>
            <a:r>
              <a:rPr lang="en-US" sz="1400" b="1" dirty="0">
                <a:solidFill>
                  <a:schemeClr val="bg1"/>
                </a:solidFill>
              </a:rPr>
              <a:t>Verified</a:t>
            </a:r>
            <a:endParaRPr lang="en-US" sz="1400" dirty="0"/>
          </a:p>
        </p:txBody>
      </p:sp>
      <p:sp>
        <p:nvSpPr>
          <p:cNvPr id="9" name="Shape 6"/>
          <p:cNvSpPr/>
          <p:nvPr/>
        </p:nvSpPr>
        <p:spPr>
          <a:xfrm>
            <a:off x="3236976" y="1188720"/>
            <a:ext cx="1261872" cy="566928"/>
          </a:xfrm>
          <a:prstGeom prst="roundRect">
            <a:avLst>
              <a:gd name="adj" fmla="val 50000"/>
            </a:avLst>
          </a:prstGeom>
          <a:solidFill>
            <a:schemeClr val="accent2"/>
          </a:solidFill>
          <a:ln/>
        </p:spPr>
      </p:sp>
      <p:sp>
        <p:nvSpPr>
          <p:cNvPr id="10" name="Text 7"/>
          <p:cNvSpPr txBox="1"/>
          <p:nvPr/>
        </p:nvSpPr>
        <p:spPr>
          <a:xfrm>
            <a:off x="3236976" y="1188720"/>
            <a:ext cx="1261872" cy="566928"/>
          </a:xfrm>
          <a:prstGeom prst="rect">
            <a:avLst/>
          </a:prstGeom>
          <a:noFill/>
          <a:ln/>
        </p:spPr>
        <p:txBody>
          <a:bodyPr wrap="square" lIns="0" tIns="0" rIns="0" bIns="0" rtlCol="0" anchor="ctr"/>
          <a:lstStyle/>
          <a:p>
            <a:pPr algn="ctr" indent="0" marL="0">
              <a:buNone/>
            </a:pPr>
            <a:r>
              <a:rPr lang="en-US" sz="1400" b="1" dirty="0">
                <a:solidFill>
                  <a:schemeClr val="tx1"/>
                </a:solidFill>
              </a:rPr>
              <a:t>Assigned</a:t>
            </a:r>
            <a:endParaRPr lang="en-US" sz="1400" dirty="0"/>
          </a:p>
        </p:txBody>
      </p:sp>
      <p:sp>
        <p:nvSpPr>
          <p:cNvPr id="11" name="Shape 8"/>
          <p:cNvSpPr/>
          <p:nvPr/>
        </p:nvSpPr>
        <p:spPr>
          <a:xfrm>
            <a:off x="4626864" y="1188720"/>
            <a:ext cx="1261872" cy="566928"/>
          </a:xfrm>
          <a:prstGeom prst="roundRect">
            <a:avLst>
              <a:gd name="adj" fmla="val 50000"/>
            </a:avLst>
          </a:prstGeom>
          <a:solidFill>
            <a:schemeClr val="accent2"/>
          </a:solidFill>
          <a:ln/>
        </p:spPr>
      </p:sp>
      <p:sp>
        <p:nvSpPr>
          <p:cNvPr id="12" name="Text 9"/>
          <p:cNvSpPr txBox="1"/>
          <p:nvPr/>
        </p:nvSpPr>
        <p:spPr>
          <a:xfrm>
            <a:off x="4626864" y="1188720"/>
            <a:ext cx="1261872" cy="566928"/>
          </a:xfrm>
          <a:prstGeom prst="rect">
            <a:avLst/>
          </a:prstGeom>
          <a:noFill/>
          <a:ln/>
        </p:spPr>
        <p:txBody>
          <a:bodyPr wrap="square" lIns="0" tIns="0" rIns="0" bIns="0" rtlCol="0" anchor="ctr"/>
          <a:lstStyle/>
          <a:p>
            <a:pPr algn="ctr" indent="0" marL="0">
              <a:buNone/>
            </a:pPr>
            <a:r>
              <a:rPr lang="en-US" sz="1400" b="1" dirty="0">
                <a:solidFill>
                  <a:schemeClr val="tx1"/>
                </a:solidFill>
              </a:rPr>
              <a:t>In Progress</a:t>
            </a:r>
            <a:endParaRPr lang="en-US" sz="1400" dirty="0"/>
          </a:p>
        </p:txBody>
      </p:sp>
      <p:sp>
        <p:nvSpPr>
          <p:cNvPr id="13" name="Shape 10"/>
          <p:cNvSpPr/>
          <p:nvPr/>
        </p:nvSpPr>
        <p:spPr>
          <a:xfrm>
            <a:off x="6016752" y="1188720"/>
            <a:ext cx="1261872" cy="566928"/>
          </a:xfrm>
          <a:prstGeom prst="roundRect">
            <a:avLst>
              <a:gd name="adj" fmla="val 50000"/>
            </a:avLst>
          </a:prstGeom>
          <a:solidFill>
            <a:schemeClr val="accent3"/>
          </a:solidFill>
          <a:ln/>
        </p:spPr>
      </p:sp>
      <p:sp>
        <p:nvSpPr>
          <p:cNvPr id="14" name="Text 11"/>
          <p:cNvSpPr txBox="1"/>
          <p:nvPr/>
        </p:nvSpPr>
        <p:spPr>
          <a:xfrm>
            <a:off x="6016752" y="1188720"/>
            <a:ext cx="1261872" cy="566928"/>
          </a:xfrm>
          <a:prstGeom prst="rect">
            <a:avLst/>
          </a:prstGeom>
          <a:noFill/>
          <a:ln/>
        </p:spPr>
        <p:txBody>
          <a:bodyPr wrap="square" lIns="0" tIns="0" rIns="0" bIns="0" rtlCol="0" anchor="ctr"/>
          <a:lstStyle/>
          <a:p>
            <a:pPr algn="ctr" indent="0" marL="0">
              <a:buNone/>
            </a:pPr>
            <a:r>
              <a:rPr lang="en-US" sz="1400" b="1" dirty="0">
                <a:solidFill>
                  <a:schemeClr val="bg1"/>
                </a:solidFill>
              </a:rPr>
              <a:t>Delivered</a:t>
            </a:r>
            <a:endParaRPr lang="en-US" sz="1400" dirty="0"/>
          </a:p>
        </p:txBody>
      </p:sp>
      <p:sp>
        <p:nvSpPr>
          <p:cNvPr id="15" name="Shape 12"/>
          <p:cNvSpPr/>
          <p:nvPr/>
        </p:nvSpPr>
        <p:spPr>
          <a:xfrm>
            <a:off x="7406640" y="1188720"/>
            <a:ext cx="1261872" cy="566928"/>
          </a:xfrm>
          <a:prstGeom prst="roundRect">
            <a:avLst>
              <a:gd name="adj" fmla="val 50000"/>
            </a:avLst>
          </a:prstGeom>
          <a:solidFill>
            <a:schemeClr val="accent3"/>
          </a:solidFill>
          <a:ln/>
        </p:spPr>
      </p:sp>
      <p:sp>
        <p:nvSpPr>
          <p:cNvPr id="16" name="Text 13"/>
          <p:cNvSpPr txBox="1"/>
          <p:nvPr/>
        </p:nvSpPr>
        <p:spPr>
          <a:xfrm>
            <a:off x="7406640" y="1188720"/>
            <a:ext cx="1261872" cy="566928"/>
          </a:xfrm>
          <a:prstGeom prst="rect">
            <a:avLst/>
          </a:prstGeom>
          <a:noFill/>
          <a:ln/>
        </p:spPr>
        <p:txBody>
          <a:bodyPr wrap="square" lIns="0" tIns="0" rIns="0" bIns="0" rtlCol="0" anchor="ctr"/>
          <a:lstStyle/>
          <a:p>
            <a:pPr algn="ctr" indent="0" marL="0">
              <a:buNone/>
            </a:pPr>
            <a:r>
              <a:rPr lang="en-US" sz="1400" b="1" dirty="0">
                <a:solidFill>
                  <a:schemeClr val="bg1"/>
                </a:solidFill>
              </a:rPr>
              <a:t>Resolved</a:t>
            </a:r>
            <a:endParaRPr lang="en-US" sz="1400" dirty="0"/>
          </a:p>
        </p:txBody>
      </p:sp>
      <p:sp>
        <p:nvSpPr>
          <p:cNvPr id="17" name="Text 14"/>
          <p:cNvSpPr txBox="1"/>
          <p:nvPr/>
        </p:nvSpPr>
        <p:spPr>
          <a:xfrm>
            <a:off x="457200" y="1938528"/>
            <a:ext cx="1463040" cy="274320"/>
          </a:xfrm>
          <a:prstGeom prst="rect">
            <a:avLst/>
          </a:prstGeom>
          <a:noFill/>
          <a:ln/>
        </p:spPr>
        <p:txBody>
          <a:bodyPr wrap="square" lIns="0" tIns="0" rIns="0" bIns="0" rtlCol="0" anchor="ctr"/>
          <a:lstStyle/>
          <a:p>
            <a:pPr indent="0" marL="0">
              <a:buNone/>
            </a:pPr>
            <a:r>
              <a:rPr lang="en-US" sz="1200" b="1" dirty="0">
                <a:solidFill>
                  <a:srgbClr val="5A6C72"/>
                </a:solidFill>
              </a:rPr>
              <a:t>Alternate endings:</a:t>
            </a:r>
            <a:endParaRPr lang="en-US" sz="1200" dirty="0"/>
          </a:p>
        </p:txBody>
      </p:sp>
      <p:sp>
        <p:nvSpPr>
          <p:cNvPr id="18" name="Shape 15"/>
          <p:cNvSpPr/>
          <p:nvPr/>
        </p:nvSpPr>
        <p:spPr>
          <a:xfrm>
            <a:off x="1920240" y="1938528"/>
            <a:ext cx="960120" cy="274320"/>
          </a:xfrm>
          <a:prstGeom prst="roundRect">
            <a:avLst>
              <a:gd name="adj" fmla="val 50000"/>
            </a:avLst>
          </a:prstGeom>
          <a:solidFill>
            <a:srgbClr val="8A9BA0"/>
          </a:solidFill>
          <a:ln/>
        </p:spPr>
      </p:sp>
      <p:sp>
        <p:nvSpPr>
          <p:cNvPr id="19" name="Text 16"/>
          <p:cNvSpPr txBox="1"/>
          <p:nvPr/>
        </p:nvSpPr>
        <p:spPr>
          <a:xfrm>
            <a:off x="1920240" y="1938528"/>
            <a:ext cx="960120" cy="274320"/>
          </a:xfrm>
          <a:prstGeom prst="rect">
            <a:avLst/>
          </a:prstGeom>
          <a:noFill/>
          <a:ln/>
        </p:spPr>
        <p:txBody>
          <a:bodyPr wrap="square" lIns="0" tIns="0" rIns="0" bIns="0" rtlCol="0" anchor="ctr"/>
          <a:lstStyle/>
          <a:p>
            <a:pPr algn="ctr" indent="0" marL="0">
              <a:buNone/>
            </a:pPr>
            <a:r>
              <a:rPr lang="en-US" sz="1200" b="1" dirty="0">
                <a:solidFill>
                  <a:schemeClr val="bg1"/>
                </a:solidFill>
              </a:rPr>
              <a:t>Cancelled</a:t>
            </a:r>
            <a:endParaRPr lang="en-US" sz="1200" dirty="0"/>
          </a:p>
        </p:txBody>
      </p:sp>
      <p:sp>
        <p:nvSpPr>
          <p:cNvPr id="20" name="Shape 17"/>
          <p:cNvSpPr/>
          <p:nvPr/>
        </p:nvSpPr>
        <p:spPr>
          <a:xfrm>
            <a:off x="3017520" y="1938528"/>
            <a:ext cx="960120" cy="274320"/>
          </a:xfrm>
          <a:prstGeom prst="roundRect">
            <a:avLst>
              <a:gd name="adj" fmla="val 50000"/>
            </a:avLst>
          </a:prstGeom>
          <a:solidFill>
            <a:srgbClr val="8A9BA0"/>
          </a:solidFill>
          <a:ln/>
        </p:spPr>
      </p:sp>
      <p:sp>
        <p:nvSpPr>
          <p:cNvPr id="21" name="Text 18"/>
          <p:cNvSpPr txBox="1"/>
          <p:nvPr/>
        </p:nvSpPr>
        <p:spPr>
          <a:xfrm>
            <a:off x="3017520" y="1938528"/>
            <a:ext cx="960120" cy="274320"/>
          </a:xfrm>
          <a:prstGeom prst="rect">
            <a:avLst/>
          </a:prstGeom>
          <a:noFill/>
          <a:ln/>
        </p:spPr>
        <p:txBody>
          <a:bodyPr wrap="square" lIns="0" tIns="0" rIns="0" bIns="0" rtlCol="0" anchor="ctr"/>
          <a:lstStyle/>
          <a:p>
            <a:pPr algn="ctr" indent="0" marL="0">
              <a:buNone/>
            </a:pPr>
            <a:r>
              <a:rPr lang="en-US" sz="1200" b="1" dirty="0">
                <a:solidFill>
                  <a:schemeClr val="bg1"/>
                </a:solidFill>
              </a:rPr>
              <a:t>Rejected</a:t>
            </a:r>
            <a:endParaRPr lang="en-US" sz="1200" dirty="0"/>
          </a:p>
        </p:txBody>
      </p:sp>
      <p:sp>
        <p:nvSpPr>
          <p:cNvPr id="22" name="Shape 19"/>
          <p:cNvSpPr/>
          <p:nvPr/>
        </p:nvSpPr>
        <p:spPr>
          <a:xfrm>
            <a:off x="4937760" y="2020824"/>
            <a:ext cx="118872" cy="118872"/>
          </a:xfrm>
          <a:prstGeom prst="ellipse">
            <a:avLst/>
          </a:prstGeom>
          <a:solidFill>
            <a:schemeClr val="accent2"/>
          </a:solidFill>
          <a:ln/>
        </p:spPr>
      </p:sp>
      <p:sp>
        <p:nvSpPr>
          <p:cNvPr id="23" name="Text 20"/>
          <p:cNvSpPr txBox="1"/>
          <p:nvPr/>
        </p:nvSpPr>
        <p:spPr>
          <a:xfrm>
            <a:off x="5138928" y="1938528"/>
            <a:ext cx="1737360" cy="274320"/>
          </a:xfrm>
          <a:prstGeom prst="rect">
            <a:avLst/>
          </a:prstGeom>
          <a:noFill/>
          <a:ln/>
        </p:spPr>
        <p:txBody>
          <a:bodyPr wrap="square" lIns="0" tIns="0" rIns="0" bIns="0" rtlCol="0" anchor="ctr"/>
          <a:lstStyle/>
          <a:p>
            <a:pPr indent="0" marL="0">
              <a:buNone/>
            </a:pPr>
            <a:r>
              <a:rPr lang="en-US" sz="1200" dirty="0">
                <a:solidFill>
                  <a:srgbClr val="5A6C72"/>
                </a:solidFill>
              </a:rPr>
              <a:t>Assigned / In Progress</a:t>
            </a:r>
            <a:endParaRPr lang="en-US" sz="1200" dirty="0"/>
          </a:p>
        </p:txBody>
      </p:sp>
      <p:sp>
        <p:nvSpPr>
          <p:cNvPr id="24" name="Shape 21"/>
          <p:cNvSpPr/>
          <p:nvPr/>
        </p:nvSpPr>
        <p:spPr>
          <a:xfrm>
            <a:off x="7086600" y="2020824"/>
            <a:ext cx="118872" cy="118872"/>
          </a:xfrm>
          <a:prstGeom prst="ellipse">
            <a:avLst/>
          </a:prstGeom>
          <a:solidFill>
            <a:schemeClr val="accent1"/>
          </a:solidFill>
          <a:ln/>
        </p:spPr>
      </p:sp>
      <p:sp>
        <p:nvSpPr>
          <p:cNvPr id="25" name="Text 22"/>
          <p:cNvSpPr txBox="1"/>
          <p:nvPr/>
        </p:nvSpPr>
        <p:spPr>
          <a:xfrm>
            <a:off x="7287768" y="1938528"/>
            <a:ext cx="1371600" cy="274320"/>
          </a:xfrm>
          <a:prstGeom prst="rect">
            <a:avLst/>
          </a:prstGeom>
          <a:noFill/>
          <a:ln/>
        </p:spPr>
        <p:txBody>
          <a:bodyPr wrap="square" lIns="0" tIns="0" rIns="0" bIns="0" rtlCol="0" anchor="ctr"/>
          <a:lstStyle/>
          <a:p>
            <a:pPr indent="0" marL="0">
              <a:buNone/>
            </a:pPr>
            <a:r>
              <a:rPr lang="en-US" sz="1200" dirty="0">
                <a:solidFill>
                  <a:srgbClr val="5A6C72"/>
                </a:solidFill>
              </a:rPr>
              <a:t>Critical priority</a:t>
            </a:r>
            <a:endParaRPr lang="en-US" sz="1200" dirty="0"/>
          </a:p>
        </p:txBody>
      </p:sp>
      <p:sp>
        <p:nvSpPr>
          <p:cNvPr id="26" name="Text 23"/>
          <p:cNvSpPr txBox="1"/>
          <p:nvPr/>
        </p:nvSpPr>
        <p:spPr>
          <a:xfrm>
            <a:off x="457200" y="2423160"/>
            <a:ext cx="4572000" cy="274320"/>
          </a:xfrm>
          <a:prstGeom prst="rect">
            <a:avLst/>
          </a:prstGeom>
          <a:noFill/>
          <a:ln/>
        </p:spPr>
        <p:txBody>
          <a:bodyPr wrap="square" lIns="0" tIns="0" rIns="0" bIns="0" rtlCol="0" anchor="t"/>
          <a:lstStyle/>
          <a:p>
            <a:pPr indent="0" marL="0">
              <a:buNone/>
            </a:pPr>
            <a:r>
              <a:rPr lang="en-US" sz="1600" b="1" dirty="0">
                <a:solidFill>
                  <a:schemeClr val="tx2"/>
                </a:solidFill>
              </a:rPr>
              <a:t>Every request stores</a:t>
            </a:r>
            <a:endParaRPr lang="en-US" sz="1600" dirty="0"/>
          </a:p>
        </p:txBody>
      </p:sp>
      <p:sp>
        <p:nvSpPr>
          <p:cNvPr id="27" name="Field card"/>
          <p:cNvSpPr/>
          <p:nvPr/>
        </p:nvSpPr>
        <p:spPr>
          <a:xfrm>
            <a:off x="457200" y="2788920"/>
            <a:ext cx="2651760" cy="868680"/>
          </a:xfrm>
          <a:prstGeom prst="roundRect">
            <a:avLst>
              <a:gd name="adj" fmla="val 8421"/>
            </a:avLst>
          </a:prstGeom>
          <a:solidFill>
            <a:schemeClr val="bg2"/>
          </a:solidFill>
          <a:ln/>
        </p:spPr>
      </p:sp>
      <p:sp>
        <p:nvSpPr>
          <p:cNvPr id="28" name="Shape 25"/>
          <p:cNvSpPr/>
          <p:nvPr/>
        </p:nvSpPr>
        <p:spPr>
          <a:xfrm>
            <a:off x="594360" y="3017520"/>
            <a:ext cx="411480" cy="411480"/>
          </a:xfrm>
          <a:prstGeom prst="ellipse">
            <a:avLst/>
          </a:prstGeom>
          <a:solidFill>
            <a:schemeClr val="accent1"/>
          </a:solidFill>
          <a:ln/>
        </p:spPr>
      </p:sp>
      <p:pic>
        <p:nvPicPr>
          <p:cNvPr id="29" name="Image 0" descr="preencoded.png">    </p:cNvPr>
          <p:cNvPicPr>
            <a:picLocks noChangeAspect="1"/>
          </p:cNvPicPr>
          <p:nvPr/>
        </p:nvPicPr>
        <p:blipFill>
          <a:blip r:embed="rId1"/>
          <a:stretch>
            <a:fillRect/>
          </a:stretch>
        </p:blipFill>
        <p:spPr>
          <a:xfrm>
            <a:off x="697230" y="3120390"/>
            <a:ext cx="205740" cy="205740"/>
          </a:xfrm>
          <a:prstGeom prst="rect">
            <a:avLst/>
          </a:prstGeom>
        </p:spPr>
      </p:pic>
      <p:sp>
        <p:nvSpPr>
          <p:cNvPr id="30" name="Text 26"/>
          <p:cNvSpPr txBox="1"/>
          <p:nvPr/>
        </p:nvSpPr>
        <p:spPr>
          <a:xfrm>
            <a:off x="1143000" y="2834640"/>
            <a:ext cx="1874520" cy="777240"/>
          </a:xfrm>
          <a:prstGeom prst="rect">
            <a:avLst/>
          </a:prstGeom>
          <a:noFill/>
          <a:ln/>
        </p:spPr>
        <p:txBody>
          <a:bodyPr wrap="square" lIns="0" tIns="0" rIns="0" bIns="0" rtlCol="0" anchor="ctr"/>
          <a:lstStyle/>
          <a:p>
            <a:pPr indent="0" marL="0">
              <a:buNone/>
            </a:pPr>
            <a:r>
              <a:rPr lang="en-US" sz="1400" dirty="0">
                <a:solidFill>
                  <a:schemeClr val="tx1"/>
                </a:solidFill>
              </a:rPr>
              <a:t>Category and priority level</a:t>
            </a:r>
            <a:endParaRPr lang="en-US" sz="1400" dirty="0"/>
          </a:p>
        </p:txBody>
      </p:sp>
      <p:sp>
        <p:nvSpPr>
          <p:cNvPr id="31" name="Field card"/>
          <p:cNvSpPr/>
          <p:nvPr/>
        </p:nvSpPr>
        <p:spPr>
          <a:xfrm>
            <a:off x="3246120" y="2788920"/>
            <a:ext cx="2651760" cy="868680"/>
          </a:xfrm>
          <a:prstGeom prst="roundRect">
            <a:avLst>
              <a:gd name="adj" fmla="val 8421"/>
            </a:avLst>
          </a:prstGeom>
          <a:solidFill>
            <a:schemeClr val="bg2"/>
          </a:solidFill>
          <a:ln/>
        </p:spPr>
      </p:sp>
      <p:sp>
        <p:nvSpPr>
          <p:cNvPr id="32" name="Shape 28"/>
          <p:cNvSpPr/>
          <p:nvPr/>
        </p:nvSpPr>
        <p:spPr>
          <a:xfrm>
            <a:off x="3383280" y="3017520"/>
            <a:ext cx="411480" cy="411480"/>
          </a:xfrm>
          <a:prstGeom prst="ellipse">
            <a:avLst/>
          </a:prstGeom>
          <a:solidFill>
            <a:schemeClr val="accent4"/>
          </a:solidFill>
          <a:ln/>
        </p:spPr>
      </p:sp>
      <p:pic>
        <p:nvPicPr>
          <p:cNvPr id="33" name="Image 1" descr="preencoded.png">    </p:cNvPr>
          <p:cNvPicPr>
            <a:picLocks noChangeAspect="1"/>
          </p:cNvPicPr>
          <p:nvPr/>
        </p:nvPicPr>
        <p:blipFill>
          <a:blip r:embed="rId2"/>
          <a:stretch>
            <a:fillRect/>
          </a:stretch>
        </p:blipFill>
        <p:spPr>
          <a:xfrm>
            <a:off x="3486150" y="3120390"/>
            <a:ext cx="205740" cy="205740"/>
          </a:xfrm>
          <a:prstGeom prst="rect">
            <a:avLst/>
          </a:prstGeom>
        </p:spPr>
      </p:pic>
      <p:sp>
        <p:nvSpPr>
          <p:cNvPr id="34" name="Text 29"/>
          <p:cNvSpPr txBox="1"/>
          <p:nvPr/>
        </p:nvSpPr>
        <p:spPr>
          <a:xfrm>
            <a:off x="3931920" y="2834640"/>
            <a:ext cx="1874520" cy="777240"/>
          </a:xfrm>
          <a:prstGeom prst="rect">
            <a:avLst/>
          </a:prstGeom>
          <a:noFill/>
          <a:ln/>
        </p:spPr>
        <p:txBody>
          <a:bodyPr wrap="square" lIns="0" tIns="0" rIns="0" bIns="0" rtlCol="0" anchor="ctr"/>
          <a:lstStyle/>
          <a:p>
            <a:pPr indent="0" marL="0">
              <a:buNone/>
            </a:pPr>
            <a:r>
              <a:rPr lang="en-US" sz="1400" dirty="0">
                <a:solidFill>
                  <a:schemeClr val="tx1"/>
                </a:solidFill>
              </a:rPr>
              <a:t>Number of people affected</a:t>
            </a:r>
            <a:endParaRPr lang="en-US" sz="1400" dirty="0"/>
          </a:p>
        </p:txBody>
      </p:sp>
      <p:sp>
        <p:nvSpPr>
          <p:cNvPr id="35" name="Field card"/>
          <p:cNvSpPr/>
          <p:nvPr/>
        </p:nvSpPr>
        <p:spPr>
          <a:xfrm>
            <a:off x="6035040" y="2788920"/>
            <a:ext cx="2651760" cy="868680"/>
          </a:xfrm>
          <a:prstGeom prst="roundRect">
            <a:avLst>
              <a:gd name="adj" fmla="val 8421"/>
            </a:avLst>
          </a:prstGeom>
          <a:solidFill>
            <a:schemeClr val="bg2"/>
          </a:solidFill>
          <a:ln/>
        </p:spPr>
      </p:sp>
      <p:sp>
        <p:nvSpPr>
          <p:cNvPr id="36" name="Shape 31"/>
          <p:cNvSpPr/>
          <p:nvPr/>
        </p:nvSpPr>
        <p:spPr>
          <a:xfrm>
            <a:off x="6172200" y="3017520"/>
            <a:ext cx="411480" cy="411480"/>
          </a:xfrm>
          <a:prstGeom prst="ellipse">
            <a:avLst/>
          </a:prstGeom>
          <a:solidFill>
            <a:schemeClr val="accent3"/>
          </a:solidFill>
          <a:ln/>
        </p:spPr>
      </p:sp>
      <p:pic>
        <p:nvPicPr>
          <p:cNvPr id="37" name="Image 2" descr="preencoded.png">    </p:cNvPr>
          <p:cNvPicPr>
            <a:picLocks noChangeAspect="1"/>
          </p:cNvPicPr>
          <p:nvPr/>
        </p:nvPicPr>
        <p:blipFill>
          <a:blip r:embed="rId3"/>
          <a:stretch>
            <a:fillRect/>
          </a:stretch>
        </p:blipFill>
        <p:spPr>
          <a:xfrm>
            <a:off x="6275070" y="3120390"/>
            <a:ext cx="205740" cy="205740"/>
          </a:xfrm>
          <a:prstGeom prst="rect">
            <a:avLst/>
          </a:prstGeom>
        </p:spPr>
      </p:pic>
      <p:sp>
        <p:nvSpPr>
          <p:cNvPr id="38" name="Text 32"/>
          <p:cNvSpPr txBox="1"/>
          <p:nvPr/>
        </p:nvSpPr>
        <p:spPr>
          <a:xfrm>
            <a:off x="6720840" y="2834640"/>
            <a:ext cx="1874520" cy="777240"/>
          </a:xfrm>
          <a:prstGeom prst="rect">
            <a:avLst/>
          </a:prstGeom>
          <a:noFill/>
          <a:ln/>
        </p:spPr>
        <p:txBody>
          <a:bodyPr wrap="square" lIns="0" tIns="0" rIns="0" bIns="0" rtlCol="0" anchor="ctr"/>
          <a:lstStyle/>
          <a:p>
            <a:pPr indent="0" marL="0">
              <a:buNone/>
            </a:pPr>
            <a:r>
              <a:rPr lang="en-US" sz="1400" dirty="0">
                <a:solidFill>
                  <a:schemeClr val="tx1"/>
                </a:solidFill>
              </a:rPr>
              <a:t>GPS location and address</a:t>
            </a:r>
            <a:endParaRPr lang="en-US" sz="1400" dirty="0"/>
          </a:p>
        </p:txBody>
      </p:sp>
      <p:sp>
        <p:nvSpPr>
          <p:cNvPr id="39" name="Field card"/>
          <p:cNvSpPr/>
          <p:nvPr/>
        </p:nvSpPr>
        <p:spPr>
          <a:xfrm>
            <a:off x="457200" y="3767328"/>
            <a:ext cx="2651760" cy="868680"/>
          </a:xfrm>
          <a:prstGeom prst="roundRect">
            <a:avLst>
              <a:gd name="adj" fmla="val 8421"/>
            </a:avLst>
          </a:prstGeom>
          <a:solidFill>
            <a:schemeClr val="bg2"/>
          </a:solidFill>
          <a:ln/>
        </p:spPr>
      </p:sp>
      <p:sp>
        <p:nvSpPr>
          <p:cNvPr id="40" name="Shape 34"/>
          <p:cNvSpPr/>
          <p:nvPr/>
        </p:nvSpPr>
        <p:spPr>
          <a:xfrm>
            <a:off x="594360" y="3995928"/>
            <a:ext cx="411480" cy="411480"/>
          </a:xfrm>
          <a:prstGeom prst="ellipse">
            <a:avLst/>
          </a:prstGeom>
          <a:solidFill>
            <a:schemeClr val="accent2"/>
          </a:solidFill>
          <a:ln/>
        </p:spPr>
      </p:sp>
      <p:pic>
        <p:nvPicPr>
          <p:cNvPr id="41" name="Image 3" descr="preencoded.png">    </p:cNvPr>
          <p:cNvPicPr>
            <a:picLocks noChangeAspect="1"/>
          </p:cNvPicPr>
          <p:nvPr/>
        </p:nvPicPr>
        <p:blipFill>
          <a:blip r:embed="rId4"/>
          <a:stretch>
            <a:fillRect/>
          </a:stretch>
        </p:blipFill>
        <p:spPr>
          <a:xfrm>
            <a:off x="697230" y="4098798"/>
            <a:ext cx="205740" cy="205740"/>
          </a:xfrm>
          <a:prstGeom prst="rect">
            <a:avLst/>
          </a:prstGeom>
        </p:spPr>
      </p:pic>
      <p:sp>
        <p:nvSpPr>
          <p:cNvPr id="42" name="Text 35"/>
          <p:cNvSpPr txBox="1"/>
          <p:nvPr/>
        </p:nvSpPr>
        <p:spPr>
          <a:xfrm>
            <a:off x="1143000" y="3813048"/>
            <a:ext cx="1874520" cy="777240"/>
          </a:xfrm>
          <a:prstGeom prst="rect">
            <a:avLst/>
          </a:prstGeom>
          <a:noFill/>
          <a:ln/>
        </p:spPr>
        <p:txBody>
          <a:bodyPr wrap="square" lIns="0" tIns="0" rIns="0" bIns="0" rtlCol="0" anchor="ctr"/>
          <a:lstStyle/>
          <a:p>
            <a:pPr indent="0" marL="0">
              <a:buNone/>
            </a:pPr>
            <a:r>
              <a:rPr lang="en-US" sz="1400" dirty="0">
                <a:solidFill>
                  <a:schemeClr val="tx1"/>
                </a:solidFill>
              </a:rPr>
              <a:t>Assigned responder</a:t>
            </a:r>
            <a:endParaRPr lang="en-US" sz="1400" dirty="0"/>
          </a:p>
        </p:txBody>
      </p:sp>
      <p:sp>
        <p:nvSpPr>
          <p:cNvPr id="43" name="Field card"/>
          <p:cNvSpPr/>
          <p:nvPr/>
        </p:nvSpPr>
        <p:spPr>
          <a:xfrm>
            <a:off x="3246120" y="3767328"/>
            <a:ext cx="2651760" cy="868680"/>
          </a:xfrm>
          <a:prstGeom prst="roundRect">
            <a:avLst>
              <a:gd name="adj" fmla="val 8421"/>
            </a:avLst>
          </a:prstGeom>
          <a:solidFill>
            <a:schemeClr val="bg2"/>
          </a:solidFill>
          <a:ln/>
        </p:spPr>
      </p:sp>
      <p:sp>
        <p:nvSpPr>
          <p:cNvPr id="44" name="Shape 37"/>
          <p:cNvSpPr/>
          <p:nvPr/>
        </p:nvSpPr>
        <p:spPr>
          <a:xfrm>
            <a:off x="3383280" y="3995928"/>
            <a:ext cx="411480" cy="411480"/>
          </a:xfrm>
          <a:prstGeom prst="ellipse">
            <a:avLst/>
          </a:prstGeom>
          <a:solidFill>
            <a:schemeClr val="accent5"/>
          </a:solidFill>
          <a:ln/>
        </p:spPr>
      </p:sp>
      <p:pic>
        <p:nvPicPr>
          <p:cNvPr id="45" name="Image 4" descr="preencoded.png">    </p:cNvPr>
          <p:cNvPicPr>
            <a:picLocks noChangeAspect="1"/>
          </p:cNvPicPr>
          <p:nvPr/>
        </p:nvPicPr>
        <p:blipFill>
          <a:blip r:embed="rId5"/>
          <a:stretch>
            <a:fillRect/>
          </a:stretch>
        </p:blipFill>
        <p:spPr>
          <a:xfrm>
            <a:off x="3486150" y="4098798"/>
            <a:ext cx="205740" cy="205740"/>
          </a:xfrm>
          <a:prstGeom prst="rect">
            <a:avLst/>
          </a:prstGeom>
        </p:spPr>
      </p:pic>
      <p:sp>
        <p:nvSpPr>
          <p:cNvPr id="46" name="Text 38"/>
          <p:cNvSpPr txBox="1"/>
          <p:nvPr/>
        </p:nvSpPr>
        <p:spPr>
          <a:xfrm>
            <a:off x="3931920" y="3813048"/>
            <a:ext cx="1874520" cy="777240"/>
          </a:xfrm>
          <a:prstGeom prst="rect">
            <a:avLst/>
          </a:prstGeom>
          <a:noFill/>
          <a:ln/>
        </p:spPr>
        <p:txBody>
          <a:bodyPr wrap="square" lIns="0" tIns="0" rIns="0" bIns="0" rtlCol="0" anchor="ctr"/>
          <a:lstStyle/>
          <a:p>
            <a:pPr indent="0" marL="0">
              <a:buNone/>
            </a:pPr>
            <a:r>
              <a:rPr lang="en-US" sz="1400" dirty="0">
                <a:solidFill>
                  <a:schemeClr val="tx1"/>
                </a:solidFill>
              </a:rPr>
              <a:t>Optional media evidence</a:t>
            </a:r>
            <a:endParaRPr lang="en-US" sz="1400" dirty="0"/>
          </a:p>
        </p:txBody>
      </p:sp>
      <p:sp>
        <p:nvSpPr>
          <p:cNvPr id="47" name="Field card"/>
          <p:cNvSpPr/>
          <p:nvPr/>
        </p:nvSpPr>
        <p:spPr>
          <a:xfrm>
            <a:off x="6035040" y="3767328"/>
            <a:ext cx="2651760" cy="868680"/>
          </a:xfrm>
          <a:prstGeom prst="roundRect">
            <a:avLst>
              <a:gd name="adj" fmla="val 8421"/>
            </a:avLst>
          </a:prstGeom>
          <a:solidFill>
            <a:schemeClr val="bg2"/>
          </a:solidFill>
          <a:ln/>
        </p:spPr>
      </p:sp>
      <p:sp>
        <p:nvSpPr>
          <p:cNvPr id="48" name="Shape 40"/>
          <p:cNvSpPr/>
          <p:nvPr/>
        </p:nvSpPr>
        <p:spPr>
          <a:xfrm>
            <a:off x="6172200" y="3995928"/>
            <a:ext cx="411480" cy="411480"/>
          </a:xfrm>
          <a:prstGeom prst="ellipse">
            <a:avLst/>
          </a:prstGeom>
          <a:solidFill>
            <a:schemeClr val="tx2"/>
          </a:solidFill>
          <a:ln/>
        </p:spPr>
      </p:sp>
      <p:pic>
        <p:nvPicPr>
          <p:cNvPr id="49" name="Image 5" descr="preencoded.png">    </p:cNvPr>
          <p:cNvPicPr>
            <a:picLocks noChangeAspect="1"/>
          </p:cNvPicPr>
          <p:nvPr/>
        </p:nvPicPr>
        <p:blipFill>
          <a:blip r:embed="rId6"/>
          <a:stretch>
            <a:fillRect/>
          </a:stretch>
        </p:blipFill>
        <p:spPr>
          <a:xfrm>
            <a:off x="6275070" y="4098798"/>
            <a:ext cx="205740" cy="205740"/>
          </a:xfrm>
          <a:prstGeom prst="rect">
            <a:avLst/>
          </a:prstGeom>
        </p:spPr>
      </p:pic>
      <p:sp>
        <p:nvSpPr>
          <p:cNvPr id="50" name="Text 41"/>
          <p:cNvSpPr txBox="1"/>
          <p:nvPr/>
        </p:nvSpPr>
        <p:spPr>
          <a:xfrm>
            <a:off x="6720840" y="3813048"/>
            <a:ext cx="1874520" cy="777240"/>
          </a:xfrm>
          <a:prstGeom prst="rect">
            <a:avLst/>
          </a:prstGeom>
          <a:noFill/>
          <a:ln/>
        </p:spPr>
        <p:txBody>
          <a:bodyPr wrap="square" lIns="0" tIns="0" rIns="0" bIns="0" rtlCol="0" anchor="ctr"/>
          <a:lstStyle/>
          <a:p>
            <a:pPr indent="0" marL="0">
              <a:buNone/>
            </a:pPr>
            <a:r>
              <a:rPr lang="en-US" sz="1400" dirty="0">
                <a:solidFill>
                  <a:schemeClr val="tx1"/>
                </a:solidFill>
              </a:rPr>
              <a:t>Full status history: actor, timestamp, and notes</a:t>
            </a:r>
            <a:endParaRPr lang="en-US" sz="14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7A8A8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19456"/>
            <a:ext cx="548640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07  |  MAP AND MATCHING</a:t>
            </a:r>
            <a:endParaRPr lang="en-US" sz="1100" dirty="0"/>
          </a:p>
        </p:txBody>
      </p:sp>
      <p:sp>
        <p:nvSpPr>
          <p:cNvPr id="4" name="Text 0"/>
          <p:cNvSpPr/>
          <p:nvPr>
            <p:ph idx="100" type="title" hasCustomPrompt="1"/>
          </p:nvPr>
        </p:nvSpPr>
        <p:spPr>
          <a:xfrm>
            <a:off x="457200" y="420624"/>
            <a:ext cx="8229600" cy="566928"/>
          </a:xfrm>
          <a:prstGeom prst="rect">
            <a:avLst/>
          </a:prstGeom>
          <a:noFill/>
          <a:ln/>
        </p:spPr>
        <p:txBody>
          <a:bodyPr wrap="square" lIns="0" tIns="0" rIns="0" bIns="0" rtlCol="0" anchor="ctr"/>
          <a:lstStyle/>
          <a:p>
            <a:pPr algn="l" indent="0" marL="0">
              <a:buNone/>
            </a:pPr>
            <a:r>
              <a:rPr lang="en-US" sz="2800" b="1" dirty="0">
                <a:solidFill>
                  <a:schemeClr val="tx1"/>
                </a:solidFill>
              </a:rPr>
              <a:t>Location-Aware Map and Intelligent Matching</a:t>
            </a:r>
            <a:endParaRPr lang="en-US" sz="2800" dirty="0"/>
          </a:p>
        </p:txBody>
      </p:sp>
      <p:sp>
        <p:nvSpPr>
          <p:cNvPr id="5" name="Shape 2"/>
          <p:cNvSpPr/>
          <p:nvPr/>
        </p:nvSpPr>
        <p:spPr>
          <a:xfrm>
            <a:off x="457200" y="1188720"/>
            <a:ext cx="3931920" cy="1554480"/>
          </a:xfrm>
          <a:prstGeom prst="rect">
            <a:avLst/>
          </a:prstGeom>
          <a:solidFill>
            <a:srgbClr val="DCE8E6"/>
          </a:solidFill>
          <a:ln/>
        </p:spPr>
      </p:sp>
      <p:sp>
        <p:nvSpPr>
          <p:cNvPr id="6" name="Shape 3"/>
          <p:cNvSpPr/>
          <p:nvPr/>
        </p:nvSpPr>
        <p:spPr>
          <a:xfrm>
            <a:off x="1115568" y="1188720"/>
            <a:ext cx="0" cy="1554480"/>
          </a:xfrm>
          <a:prstGeom prst="line">
            <a:avLst/>
          </a:prstGeom>
          <a:noFill/>
          <a:ln w="19050">
            <a:solidFill>
              <a:srgbClr val="FFFFFF"/>
            </a:solidFill>
            <a:prstDash val="solid"/>
          </a:ln>
        </p:spPr>
      </p:sp>
      <p:sp>
        <p:nvSpPr>
          <p:cNvPr id="7" name="Shape 4"/>
          <p:cNvSpPr/>
          <p:nvPr/>
        </p:nvSpPr>
        <p:spPr>
          <a:xfrm>
            <a:off x="1773936" y="1188720"/>
            <a:ext cx="0" cy="1554480"/>
          </a:xfrm>
          <a:prstGeom prst="line">
            <a:avLst/>
          </a:prstGeom>
          <a:noFill/>
          <a:ln w="19050">
            <a:solidFill>
              <a:srgbClr val="FFFFFF"/>
            </a:solidFill>
            <a:prstDash val="solid"/>
          </a:ln>
        </p:spPr>
      </p:sp>
      <p:sp>
        <p:nvSpPr>
          <p:cNvPr id="8" name="Shape 5"/>
          <p:cNvSpPr/>
          <p:nvPr/>
        </p:nvSpPr>
        <p:spPr>
          <a:xfrm>
            <a:off x="2432304" y="1188720"/>
            <a:ext cx="0" cy="1554480"/>
          </a:xfrm>
          <a:prstGeom prst="line">
            <a:avLst/>
          </a:prstGeom>
          <a:noFill/>
          <a:ln w="19050">
            <a:solidFill>
              <a:srgbClr val="FFFFFF"/>
            </a:solidFill>
            <a:prstDash val="solid"/>
          </a:ln>
        </p:spPr>
      </p:sp>
      <p:sp>
        <p:nvSpPr>
          <p:cNvPr id="9" name="Shape 6"/>
          <p:cNvSpPr/>
          <p:nvPr/>
        </p:nvSpPr>
        <p:spPr>
          <a:xfrm>
            <a:off x="3090672" y="1188720"/>
            <a:ext cx="0" cy="1554480"/>
          </a:xfrm>
          <a:prstGeom prst="line">
            <a:avLst/>
          </a:prstGeom>
          <a:noFill/>
          <a:ln w="19050">
            <a:solidFill>
              <a:srgbClr val="FFFFFF"/>
            </a:solidFill>
            <a:prstDash val="solid"/>
          </a:ln>
        </p:spPr>
      </p:sp>
      <p:sp>
        <p:nvSpPr>
          <p:cNvPr id="10" name="Shape 7"/>
          <p:cNvSpPr/>
          <p:nvPr/>
        </p:nvSpPr>
        <p:spPr>
          <a:xfrm>
            <a:off x="3749040" y="1188720"/>
            <a:ext cx="0" cy="1554480"/>
          </a:xfrm>
          <a:prstGeom prst="line">
            <a:avLst/>
          </a:prstGeom>
          <a:noFill/>
          <a:ln w="19050">
            <a:solidFill>
              <a:srgbClr val="FFFFFF"/>
            </a:solidFill>
            <a:prstDash val="solid"/>
          </a:ln>
        </p:spPr>
      </p:sp>
      <p:sp>
        <p:nvSpPr>
          <p:cNvPr id="11" name="Shape 8"/>
          <p:cNvSpPr/>
          <p:nvPr/>
        </p:nvSpPr>
        <p:spPr>
          <a:xfrm>
            <a:off x="457200" y="1709928"/>
            <a:ext cx="3931920" cy="0"/>
          </a:xfrm>
          <a:prstGeom prst="line">
            <a:avLst/>
          </a:prstGeom>
          <a:noFill/>
          <a:ln w="19050">
            <a:solidFill>
              <a:srgbClr val="FFFFFF"/>
            </a:solidFill>
            <a:prstDash val="solid"/>
          </a:ln>
        </p:spPr>
      </p:sp>
      <p:sp>
        <p:nvSpPr>
          <p:cNvPr id="12" name="Shape 9"/>
          <p:cNvSpPr/>
          <p:nvPr/>
        </p:nvSpPr>
        <p:spPr>
          <a:xfrm>
            <a:off x="457200" y="2231136"/>
            <a:ext cx="3931920" cy="0"/>
          </a:xfrm>
          <a:prstGeom prst="line">
            <a:avLst/>
          </a:prstGeom>
          <a:noFill/>
          <a:ln w="19050">
            <a:solidFill>
              <a:srgbClr val="FFFFFF"/>
            </a:solidFill>
            <a:prstDash val="solid"/>
          </a:ln>
        </p:spPr>
      </p:sp>
      <p:sp>
        <p:nvSpPr>
          <p:cNvPr id="13" name="Shape 10"/>
          <p:cNvSpPr/>
          <p:nvPr/>
        </p:nvSpPr>
        <p:spPr>
          <a:xfrm>
            <a:off x="2258568" y="1709928"/>
            <a:ext cx="237744" cy="237744"/>
          </a:xfrm>
          <a:prstGeom prst="ellipse">
            <a:avLst/>
          </a:prstGeom>
          <a:solidFill>
            <a:srgbClr val="E5383B"/>
          </a:solidFill>
          <a:ln w="12700">
            <a:solidFill>
              <a:srgbClr val="FFFFFF"/>
            </a:solidFill>
            <a:prstDash val="solid"/>
          </a:ln>
        </p:spPr>
      </p:sp>
      <p:sp>
        <p:nvSpPr>
          <p:cNvPr id="14" name="Shape 11"/>
          <p:cNvSpPr/>
          <p:nvPr/>
        </p:nvSpPr>
        <p:spPr>
          <a:xfrm>
            <a:off x="1207008" y="1435608"/>
            <a:ext cx="146304" cy="146304"/>
          </a:xfrm>
          <a:prstGeom prst="ellipse">
            <a:avLst/>
          </a:prstGeom>
          <a:solidFill>
            <a:srgbClr val="F29E4C"/>
          </a:solidFill>
          <a:ln w="12700">
            <a:solidFill>
              <a:srgbClr val="FFFFFF"/>
            </a:solidFill>
            <a:prstDash val="solid"/>
          </a:ln>
        </p:spPr>
      </p:sp>
      <p:sp>
        <p:nvSpPr>
          <p:cNvPr id="15" name="Shape 12"/>
          <p:cNvSpPr/>
          <p:nvPr/>
        </p:nvSpPr>
        <p:spPr>
          <a:xfrm>
            <a:off x="3310128" y="2258568"/>
            <a:ext cx="146304" cy="146304"/>
          </a:xfrm>
          <a:prstGeom prst="ellipse">
            <a:avLst/>
          </a:prstGeom>
          <a:solidFill>
            <a:srgbClr val="F29E4C"/>
          </a:solidFill>
          <a:ln w="12700">
            <a:solidFill>
              <a:srgbClr val="FFFFFF"/>
            </a:solidFill>
            <a:prstDash val="solid"/>
          </a:ln>
        </p:spPr>
      </p:sp>
      <p:sp>
        <p:nvSpPr>
          <p:cNvPr id="16" name="Shape 13"/>
          <p:cNvSpPr/>
          <p:nvPr/>
        </p:nvSpPr>
        <p:spPr>
          <a:xfrm>
            <a:off x="932688" y="2212848"/>
            <a:ext cx="146304" cy="146304"/>
          </a:xfrm>
          <a:prstGeom prst="ellipse">
            <a:avLst/>
          </a:prstGeom>
          <a:solidFill>
            <a:srgbClr val="2A9D8F"/>
          </a:solidFill>
          <a:ln w="12700">
            <a:solidFill>
              <a:srgbClr val="FFFFFF"/>
            </a:solidFill>
            <a:prstDash val="solid"/>
          </a:ln>
        </p:spPr>
      </p:sp>
      <p:sp>
        <p:nvSpPr>
          <p:cNvPr id="17" name="Shape 14"/>
          <p:cNvSpPr/>
          <p:nvPr/>
        </p:nvSpPr>
        <p:spPr>
          <a:xfrm>
            <a:off x="2852928" y="1389888"/>
            <a:ext cx="146304" cy="146304"/>
          </a:xfrm>
          <a:prstGeom prst="ellipse">
            <a:avLst/>
          </a:prstGeom>
          <a:solidFill>
            <a:srgbClr val="2A9D8F"/>
          </a:solidFill>
          <a:ln w="12700">
            <a:solidFill>
              <a:srgbClr val="FFFFFF"/>
            </a:solidFill>
            <a:prstDash val="solid"/>
          </a:ln>
        </p:spPr>
      </p:sp>
      <p:sp>
        <p:nvSpPr>
          <p:cNvPr id="18" name="Shape 15"/>
          <p:cNvSpPr/>
          <p:nvPr/>
        </p:nvSpPr>
        <p:spPr>
          <a:xfrm>
            <a:off x="3767328" y="1618488"/>
            <a:ext cx="146304" cy="146304"/>
          </a:xfrm>
          <a:prstGeom prst="ellipse">
            <a:avLst/>
          </a:prstGeom>
          <a:solidFill>
            <a:srgbClr val="2A9D8F"/>
          </a:solidFill>
          <a:ln w="12700">
            <a:solidFill>
              <a:srgbClr val="FFFFFF"/>
            </a:solidFill>
            <a:prstDash val="solid"/>
          </a:ln>
        </p:spPr>
      </p:sp>
      <p:sp>
        <p:nvSpPr>
          <p:cNvPr id="19" name="Shape 16"/>
          <p:cNvSpPr/>
          <p:nvPr/>
        </p:nvSpPr>
        <p:spPr>
          <a:xfrm>
            <a:off x="1700784" y="2386584"/>
            <a:ext cx="164592" cy="164592"/>
          </a:xfrm>
          <a:prstGeom prst="ellipse">
            <a:avLst/>
          </a:prstGeom>
          <a:solidFill>
            <a:srgbClr val="3A86C8"/>
          </a:solidFill>
          <a:ln w="12700">
            <a:solidFill>
              <a:srgbClr val="FFFFFF"/>
            </a:solidFill>
            <a:prstDash val="solid"/>
          </a:ln>
        </p:spPr>
      </p:sp>
      <p:sp>
        <p:nvSpPr>
          <p:cNvPr id="20" name="Shape 17"/>
          <p:cNvSpPr/>
          <p:nvPr/>
        </p:nvSpPr>
        <p:spPr>
          <a:xfrm>
            <a:off x="3118104" y="1883664"/>
            <a:ext cx="164592" cy="164592"/>
          </a:xfrm>
          <a:prstGeom prst="ellipse">
            <a:avLst/>
          </a:prstGeom>
          <a:solidFill>
            <a:srgbClr val="3A86C8"/>
          </a:solidFill>
          <a:ln w="12700">
            <a:solidFill>
              <a:srgbClr val="FFFFFF"/>
            </a:solidFill>
            <a:prstDash val="solid"/>
          </a:ln>
        </p:spPr>
      </p:sp>
      <p:sp>
        <p:nvSpPr>
          <p:cNvPr id="21" name="Shape 18"/>
          <p:cNvSpPr/>
          <p:nvPr/>
        </p:nvSpPr>
        <p:spPr>
          <a:xfrm>
            <a:off x="694944" y="1426464"/>
            <a:ext cx="164592" cy="164592"/>
          </a:xfrm>
          <a:prstGeom prst="ellipse">
            <a:avLst/>
          </a:prstGeom>
          <a:solidFill>
            <a:srgbClr val="7B5EA7"/>
          </a:solidFill>
          <a:ln w="12700">
            <a:solidFill>
              <a:srgbClr val="FFFFFF"/>
            </a:solidFill>
            <a:prstDash val="solid"/>
          </a:ln>
        </p:spPr>
      </p:sp>
      <p:sp>
        <p:nvSpPr>
          <p:cNvPr id="22" name="Shape 19"/>
          <p:cNvSpPr/>
          <p:nvPr/>
        </p:nvSpPr>
        <p:spPr>
          <a:xfrm>
            <a:off x="1929384" y="1289304"/>
            <a:ext cx="164592" cy="164592"/>
          </a:xfrm>
          <a:prstGeom prst="ellipse">
            <a:avLst/>
          </a:prstGeom>
          <a:solidFill>
            <a:srgbClr val="7B5EA7"/>
          </a:solidFill>
          <a:ln w="12700">
            <a:solidFill>
              <a:srgbClr val="FFFFFF"/>
            </a:solidFill>
            <a:prstDash val="solid"/>
          </a:ln>
        </p:spPr>
      </p:sp>
      <p:sp>
        <p:nvSpPr>
          <p:cNvPr id="23" name="Shape 20"/>
          <p:cNvSpPr/>
          <p:nvPr/>
        </p:nvSpPr>
        <p:spPr>
          <a:xfrm>
            <a:off x="2766060" y="2491740"/>
            <a:ext cx="137160" cy="137160"/>
          </a:xfrm>
          <a:prstGeom prst="ellipse">
            <a:avLst/>
          </a:prstGeom>
          <a:solidFill>
            <a:srgbClr val="E9C46A"/>
          </a:solidFill>
          <a:ln w="12700">
            <a:solidFill>
              <a:srgbClr val="FFFFFF"/>
            </a:solidFill>
            <a:prstDash val="solid"/>
          </a:ln>
        </p:spPr>
      </p:sp>
      <p:sp>
        <p:nvSpPr>
          <p:cNvPr id="24" name="Shape 21"/>
          <p:cNvSpPr/>
          <p:nvPr/>
        </p:nvSpPr>
        <p:spPr>
          <a:xfrm>
            <a:off x="3954780" y="2308860"/>
            <a:ext cx="137160" cy="137160"/>
          </a:xfrm>
          <a:prstGeom prst="ellipse">
            <a:avLst/>
          </a:prstGeom>
          <a:solidFill>
            <a:srgbClr val="E9C46A"/>
          </a:solidFill>
          <a:ln w="12700">
            <a:solidFill>
              <a:srgbClr val="FFFFFF"/>
            </a:solidFill>
            <a:prstDash val="solid"/>
          </a:ln>
        </p:spPr>
      </p:sp>
      <p:sp>
        <p:nvSpPr>
          <p:cNvPr id="25" name="Shape 22"/>
          <p:cNvSpPr/>
          <p:nvPr/>
        </p:nvSpPr>
        <p:spPr>
          <a:xfrm>
            <a:off x="457200" y="2743200"/>
            <a:ext cx="3931920" cy="457200"/>
          </a:xfrm>
          <a:prstGeom prst="rect">
            <a:avLst/>
          </a:prstGeom>
          <a:solidFill>
            <a:srgbClr val="10252B"/>
          </a:solidFill>
          <a:ln/>
        </p:spPr>
      </p:sp>
      <p:sp>
        <p:nvSpPr>
          <p:cNvPr id="26" name="Shape 23"/>
          <p:cNvSpPr/>
          <p:nvPr/>
        </p:nvSpPr>
        <p:spPr>
          <a:xfrm>
            <a:off x="566928" y="2843784"/>
            <a:ext cx="100584" cy="100584"/>
          </a:xfrm>
          <a:prstGeom prst="ellipse">
            <a:avLst/>
          </a:prstGeom>
          <a:solidFill>
            <a:srgbClr val="E5383B"/>
          </a:solidFill>
          <a:ln/>
        </p:spPr>
      </p:sp>
      <p:sp>
        <p:nvSpPr>
          <p:cNvPr id="27" name="Text 24"/>
          <p:cNvSpPr txBox="1"/>
          <p:nvPr/>
        </p:nvSpPr>
        <p:spPr>
          <a:xfrm>
            <a:off x="713232" y="2798064"/>
            <a:ext cx="1097280" cy="182880"/>
          </a:xfrm>
          <a:prstGeom prst="rect">
            <a:avLst/>
          </a:prstGeom>
          <a:noFill/>
          <a:ln/>
        </p:spPr>
        <p:txBody>
          <a:bodyPr wrap="square" lIns="0" tIns="0" rIns="0" bIns="0" rtlCol="0" anchor="ctr"/>
          <a:lstStyle/>
          <a:p>
            <a:pPr indent="0" marL="0">
              <a:buNone/>
            </a:pPr>
            <a:r>
              <a:rPr lang="en-US" sz="1000" dirty="0">
                <a:solidFill>
                  <a:schemeClr val="bg1"/>
                </a:solidFill>
              </a:rPr>
              <a:t>Requests</a:t>
            </a:r>
            <a:endParaRPr lang="en-US" sz="1000" dirty="0"/>
          </a:p>
        </p:txBody>
      </p:sp>
      <p:sp>
        <p:nvSpPr>
          <p:cNvPr id="28" name="Shape 25"/>
          <p:cNvSpPr/>
          <p:nvPr/>
        </p:nvSpPr>
        <p:spPr>
          <a:xfrm>
            <a:off x="1847088" y="2843784"/>
            <a:ext cx="100584" cy="100584"/>
          </a:xfrm>
          <a:prstGeom prst="ellipse">
            <a:avLst/>
          </a:prstGeom>
          <a:solidFill>
            <a:srgbClr val="F29E4C"/>
          </a:solidFill>
          <a:ln/>
        </p:spPr>
      </p:sp>
      <p:sp>
        <p:nvSpPr>
          <p:cNvPr id="29" name="Text 26"/>
          <p:cNvSpPr txBox="1"/>
          <p:nvPr/>
        </p:nvSpPr>
        <p:spPr>
          <a:xfrm>
            <a:off x="1993392" y="2798064"/>
            <a:ext cx="1097280" cy="182880"/>
          </a:xfrm>
          <a:prstGeom prst="rect">
            <a:avLst/>
          </a:prstGeom>
          <a:noFill/>
          <a:ln/>
        </p:spPr>
        <p:txBody>
          <a:bodyPr wrap="square" lIns="0" tIns="0" rIns="0" bIns="0" rtlCol="0" anchor="ctr"/>
          <a:lstStyle/>
          <a:p>
            <a:pPr indent="0" marL="0">
              <a:buNone/>
            </a:pPr>
            <a:r>
              <a:rPr lang="en-US" sz="1000" dirty="0">
                <a:solidFill>
                  <a:schemeClr val="bg1"/>
                </a:solidFill>
              </a:rPr>
              <a:t>High priority</a:t>
            </a:r>
            <a:endParaRPr lang="en-US" sz="1000" dirty="0"/>
          </a:p>
        </p:txBody>
      </p:sp>
      <p:sp>
        <p:nvSpPr>
          <p:cNvPr id="30" name="Shape 27"/>
          <p:cNvSpPr/>
          <p:nvPr/>
        </p:nvSpPr>
        <p:spPr>
          <a:xfrm>
            <a:off x="3127248" y="2843784"/>
            <a:ext cx="100584" cy="100584"/>
          </a:xfrm>
          <a:prstGeom prst="ellipse">
            <a:avLst/>
          </a:prstGeom>
          <a:solidFill>
            <a:srgbClr val="2A9D8F"/>
          </a:solidFill>
          <a:ln/>
        </p:spPr>
      </p:sp>
      <p:sp>
        <p:nvSpPr>
          <p:cNvPr id="31" name="Text 28"/>
          <p:cNvSpPr txBox="1"/>
          <p:nvPr/>
        </p:nvSpPr>
        <p:spPr>
          <a:xfrm>
            <a:off x="3273552" y="2798064"/>
            <a:ext cx="1097280" cy="182880"/>
          </a:xfrm>
          <a:prstGeom prst="rect">
            <a:avLst/>
          </a:prstGeom>
          <a:noFill/>
          <a:ln/>
        </p:spPr>
        <p:txBody>
          <a:bodyPr wrap="square" lIns="0" tIns="0" rIns="0" bIns="0" rtlCol="0" anchor="ctr"/>
          <a:lstStyle/>
          <a:p>
            <a:pPr indent="0" marL="0">
              <a:buNone/>
            </a:pPr>
            <a:r>
              <a:rPr lang="en-US" sz="1000" dirty="0">
                <a:solidFill>
                  <a:schemeClr val="bg1"/>
                </a:solidFill>
              </a:rPr>
              <a:t>Volunteers</a:t>
            </a:r>
            <a:endParaRPr lang="en-US" sz="1000" dirty="0"/>
          </a:p>
        </p:txBody>
      </p:sp>
      <p:sp>
        <p:nvSpPr>
          <p:cNvPr id="32" name="Shape 29"/>
          <p:cNvSpPr/>
          <p:nvPr/>
        </p:nvSpPr>
        <p:spPr>
          <a:xfrm>
            <a:off x="566928" y="3044952"/>
            <a:ext cx="100584" cy="100584"/>
          </a:xfrm>
          <a:prstGeom prst="ellipse">
            <a:avLst/>
          </a:prstGeom>
          <a:solidFill>
            <a:srgbClr val="3A86C8"/>
          </a:solidFill>
          <a:ln/>
        </p:spPr>
      </p:sp>
      <p:sp>
        <p:nvSpPr>
          <p:cNvPr id="33" name="Text 30"/>
          <p:cNvSpPr txBox="1"/>
          <p:nvPr/>
        </p:nvSpPr>
        <p:spPr>
          <a:xfrm>
            <a:off x="713232" y="2999232"/>
            <a:ext cx="1097280" cy="182880"/>
          </a:xfrm>
          <a:prstGeom prst="rect">
            <a:avLst/>
          </a:prstGeom>
          <a:noFill/>
          <a:ln/>
        </p:spPr>
        <p:txBody>
          <a:bodyPr wrap="square" lIns="0" tIns="0" rIns="0" bIns="0" rtlCol="0" anchor="ctr"/>
          <a:lstStyle/>
          <a:p>
            <a:pPr indent="0" marL="0">
              <a:buNone/>
            </a:pPr>
            <a:r>
              <a:rPr lang="en-US" sz="1000" dirty="0">
                <a:solidFill>
                  <a:schemeClr val="bg1"/>
                </a:solidFill>
              </a:rPr>
              <a:t>NGOs</a:t>
            </a:r>
            <a:endParaRPr lang="en-US" sz="1000" dirty="0"/>
          </a:p>
        </p:txBody>
      </p:sp>
      <p:sp>
        <p:nvSpPr>
          <p:cNvPr id="34" name="Shape 31"/>
          <p:cNvSpPr/>
          <p:nvPr/>
        </p:nvSpPr>
        <p:spPr>
          <a:xfrm>
            <a:off x="1847088" y="3044952"/>
            <a:ext cx="100584" cy="100584"/>
          </a:xfrm>
          <a:prstGeom prst="ellipse">
            <a:avLst/>
          </a:prstGeom>
          <a:solidFill>
            <a:srgbClr val="7B5EA7"/>
          </a:solidFill>
          <a:ln/>
        </p:spPr>
      </p:sp>
      <p:sp>
        <p:nvSpPr>
          <p:cNvPr id="35" name="Text 32"/>
          <p:cNvSpPr txBox="1"/>
          <p:nvPr/>
        </p:nvSpPr>
        <p:spPr>
          <a:xfrm>
            <a:off x="1993392" y="2999232"/>
            <a:ext cx="1097280" cy="182880"/>
          </a:xfrm>
          <a:prstGeom prst="rect">
            <a:avLst/>
          </a:prstGeom>
          <a:noFill/>
          <a:ln/>
        </p:spPr>
        <p:txBody>
          <a:bodyPr wrap="square" lIns="0" tIns="0" rIns="0" bIns="0" rtlCol="0" anchor="ctr"/>
          <a:lstStyle/>
          <a:p>
            <a:pPr indent="0" marL="0">
              <a:buNone/>
            </a:pPr>
            <a:r>
              <a:rPr lang="en-US" sz="1000" dirty="0">
                <a:solidFill>
                  <a:schemeClr val="bg1"/>
                </a:solidFill>
              </a:rPr>
              <a:t>Shelters</a:t>
            </a:r>
            <a:endParaRPr lang="en-US" sz="1000" dirty="0"/>
          </a:p>
        </p:txBody>
      </p:sp>
      <p:sp>
        <p:nvSpPr>
          <p:cNvPr id="36" name="Shape 33"/>
          <p:cNvSpPr/>
          <p:nvPr/>
        </p:nvSpPr>
        <p:spPr>
          <a:xfrm>
            <a:off x="3127248" y="3044952"/>
            <a:ext cx="100584" cy="100584"/>
          </a:xfrm>
          <a:prstGeom prst="ellipse">
            <a:avLst/>
          </a:prstGeom>
          <a:solidFill>
            <a:srgbClr val="E9C46A"/>
          </a:solidFill>
          <a:ln/>
        </p:spPr>
      </p:sp>
      <p:sp>
        <p:nvSpPr>
          <p:cNvPr id="37" name="Text 34"/>
          <p:cNvSpPr txBox="1"/>
          <p:nvPr/>
        </p:nvSpPr>
        <p:spPr>
          <a:xfrm>
            <a:off x="3273552" y="2999232"/>
            <a:ext cx="1097280" cy="182880"/>
          </a:xfrm>
          <a:prstGeom prst="rect">
            <a:avLst/>
          </a:prstGeom>
          <a:noFill/>
          <a:ln/>
        </p:spPr>
        <p:txBody>
          <a:bodyPr wrap="square" lIns="0" tIns="0" rIns="0" bIns="0" rtlCol="0" anchor="ctr"/>
          <a:lstStyle/>
          <a:p>
            <a:pPr indent="0" marL="0">
              <a:buNone/>
            </a:pPr>
            <a:r>
              <a:rPr lang="en-US" sz="1000" dirty="0">
                <a:solidFill>
                  <a:schemeClr val="bg1"/>
                </a:solidFill>
              </a:rPr>
              <a:t>Resources</a:t>
            </a:r>
            <a:endParaRPr lang="en-US" sz="1000" dirty="0"/>
          </a:p>
        </p:txBody>
      </p:sp>
      <p:sp>
        <p:nvSpPr>
          <p:cNvPr id="38" name="Text 35"/>
          <p:cNvSpPr txBox="1"/>
          <p:nvPr/>
        </p:nvSpPr>
        <p:spPr>
          <a:xfrm>
            <a:off x="457200" y="3337560"/>
            <a:ext cx="3931920" cy="256032"/>
          </a:xfrm>
          <a:prstGeom prst="rect">
            <a:avLst/>
          </a:prstGeom>
          <a:noFill/>
          <a:ln/>
        </p:spPr>
        <p:txBody>
          <a:bodyPr wrap="square" lIns="0" tIns="0" rIns="0" bIns="0" rtlCol="0" anchor="t"/>
          <a:lstStyle/>
          <a:p>
            <a:pPr indent="0" marL="0">
              <a:buNone/>
            </a:pPr>
            <a:r>
              <a:rPr lang="en-US" sz="1400" b="1" dirty="0">
                <a:solidFill>
                  <a:schemeClr val="tx2"/>
                </a:solidFill>
              </a:rPr>
              <a:t>Live map shows</a:t>
            </a:r>
            <a:endParaRPr lang="en-US" sz="1400" dirty="0"/>
          </a:p>
        </p:txBody>
      </p:sp>
      <p:sp>
        <p:nvSpPr>
          <p:cNvPr id="39" name="Shape 36"/>
          <p:cNvSpPr/>
          <p:nvPr/>
        </p:nvSpPr>
        <p:spPr>
          <a:xfrm>
            <a:off x="457200" y="3712464"/>
            <a:ext cx="109728" cy="109728"/>
          </a:xfrm>
          <a:prstGeom prst="ellipse">
            <a:avLst/>
          </a:prstGeom>
          <a:solidFill>
            <a:srgbClr val="E5383B"/>
          </a:solidFill>
          <a:ln/>
        </p:spPr>
      </p:sp>
      <p:sp>
        <p:nvSpPr>
          <p:cNvPr id="40" name="Text 37"/>
          <p:cNvSpPr txBox="1"/>
          <p:nvPr/>
        </p:nvSpPr>
        <p:spPr>
          <a:xfrm>
            <a:off x="685800" y="3639312"/>
            <a:ext cx="3657600" cy="256032"/>
          </a:xfrm>
          <a:prstGeom prst="rect">
            <a:avLst/>
          </a:prstGeom>
          <a:noFill/>
          <a:ln/>
        </p:spPr>
        <p:txBody>
          <a:bodyPr wrap="square" lIns="0" tIns="0" rIns="0" bIns="0" rtlCol="0" anchor="t"/>
          <a:lstStyle/>
          <a:p>
            <a:pPr indent="0" marL="0">
              <a:buNone/>
            </a:pPr>
            <a:r>
              <a:rPr lang="en-US" sz="1400" dirty="0">
                <a:solidFill>
                  <a:schemeClr val="tx1"/>
                </a:solidFill>
              </a:rPr>
              <a:t>Critical and high-priority requests</a:t>
            </a:r>
            <a:endParaRPr lang="en-US" sz="1400" dirty="0"/>
          </a:p>
        </p:txBody>
      </p:sp>
      <p:sp>
        <p:nvSpPr>
          <p:cNvPr id="41" name="Shape 38"/>
          <p:cNvSpPr/>
          <p:nvPr/>
        </p:nvSpPr>
        <p:spPr>
          <a:xfrm>
            <a:off x="457200" y="3968496"/>
            <a:ext cx="109728" cy="109728"/>
          </a:xfrm>
          <a:prstGeom prst="ellipse">
            <a:avLst/>
          </a:prstGeom>
          <a:solidFill>
            <a:srgbClr val="2A9D8F"/>
          </a:solidFill>
          <a:ln/>
        </p:spPr>
      </p:sp>
      <p:sp>
        <p:nvSpPr>
          <p:cNvPr id="42" name="Text 39"/>
          <p:cNvSpPr txBox="1"/>
          <p:nvPr/>
        </p:nvSpPr>
        <p:spPr>
          <a:xfrm>
            <a:off x="685800" y="3895344"/>
            <a:ext cx="3657600" cy="256032"/>
          </a:xfrm>
          <a:prstGeom prst="rect">
            <a:avLst/>
          </a:prstGeom>
          <a:noFill/>
          <a:ln/>
        </p:spPr>
        <p:txBody>
          <a:bodyPr wrap="square" lIns="0" tIns="0" rIns="0" bIns="0" rtlCol="0" anchor="t"/>
          <a:lstStyle/>
          <a:p>
            <a:pPr indent="0" marL="0">
              <a:buNone/>
            </a:pPr>
            <a:r>
              <a:rPr lang="en-US" sz="1400" dirty="0">
                <a:solidFill>
                  <a:schemeClr val="tx1"/>
                </a:solidFill>
              </a:rPr>
              <a:t>Available volunteers</a:t>
            </a:r>
            <a:endParaRPr lang="en-US" sz="1400" dirty="0"/>
          </a:p>
        </p:txBody>
      </p:sp>
      <p:sp>
        <p:nvSpPr>
          <p:cNvPr id="43" name="Shape 40"/>
          <p:cNvSpPr/>
          <p:nvPr/>
        </p:nvSpPr>
        <p:spPr>
          <a:xfrm>
            <a:off x="457200" y="4224528"/>
            <a:ext cx="109728" cy="109728"/>
          </a:xfrm>
          <a:prstGeom prst="ellipse">
            <a:avLst/>
          </a:prstGeom>
          <a:solidFill>
            <a:srgbClr val="3A86C8"/>
          </a:solidFill>
          <a:ln/>
        </p:spPr>
      </p:sp>
      <p:sp>
        <p:nvSpPr>
          <p:cNvPr id="44" name="Text 41"/>
          <p:cNvSpPr txBox="1"/>
          <p:nvPr/>
        </p:nvSpPr>
        <p:spPr>
          <a:xfrm>
            <a:off x="685800" y="4151376"/>
            <a:ext cx="3657600" cy="256032"/>
          </a:xfrm>
          <a:prstGeom prst="rect">
            <a:avLst/>
          </a:prstGeom>
          <a:noFill/>
          <a:ln/>
        </p:spPr>
        <p:txBody>
          <a:bodyPr wrap="square" lIns="0" tIns="0" rIns="0" bIns="0" rtlCol="0" anchor="t"/>
          <a:lstStyle/>
          <a:p>
            <a:pPr indent="0" marL="0">
              <a:buNone/>
            </a:pPr>
            <a:r>
              <a:rPr lang="en-US" sz="1400" dirty="0">
                <a:solidFill>
                  <a:schemeClr val="tx1"/>
                </a:solidFill>
              </a:rPr>
              <a:t>NGOs and resource locations</a:t>
            </a:r>
            <a:endParaRPr lang="en-US" sz="1400" dirty="0"/>
          </a:p>
        </p:txBody>
      </p:sp>
      <p:sp>
        <p:nvSpPr>
          <p:cNvPr id="45" name="Shape 42"/>
          <p:cNvSpPr/>
          <p:nvPr/>
        </p:nvSpPr>
        <p:spPr>
          <a:xfrm>
            <a:off x="457200" y="4480560"/>
            <a:ext cx="109728" cy="109728"/>
          </a:xfrm>
          <a:prstGeom prst="ellipse">
            <a:avLst/>
          </a:prstGeom>
          <a:solidFill>
            <a:srgbClr val="7B5EA7"/>
          </a:solidFill>
          <a:ln/>
        </p:spPr>
      </p:sp>
      <p:sp>
        <p:nvSpPr>
          <p:cNvPr id="46" name="Text 43"/>
          <p:cNvSpPr txBox="1"/>
          <p:nvPr/>
        </p:nvSpPr>
        <p:spPr>
          <a:xfrm>
            <a:off x="685800" y="4407408"/>
            <a:ext cx="3657600" cy="256032"/>
          </a:xfrm>
          <a:prstGeom prst="rect">
            <a:avLst/>
          </a:prstGeom>
          <a:noFill/>
          <a:ln/>
        </p:spPr>
        <p:txBody>
          <a:bodyPr wrap="square" lIns="0" tIns="0" rIns="0" bIns="0" rtlCol="0" anchor="t"/>
          <a:lstStyle/>
          <a:p>
            <a:pPr indent="0" marL="0">
              <a:buNone/>
            </a:pPr>
            <a:r>
              <a:rPr lang="en-US" sz="1400" dirty="0">
                <a:solidFill>
                  <a:schemeClr val="tx1"/>
                </a:solidFill>
              </a:rPr>
              <a:t>Shelters and their availability</a:t>
            </a:r>
            <a:endParaRPr lang="en-US" sz="1400" dirty="0"/>
          </a:p>
        </p:txBody>
      </p:sp>
      <p:sp>
        <p:nvSpPr>
          <p:cNvPr id="47" name="Text 44"/>
          <p:cNvSpPr txBox="1"/>
          <p:nvPr/>
        </p:nvSpPr>
        <p:spPr>
          <a:xfrm>
            <a:off x="4663440" y="1170432"/>
            <a:ext cx="4023360" cy="274320"/>
          </a:xfrm>
          <a:prstGeom prst="rect">
            <a:avLst/>
          </a:prstGeom>
          <a:noFill/>
          <a:ln/>
        </p:spPr>
        <p:txBody>
          <a:bodyPr wrap="square" lIns="0" tIns="0" rIns="0" bIns="0" rtlCol="0" anchor="t"/>
          <a:lstStyle/>
          <a:p>
            <a:pPr indent="0" marL="0">
              <a:buNone/>
            </a:pPr>
            <a:r>
              <a:rPr lang="en-US" sz="1400" b="1" dirty="0">
                <a:solidFill>
                  <a:schemeClr val="tx2"/>
                </a:solidFill>
              </a:rPr>
              <a:t>Example: Medical request needing 20 units</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663440" y="1508760"/>
          <a:ext cx="4023360" cy="914400"/>
        </p:xfrm>
        <a:graphic>
          <a:graphicData uri="http://schemas.openxmlformats.org/drawingml/2006/table">
            <a:tbl>
              <a:tblPr/>
              <a:tblGrid>
                <a:gridCol w="1005840"/>
                <a:gridCol w="868680"/>
                <a:gridCol w="822960"/>
                <a:gridCol w="1325880"/>
              </a:tblGrid>
              <a:tr h="329184">
                <a:tc>
                  <a:txBody>
                    <a:bodyPr/>
                    <a:lstStyle/>
                    <a:p>
                      <a:pPr indent="0" marL="0">
                        <a:buNone/>
                      </a:pPr>
                      <a:r>
                        <a:rPr lang="en-US" sz="1300" b="1" dirty="0">
                          <a:solidFill>
                            <a:srgbClr val="FFFFFF"/>
                          </a:solidFill>
                        </a:rPr>
                        <a:t>Provider</a:t>
                      </a:r>
                      <a:endParaRPr lang="en-US" sz="13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1F4350"/>
                    </a:solidFill>
                  </a:tcPr>
                </a:tc>
                <a:tc>
                  <a:txBody>
                    <a:bodyPr/>
                    <a:lstStyle/>
                    <a:p>
                      <a:pPr indent="0" marL="0">
                        <a:buNone/>
                      </a:pPr>
                      <a:r>
                        <a:rPr lang="en-US" sz="1300" b="1" dirty="0">
                          <a:solidFill>
                            <a:srgbClr val="FFFFFF"/>
                          </a:solidFill>
                        </a:rPr>
                        <a:t>Stock</a:t>
                      </a:r>
                      <a:endParaRPr lang="en-US" sz="13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1F4350"/>
                    </a:solidFill>
                  </a:tcPr>
                </a:tc>
                <a:tc>
                  <a:txBody>
                    <a:bodyPr/>
                    <a:lstStyle/>
                    <a:p>
                      <a:pPr indent="0" marL="0">
                        <a:buNone/>
                      </a:pPr>
                      <a:r>
                        <a:rPr lang="en-US" sz="1300" b="1" dirty="0">
                          <a:solidFill>
                            <a:srgbClr val="FFFFFF"/>
                          </a:solidFill>
                        </a:rPr>
                        <a:t>Distance</a:t>
                      </a:r>
                      <a:endParaRPr lang="en-US" sz="13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1F4350"/>
                    </a:solidFill>
                  </a:tcPr>
                </a:tc>
                <a:tc>
                  <a:txBody>
                    <a:bodyPr/>
                    <a:lstStyle/>
                    <a:p>
                      <a:pPr indent="0" marL="0">
                        <a:buNone/>
                      </a:pPr>
                      <a:r>
                        <a:rPr lang="en-US" sz="1300" b="1" dirty="0">
                          <a:solidFill>
                            <a:srgbClr val="FFFFFF"/>
                          </a:solidFill>
                        </a:rPr>
                        <a:t>Result</a:t>
                      </a:r>
                      <a:endParaRPr lang="en-US" sz="13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1F4350"/>
                    </a:solidFill>
                  </a:tcPr>
                </a:tc>
              </a:tr>
              <a:tr h="329184">
                <a:tc>
                  <a:txBody>
                    <a:bodyPr/>
                    <a:lstStyle/>
                    <a:p>
                      <a:pPr indent="0" marL="0">
                        <a:buNone/>
                      </a:pPr>
                      <a:r>
                        <a:rPr lang="en-US" sz="1300" b="1" dirty="0">
                          <a:solidFill>
                            <a:srgbClr val="10252B"/>
                          </a:solidFill>
                        </a:rPr>
                        <a:t>Provider A</a:t>
                      </a:r>
                      <a:endParaRPr lang="en-US" sz="13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D9F0EC"/>
                    </a:solidFill>
                  </a:tcPr>
                </a:tc>
                <a:tc>
                  <a:txBody>
                    <a:bodyPr/>
                    <a:lstStyle/>
                    <a:p>
                      <a:pPr indent="0" marL="0">
                        <a:buNone/>
                      </a:pPr>
                      <a:r>
                        <a:rPr lang="en-US" sz="1300" b="1" dirty="0">
                          <a:solidFill>
                            <a:srgbClr val="10252B"/>
                          </a:solidFill>
                        </a:rPr>
                        <a:t>50 units</a:t>
                      </a:r>
                      <a:endParaRPr lang="en-US" sz="13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D9F0EC"/>
                    </a:solidFill>
                  </a:tcPr>
                </a:tc>
                <a:tc>
                  <a:txBody>
                    <a:bodyPr/>
                    <a:lstStyle/>
                    <a:p>
                      <a:pPr indent="0" marL="0">
                        <a:buNone/>
                      </a:pPr>
                      <a:r>
                        <a:rPr lang="en-US" sz="1300" b="1" dirty="0">
                          <a:solidFill>
                            <a:srgbClr val="10252B"/>
                          </a:solidFill>
                        </a:rPr>
                        <a:t>2 km</a:t>
                      </a:r>
                      <a:endParaRPr lang="en-US" sz="13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D9F0EC"/>
                    </a:solidFill>
                  </a:tcPr>
                </a:tc>
                <a:tc>
                  <a:txBody>
                    <a:bodyPr/>
                    <a:lstStyle/>
                    <a:p>
                      <a:pPr indent="0" marL="0">
                        <a:buNone/>
                      </a:pPr>
                      <a:r>
                        <a:rPr lang="en-US" sz="1300" b="1" dirty="0">
                          <a:solidFill>
                            <a:srgbClr val="1B7A6E"/>
                          </a:solidFill>
                        </a:rPr>
                        <a:t>Best match</a:t>
                      </a:r>
                      <a:endParaRPr lang="en-US" sz="13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D9F0EC"/>
                    </a:solidFill>
                  </a:tcPr>
                </a:tc>
              </a:tr>
              <a:tr h="329184">
                <a:tc>
                  <a:txBody>
                    <a:bodyPr/>
                    <a:lstStyle/>
                    <a:p>
                      <a:pPr indent="0" marL="0">
                        <a:buNone/>
                      </a:pPr>
                      <a:r>
                        <a:rPr lang="en-US" sz="1300" dirty="0">
                          <a:solidFill>
                            <a:srgbClr val="10252B"/>
                          </a:solidFill>
                        </a:rPr>
                        <a:t>Provider B</a:t>
                      </a:r>
                      <a:endParaRPr lang="en-US" sz="13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300" dirty="0">
                          <a:solidFill>
                            <a:srgbClr val="10252B"/>
                          </a:solidFill>
                        </a:rPr>
                        <a:t>100 units</a:t>
                      </a:r>
                      <a:endParaRPr lang="en-US" sz="13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300" dirty="0">
                          <a:solidFill>
                            <a:srgbClr val="10252B"/>
                          </a:solidFill>
                        </a:rPr>
                        <a:t>8 km</a:t>
                      </a:r>
                      <a:endParaRPr lang="en-US" sz="13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300" dirty="0">
                          <a:solidFill>
                            <a:srgbClr val="10252B"/>
                          </a:solidFill>
                        </a:rPr>
                        <a:t>Lower match</a:t>
                      </a:r>
                      <a:endParaRPr lang="en-US" sz="13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10252B"/>
                          </a:solidFill>
                        </a:rPr>
                        <a:t>Provider C</a:t>
                      </a:r>
                      <a:endParaRPr lang="en-US" sz="13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DEBD7"/>
                    </a:solidFill>
                  </a:tcPr>
                </a:tc>
                <a:tc>
                  <a:txBody>
                    <a:bodyPr/>
                    <a:lstStyle/>
                    <a:p>
                      <a:pPr indent="0" marL="0">
                        <a:buNone/>
                      </a:pPr>
                      <a:r>
                        <a:rPr lang="en-US" sz="1300" dirty="0">
                          <a:solidFill>
                            <a:srgbClr val="10252B"/>
                          </a:solidFill>
                        </a:rPr>
                        <a:t>15 units</a:t>
                      </a:r>
                      <a:endParaRPr lang="en-US" sz="13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DEBD7"/>
                    </a:solidFill>
                  </a:tcPr>
                </a:tc>
                <a:tc>
                  <a:txBody>
                    <a:bodyPr/>
                    <a:lstStyle/>
                    <a:p>
                      <a:pPr indent="0" marL="0">
                        <a:buNone/>
                      </a:pPr>
                      <a:r>
                        <a:rPr lang="en-US" sz="1300" dirty="0">
                          <a:solidFill>
                            <a:srgbClr val="10252B"/>
                          </a:solidFill>
                        </a:rPr>
                        <a:t>1 km</a:t>
                      </a:r>
                      <a:endParaRPr lang="en-US" sz="13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DEBD7"/>
                    </a:solidFill>
                  </a:tcPr>
                </a:tc>
                <a:tc>
                  <a:txBody>
                    <a:bodyPr/>
                    <a:lstStyle/>
                    <a:p>
                      <a:pPr indent="0" marL="0">
                        <a:buNone/>
                      </a:pPr>
                      <a:r>
                        <a:rPr lang="en-US" sz="1300" dirty="0">
                          <a:solidFill>
                            <a:srgbClr val="10252B"/>
                          </a:solidFill>
                        </a:rPr>
                        <a:t>Partial stock</a:t>
                      </a:r>
                      <a:endParaRPr lang="en-US" sz="1300" dirty="0"/>
                    </a:p>
                  </a:txBody>
                  <a:tcPr marL="91440" marR="91440" marT="45720" marB="45720"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DEBD7"/>
                    </a:solidFill>
                  </a:tcPr>
                </a:tc>
              </a:tr>
            </a:tbl>
          </a:graphicData>
        </a:graphic>
      </p:graphicFrame>
      <p:sp>
        <p:nvSpPr>
          <p:cNvPr id="49" name="Factors card"/>
          <p:cNvSpPr/>
          <p:nvPr/>
        </p:nvSpPr>
        <p:spPr>
          <a:xfrm>
            <a:off x="4663440" y="2971800"/>
            <a:ext cx="4023360" cy="713232"/>
          </a:xfrm>
          <a:prstGeom prst="roundRect">
            <a:avLst>
              <a:gd name="adj" fmla="val 10256"/>
            </a:avLst>
          </a:prstGeom>
          <a:solidFill>
            <a:schemeClr val="bg2"/>
          </a:solidFill>
          <a:ln/>
        </p:spPr>
      </p:sp>
      <p:sp>
        <p:nvSpPr>
          <p:cNvPr id="50" name="Text 46"/>
          <p:cNvSpPr txBox="1"/>
          <p:nvPr/>
        </p:nvSpPr>
        <p:spPr>
          <a:xfrm>
            <a:off x="4800600" y="3035808"/>
            <a:ext cx="3749040" cy="182880"/>
          </a:xfrm>
          <a:prstGeom prst="rect">
            <a:avLst/>
          </a:prstGeom>
          <a:noFill/>
          <a:ln/>
        </p:spPr>
        <p:txBody>
          <a:bodyPr wrap="square" lIns="0" tIns="0" rIns="0" bIns="0" rtlCol="0" anchor="t"/>
          <a:lstStyle/>
          <a:p>
            <a:pPr indent="0" marL="0">
              <a:buNone/>
            </a:pPr>
            <a:r>
              <a:rPr lang="en-US" sz="1100" b="1" spc="100" kern="0" dirty="0">
                <a:solidFill>
                  <a:schemeClr val="accent3"/>
                </a:solidFill>
              </a:rPr>
              <a:t>RESOURCES</a:t>
            </a:r>
            <a:endParaRPr lang="en-US" sz="1100" dirty="0"/>
          </a:p>
        </p:txBody>
      </p:sp>
      <p:sp>
        <p:nvSpPr>
          <p:cNvPr id="51" name="Text 47"/>
          <p:cNvSpPr txBox="1"/>
          <p:nvPr/>
        </p:nvSpPr>
        <p:spPr>
          <a:xfrm>
            <a:off x="4800600" y="3255264"/>
            <a:ext cx="3794760" cy="365760"/>
          </a:xfrm>
          <a:prstGeom prst="rect">
            <a:avLst/>
          </a:prstGeom>
          <a:noFill/>
          <a:ln/>
        </p:spPr>
        <p:txBody>
          <a:bodyPr wrap="square" lIns="0" tIns="0" rIns="0" bIns="0" rtlCol="0" anchor="t"/>
          <a:lstStyle/>
          <a:p>
            <a:pPr indent="0" marL="0">
              <a:buNone/>
            </a:pPr>
            <a:r>
              <a:rPr lang="en-US" sz="1400" dirty="0">
                <a:solidFill>
                  <a:schemeClr val="tx1"/>
                </a:solidFill>
              </a:rPr>
              <a:t>urgency, distance, quantity, availability</a:t>
            </a:r>
            <a:endParaRPr lang="en-US" sz="1400" dirty="0"/>
          </a:p>
        </p:txBody>
      </p:sp>
      <p:sp>
        <p:nvSpPr>
          <p:cNvPr id="52" name="Factors card"/>
          <p:cNvSpPr/>
          <p:nvPr/>
        </p:nvSpPr>
        <p:spPr>
          <a:xfrm>
            <a:off x="4663440" y="3776472"/>
            <a:ext cx="4023360" cy="932688"/>
          </a:xfrm>
          <a:prstGeom prst="roundRect">
            <a:avLst>
              <a:gd name="adj" fmla="val 7843"/>
            </a:avLst>
          </a:prstGeom>
          <a:solidFill>
            <a:schemeClr val="bg2"/>
          </a:solidFill>
          <a:ln/>
        </p:spPr>
      </p:sp>
      <p:sp>
        <p:nvSpPr>
          <p:cNvPr id="53" name="Text 49"/>
          <p:cNvSpPr txBox="1"/>
          <p:nvPr/>
        </p:nvSpPr>
        <p:spPr>
          <a:xfrm>
            <a:off x="4800600" y="3840480"/>
            <a:ext cx="3749040" cy="182880"/>
          </a:xfrm>
          <a:prstGeom prst="rect">
            <a:avLst/>
          </a:prstGeom>
          <a:noFill/>
          <a:ln/>
        </p:spPr>
        <p:txBody>
          <a:bodyPr wrap="square" lIns="0" tIns="0" rIns="0" bIns="0" rtlCol="0" anchor="t"/>
          <a:lstStyle/>
          <a:p>
            <a:pPr indent="0" marL="0">
              <a:buNone/>
            </a:pPr>
            <a:r>
              <a:rPr lang="en-US" sz="1100" b="1" spc="100" kern="0" dirty="0">
                <a:solidFill>
                  <a:schemeClr val="accent3"/>
                </a:solidFill>
              </a:rPr>
              <a:t>VOLUNTEERS</a:t>
            </a:r>
            <a:endParaRPr lang="en-US" sz="1100" dirty="0"/>
          </a:p>
        </p:txBody>
      </p:sp>
      <p:sp>
        <p:nvSpPr>
          <p:cNvPr id="54" name="Text 50"/>
          <p:cNvSpPr txBox="1"/>
          <p:nvPr/>
        </p:nvSpPr>
        <p:spPr>
          <a:xfrm>
            <a:off x="4800600" y="4059936"/>
            <a:ext cx="3794760" cy="594360"/>
          </a:xfrm>
          <a:prstGeom prst="rect">
            <a:avLst/>
          </a:prstGeom>
          <a:noFill/>
          <a:ln/>
        </p:spPr>
        <p:txBody>
          <a:bodyPr wrap="square" lIns="0" tIns="0" rIns="0" bIns="0" rtlCol="0" anchor="t"/>
          <a:lstStyle/>
          <a:p>
            <a:pPr indent="0" marL="0">
              <a:buNone/>
            </a:pPr>
            <a:r>
              <a:rPr lang="en-US" sz="1400" dirty="0">
                <a:solidFill>
                  <a:schemeClr val="tx1"/>
                </a:solidFill>
              </a:rPr>
              <a:t>distance, skills, priority, availability, service radius, workload</a:t>
            </a:r>
            <a:endParaRPr lang="en-US" sz="14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7A8A8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19456"/>
            <a:ext cx="548640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08  |  RESPONDER WORKFLOWS</a:t>
            </a:r>
            <a:endParaRPr lang="en-US" sz="1100" dirty="0"/>
          </a:p>
        </p:txBody>
      </p:sp>
      <p:sp>
        <p:nvSpPr>
          <p:cNvPr id="4" name="Text 0"/>
          <p:cNvSpPr/>
          <p:nvPr>
            <p:ph idx="100" type="title" hasCustomPrompt="1"/>
          </p:nvPr>
        </p:nvSpPr>
        <p:spPr>
          <a:xfrm>
            <a:off x="457200" y="420624"/>
            <a:ext cx="8229600" cy="566928"/>
          </a:xfrm>
          <a:prstGeom prst="rect">
            <a:avLst/>
          </a:prstGeom>
          <a:noFill/>
          <a:ln/>
        </p:spPr>
        <p:txBody>
          <a:bodyPr wrap="square" lIns="0" tIns="0" rIns="0" bIns="0" rtlCol="0" anchor="ctr"/>
          <a:lstStyle/>
          <a:p>
            <a:pPr algn="l" indent="0" marL="0">
              <a:buNone/>
            </a:pPr>
            <a:r>
              <a:rPr lang="en-US" sz="2800" b="1" dirty="0">
                <a:solidFill>
                  <a:schemeClr val="tx1"/>
                </a:solidFill>
              </a:rPr>
              <a:t>Responder Workflows</a:t>
            </a:r>
            <a:endParaRPr lang="en-US" sz="2800" dirty="0"/>
          </a:p>
        </p:txBody>
      </p:sp>
      <p:sp>
        <p:nvSpPr>
          <p:cNvPr id="5" name="Workflow card"/>
          <p:cNvSpPr/>
          <p:nvPr/>
        </p:nvSpPr>
        <p:spPr>
          <a:xfrm>
            <a:off x="457200" y="1188720"/>
            <a:ext cx="2651760" cy="2514600"/>
          </a:xfrm>
          <a:prstGeom prst="roundRect">
            <a:avLst>
              <a:gd name="adj" fmla="val 2909"/>
            </a:avLst>
          </a:prstGeom>
          <a:solidFill>
            <a:schemeClr val="bg2"/>
          </a:solidFill>
          <a:ln/>
        </p:spPr>
      </p:sp>
      <p:sp>
        <p:nvSpPr>
          <p:cNvPr id="6" name="Shape 3"/>
          <p:cNvSpPr/>
          <p:nvPr/>
        </p:nvSpPr>
        <p:spPr>
          <a:xfrm>
            <a:off x="594360" y="1325880"/>
            <a:ext cx="457200" cy="457200"/>
          </a:xfrm>
          <a:prstGeom prst="ellipse">
            <a:avLst/>
          </a:prstGeom>
          <a:solidFill>
            <a:schemeClr val="accent3"/>
          </a:solidFill>
          <a:ln/>
        </p:spPr>
      </p:sp>
      <p:pic>
        <p:nvPicPr>
          <p:cNvPr id="7" name="Image 0" descr="preencoded.png">    </p:cNvPr>
          <p:cNvPicPr>
            <a:picLocks noChangeAspect="1"/>
          </p:cNvPicPr>
          <p:nvPr/>
        </p:nvPicPr>
        <p:blipFill>
          <a:blip r:embed="rId1"/>
          <a:stretch>
            <a:fillRect/>
          </a:stretch>
        </p:blipFill>
        <p:spPr>
          <a:xfrm>
            <a:off x="708660" y="1440180"/>
            <a:ext cx="228600" cy="228600"/>
          </a:xfrm>
          <a:prstGeom prst="rect">
            <a:avLst/>
          </a:prstGeom>
        </p:spPr>
      </p:pic>
      <p:sp>
        <p:nvSpPr>
          <p:cNvPr id="8" name="Text 4"/>
          <p:cNvSpPr txBox="1"/>
          <p:nvPr/>
        </p:nvSpPr>
        <p:spPr>
          <a:xfrm>
            <a:off x="1170432" y="1325880"/>
            <a:ext cx="1874520" cy="457200"/>
          </a:xfrm>
          <a:prstGeom prst="rect">
            <a:avLst/>
          </a:prstGeom>
          <a:noFill/>
          <a:ln/>
        </p:spPr>
        <p:txBody>
          <a:bodyPr wrap="square" lIns="0" tIns="0" rIns="0" bIns="0" rtlCol="0" anchor="ctr"/>
          <a:lstStyle/>
          <a:p>
            <a:pPr indent="0" marL="0">
              <a:buNone/>
            </a:pPr>
            <a:r>
              <a:rPr lang="en-US" sz="1500" b="1" dirty="0">
                <a:solidFill>
                  <a:schemeClr val="tx1"/>
                </a:solidFill>
              </a:rPr>
              <a:t>Volunteer</a:t>
            </a:r>
            <a:endParaRPr lang="en-US" sz="1500" dirty="0"/>
          </a:p>
        </p:txBody>
      </p:sp>
      <p:sp>
        <p:nvSpPr>
          <p:cNvPr id="9" name="Text 5"/>
          <p:cNvSpPr txBox="1"/>
          <p:nvPr/>
        </p:nvSpPr>
        <p:spPr>
          <a:xfrm>
            <a:off x="594360" y="1920240"/>
            <a:ext cx="2423160" cy="16916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Toggle availability on/off</a:t>
            </a:r>
            <a:endParaRPr lang="en-US" sz="1400" dirty="0"/>
          </a:p>
          <a:p>
            <a:pPr marL="342900" indent="-342900">
              <a:spcAft>
                <a:spcPts val="500"/>
              </a:spcAft>
              <a:buSzPct val="100000"/>
              <a:buChar char="•"/>
            </a:pPr>
            <a:r>
              <a:rPr lang="en-US" sz="1400" dirty="0">
                <a:solidFill>
                  <a:schemeClr val="tx1"/>
                </a:solidFill>
              </a:rPr>
              <a:t>See requests within service radius</a:t>
            </a:r>
            <a:endParaRPr lang="en-US" sz="1400" dirty="0"/>
          </a:p>
          <a:p>
            <a:pPr marL="342900" indent="-342900">
              <a:spcAft>
                <a:spcPts val="500"/>
              </a:spcAft>
              <a:buSzPct val="100000"/>
              <a:buChar char="•"/>
            </a:pPr>
            <a:r>
              <a:rPr lang="en-US" sz="1400" dirty="0">
                <a:solidFill>
                  <a:schemeClr val="tx1"/>
                </a:solidFill>
              </a:rPr>
              <a:t>Accept or decline tasks</a:t>
            </a:r>
            <a:endParaRPr lang="en-US" sz="1400" dirty="0"/>
          </a:p>
          <a:p>
            <a:pPr marL="342900" indent="-342900">
              <a:spcAft>
                <a:spcPts val="500"/>
              </a:spcAft>
              <a:buSzPct val="100000"/>
              <a:buChar char="•"/>
            </a:pPr>
            <a:r>
              <a:rPr lang="en-US" sz="1400" dirty="0">
                <a:solidFill>
                  <a:schemeClr val="tx1"/>
                </a:solidFill>
              </a:rPr>
              <a:t>Update status (see flow below)</a:t>
            </a:r>
            <a:endParaRPr lang="en-US" sz="1400" dirty="0"/>
          </a:p>
        </p:txBody>
      </p:sp>
      <p:sp>
        <p:nvSpPr>
          <p:cNvPr id="10" name="Workflow card"/>
          <p:cNvSpPr/>
          <p:nvPr/>
        </p:nvSpPr>
        <p:spPr>
          <a:xfrm>
            <a:off x="3246120" y="1188720"/>
            <a:ext cx="2651760" cy="2514600"/>
          </a:xfrm>
          <a:prstGeom prst="roundRect">
            <a:avLst>
              <a:gd name="adj" fmla="val 2909"/>
            </a:avLst>
          </a:prstGeom>
          <a:solidFill>
            <a:schemeClr val="bg2"/>
          </a:solidFill>
          <a:ln/>
        </p:spPr>
      </p:sp>
      <p:sp>
        <p:nvSpPr>
          <p:cNvPr id="11" name="Shape 7"/>
          <p:cNvSpPr/>
          <p:nvPr/>
        </p:nvSpPr>
        <p:spPr>
          <a:xfrm>
            <a:off x="3383280" y="1325880"/>
            <a:ext cx="457200" cy="457200"/>
          </a:xfrm>
          <a:prstGeom prst="ellipse">
            <a:avLst/>
          </a:prstGeom>
          <a:solidFill>
            <a:schemeClr val="accent4"/>
          </a:solidFill>
          <a:ln/>
        </p:spPr>
      </p:sp>
      <p:pic>
        <p:nvPicPr>
          <p:cNvPr id="12" name="Image 1" descr="preencoded.png">    </p:cNvPr>
          <p:cNvPicPr>
            <a:picLocks noChangeAspect="1"/>
          </p:cNvPicPr>
          <p:nvPr/>
        </p:nvPicPr>
        <p:blipFill>
          <a:blip r:embed="rId2"/>
          <a:stretch>
            <a:fillRect/>
          </a:stretch>
        </p:blipFill>
        <p:spPr>
          <a:xfrm>
            <a:off x="3497580" y="1440180"/>
            <a:ext cx="228600" cy="228600"/>
          </a:xfrm>
          <a:prstGeom prst="rect">
            <a:avLst/>
          </a:prstGeom>
        </p:spPr>
      </p:pic>
      <p:sp>
        <p:nvSpPr>
          <p:cNvPr id="13" name="Text 8"/>
          <p:cNvSpPr txBox="1"/>
          <p:nvPr/>
        </p:nvSpPr>
        <p:spPr>
          <a:xfrm>
            <a:off x="3959352" y="1325880"/>
            <a:ext cx="1874520" cy="457200"/>
          </a:xfrm>
          <a:prstGeom prst="rect">
            <a:avLst/>
          </a:prstGeom>
          <a:noFill/>
          <a:ln/>
        </p:spPr>
        <p:txBody>
          <a:bodyPr wrap="square" lIns="0" tIns="0" rIns="0" bIns="0" rtlCol="0" anchor="ctr"/>
          <a:lstStyle/>
          <a:p>
            <a:pPr indent="0" marL="0">
              <a:buNone/>
            </a:pPr>
            <a:r>
              <a:rPr lang="en-US" sz="1500" b="1" dirty="0">
                <a:solidFill>
                  <a:schemeClr val="tx1"/>
                </a:solidFill>
              </a:rPr>
              <a:t>NGO / Resource Provider</a:t>
            </a:r>
            <a:endParaRPr lang="en-US" sz="1500" dirty="0"/>
          </a:p>
        </p:txBody>
      </p:sp>
      <p:sp>
        <p:nvSpPr>
          <p:cNvPr id="14" name="Text 9"/>
          <p:cNvSpPr txBox="1"/>
          <p:nvPr/>
        </p:nvSpPr>
        <p:spPr>
          <a:xfrm>
            <a:off x="3383280" y="1920240"/>
            <a:ext cx="2423160" cy="16916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Maintain inventory</a:t>
            </a:r>
            <a:endParaRPr lang="en-US" sz="1400" dirty="0"/>
          </a:p>
          <a:p>
            <a:pPr marL="342900" indent="-342900">
              <a:spcAft>
                <a:spcPts val="500"/>
              </a:spcAft>
              <a:buSzPct val="100000"/>
              <a:buChar char="•"/>
            </a:pPr>
            <a:r>
              <a:rPr lang="en-US" sz="1400" dirty="0">
                <a:solidFill>
                  <a:schemeClr val="tx1"/>
                </a:solidFill>
              </a:rPr>
              <a:t>Low-stock and expiry alerts</a:t>
            </a:r>
            <a:endParaRPr lang="en-US" sz="1400" dirty="0"/>
          </a:p>
          <a:p>
            <a:pPr marL="342900" indent="-342900">
              <a:spcAft>
                <a:spcPts val="500"/>
              </a:spcAft>
              <a:buSzPct val="100000"/>
              <a:buChar char="•"/>
            </a:pPr>
            <a:r>
              <a:rPr lang="en-US" sz="1400" dirty="0">
                <a:solidFill>
                  <a:schemeClr val="tx1"/>
                </a:solidFill>
              </a:rPr>
              <a:t>Review ranked resource assignments</a:t>
            </a:r>
            <a:endParaRPr lang="en-US" sz="1400" dirty="0"/>
          </a:p>
          <a:p>
            <a:pPr marL="342900" indent="-342900">
              <a:spcAft>
                <a:spcPts val="500"/>
              </a:spcAft>
              <a:buSzPct val="100000"/>
              <a:buChar char="•"/>
            </a:pPr>
            <a:r>
              <a:rPr lang="en-US" sz="1400" dirty="0">
                <a:solidFill>
                  <a:schemeClr val="tx1"/>
                </a:solidFill>
              </a:rPr>
              <a:t>Update stock history after distribution</a:t>
            </a:r>
            <a:endParaRPr lang="en-US" sz="1400" dirty="0"/>
          </a:p>
        </p:txBody>
      </p:sp>
      <p:sp>
        <p:nvSpPr>
          <p:cNvPr id="15" name="Workflow card"/>
          <p:cNvSpPr/>
          <p:nvPr/>
        </p:nvSpPr>
        <p:spPr>
          <a:xfrm>
            <a:off x="6035040" y="1188720"/>
            <a:ext cx="2651760" cy="2514600"/>
          </a:xfrm>
          <a:prstGeom prst="roundRect">
            <a:avLst>
              <a:gd name="adj" fmla="val 2909"/>
            </a:avLst>
          </a:prstGeom>
          <a:solidFill>
            <a:schemeClr val="bg2"/>
          </a:solidFill>
          <a:ln/>
        </p:spPr>
      </p:sp>
      <p:sp>
        <p:nvSpPr>
          <p:cNvPr id="16" name="Shape 11"/>
          <p:cNvSpPr/>
          <p:nvPr/>
        </p:nvSpPr>
        <p:spPr>
          <a:xfrm>
            <a:off x="6172200" y="1325880"/>
            <a:ext cx="457200" cy="457200"/>
          </a:xfrm>
          <a:prstGeom prst="ellipse">
            <a:avLst/>
          </a:prstGeom>
          <a:solidFill>
            <a:schemeClr val="accent5"/>
          </a:solidFill>
          <a:ln/>
        </p:spPr>
      </p:sp>
      <p:pic>
        <p:nvPicPr>
          <p:cNvPr id="17" name="Image 2" descr="preencoded.png">    </p:cNvPr>
          <p:cNvPicPr>
            <a:picLocks noChangeAspect="1"/>
          </p:cNvPicPr>
          <p:nvPr/>
        </p:nvPicPr>
        <p:blipFill>
          <a:blip r:embed="rId3"/>
          <a:stretch>
            <a:fillRect/>
          </a:stretch>
        </p:blipFill>
        <p:spPr>
          <a:xfrm>
            <a:off x="6286500" y="1440180"/>
            <a:ext cx="228600" cy="228600"/>
          </a:xfrm>
          <a:prstGeom prst="rect">
            <a:avLst/>
          </a:prstGeom>
        </p:spPr>
      </p:pic>
      <p:sp>
        <p:nvSpPr>
          <p:cNvPr id="18" name="Text 12"/>
          <p:cNvSpPr txBox="1"/>
          <p:nvPr/>
        </p:nvSpPr>
        <p:spPr>
          <a:xfrm>
            <a:off x="6748272" y="1325880"/>
            <a:ext cx="1874520" cy="457200"/>
          </a:xfrm>
          <a:prstGeom prst="rect">
            <a:avLst/>
          </a:prstGeom>
          <a:noFill/>
          <a:ln/>
        </p:spPr>
        <p:txBody>
          <a:bodyPr wrap="square" lIns="0" tIns="0" rIns="0" bIns="0" rtlCol="0" anchor="ctr"/>
          <a:lstStyle/>
          <a:p>
            <a:pPr indent="0" marL="0">
              <a:buNone/>
            </a:pPr>
            <a:r>
              <a:rPr lang="en-US" sz="1500" b="1" dirty="0">
                <a:solidFill>
                  <a:schemeClr val="tx1"/>
                </a:solidFill>
              </a:rPr>
              <a:t>Shelter Manager</a:t>
            </a:r>
            <a:endParaRPr lang="en-US" sz="1500" dirty="0"/>
          </a:p>
        </p:txBody>
      </p:sp>
      <p:sp>
        <p:nvSpPr>
          <p:cNvPr id="19" name="Text 13"/>
          <p:cNvSpPr txBox="1"/>
          <p:nvPr/>
        </p:nvSpPr>
        <p:spPr>
          <a:xfrm>
            <a:off x="6172200" y="1920240"/>
            <a:ext cx="2423160" cy="16916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Update occupancy and available spaces</a:t>
            </a:r>
            <a:endParaRPr lang="en-US" sz="1400" dirty="0"/>
          </a:p>
          <a:p>
            <a:pPr marL="342900" indent="-342900">
              <a:spcAft>
                <a:spcPts val="500"/>
              </a:spcAft>
              <a:buSzPct val="100000"/>
              <a:buChar char="•"/>
            </a:pPr>
            <a:r>
              <a:rPr lang="en-US" sz="1400" dirty="0">
                <a:solidFill>
                  <a:schemeClr val="tx1"/>
                </a:solidFill>
              </a:rPr>
              <a:t>Maintain facility information</a:t>
            </a:r>
            <a:endParaRPr lang="en-US" sz="1400" dirty="0"/>
          </a:p>
          <a:p>
            <a:pPr marL="342900" indent="-342900">
              <a:spcAft>
                <a:spcPts val="500"/>
              </a:spcAft>
              <a:buSzPct val="100000"/>
              <a:buChar char="•"/>
            </a:pPr>
            <a:r>
              <a:rPr lang="en-US" sz="1400" dirty="0">
                <a:solidFill>
                  <a:schemeClr val="tx1"/>
                </a:solidFill>
              </a:rPr>
              <a:t>Set status: Available / Almost Full / Full / Closed</a:t>
            </a:r>
            <a:endParaRPr lang="en-US" sz="1400" dirty="0"/>
          </a:p>
        </p:txBody>
      </p:sp>
      <p:sp>
        <p:nvSpPr>
          <p:cNvPr id="20" name="Text 14"/>
          <p:cNvSpPr txBox="1"/>
          <p:nvPr/>
        </p:nvSpPr>
        <p:spPr>
          <a:xfrm>
            <a:off x="457200" y="3840480"/>
            <a:ext cx="3657600" cy="228600"/>
          </a:xfrm>
          <a:prstGeom prst="rect">
            <a:avLst/>
          </a:prstGeom>
          <a:noFill/>
          <a:ln/>
        </p:spPr>
        <p:txBody>
          <a:bodyPr wrap="square" lIns="0" tIns="0" rIns="0" bIns="0" rtlCol="0" anchor="t"/>
          <a:lstStyle/>
          <a:p>
            <a:pPr indent="0" marL="0">
              <a:buNone/>
            </a:pPr>
            <a:r>
              <a:rPr lang="en-US" sz="1200" b="1" dirty="0">
                <a:solidFill>
                  <a:schemeClr val="tx2"/>
                </a:solidFill>
              </a:rPr>
              <a:t>Volunteer status flow</a:t>
            </a:r>
            <a:endParaRPr lang="en-US" sz="1200" dirty="0"/>
          </a:p>
        </p:txBody>
      </p:sp>
      <p:sp>
        <p:nvSpPr>
          <p:cNvPr id="21" name="Shape 15"/>
          <p:cNvSpPr/>
          <p:nvPr/>
        </p:nvSpPr>
        <p:spPr>
          <a:xfrm>
            <a:off x="457200" y="4160520"/>
            <a:ext cx="1517904" cy="457200"/>
          </a:xfrm>
          <a:prstGeom prst="roundRect">
            <a:avLst>
              <a:gd name="adj" fmla="val 50000"/>
            </a:avLst>
          </a:prstGeom>
          <a:solidFill>
            <a:schemeClr val="tx2"/>
          </a:solidFill>
          <a:ln/>
        </p:spPr>
      </p:sp>
      <p:sp>
        <p:nvSpPr>
          <p:cNvPr id="22" name="Text 16"/>
          <p:cNvSpPr txBox="1"/>
          <p:nvPr/>
        </p:nvSpPr>
        <p:spPr>
          <a:xfrm>
            <a:off x="457200" y="4160520"/>
            <a:ext cx="1517904" cy="457200"/>
          </a:xfrm>
          <a:prstGeom prst="rect">
            <a:avLst/>
          </a:prstGeom>
          <a:noFill/>
          <a:ln/>
        </p:spPr>
        <p:txBody>
          <a:bodyPr wrap="square" lIns="0" tIns="0" rIns="0" bIns="0" rtlCol="0" anchor="ctr"/>
          <a:lstStyle/>
          <a:p>
            <a:pPr algn="ctr" indent="0" marL="0">
              <a:buNone/>
            </a:pPr>
            <a:r>
              <a:rPr lang="en-US" sz="1200" b="1" dirty="0">
                <a:solidFill>
                  <a:schemeClr val="bg1"/>
                </a:solidFill>
              </a:rPr>
              <a:t>Accepted</a:t>
            </a:r>
            <a:endParaRPr lang="en-US" sz="1200" dirty="0"/>
          </a:p>
        </p:txBody>
      </p:sp>
      <p:pic>
        <p:nvPicPr>
          <p:cNvPr id="23" name="Image 3" descr="preencoded.png">    </p:cNvPr>
          <p:cNvPicPr>
            <a:picLocks noChangeAspect="1"/>
          </p:cNvPicPr>
          <p:nvPr/>
        </p:nvPicPr>
        <p:blipFill>
          <a:blip r:embed="rId4"/>
          <a:stretch>
            <a:fillRect/>
          </a:stretch>
        </p:blipFill>
        <p:spPr>
          <a:xfrm>
            <a:off x="1991106" y="4325112"/>
            <a:ext cx="128016" cy="128016"/>
          </a:xfrm>
          <a:prstGeom prst="rect">
            <a:avLst/>
          </a:prstGeom>
        </p:spPr>
      </p:pic>
      <p:sp>
        <p:nvSpPr>
          <p:cNvPr id="24" name="Shape 17"/>
          <p:cNvSpPr/>
          <p:nvPr/>
        </p:nvSpPr>
        <p:spPr>
          <a:xfrm>
            <a:off x="2135124" y="4160520"/>
            <a:ext cx="1517904" cy="457200"/>
          </a:xfrm>
          <a:prstGeom prst="roundRect">
            <a:avLst>
              <a:gd name="adj" fmla="val 50000"/>
            </a:avLst>
          </a:prstGeom>
          <a:solidFill>
            <a:schemeClr val="tx2"/>
          </a:solidFill>
          <a:ln/>
        </p:spPr>
      </p:sp>
      <p:sp>
        <p:nvSpPr>
          <p:cNvPr id="25" name="Text 18"/>
          <p:cNvSpPr txBox="1"/>
          <p:nvPr/>
        </p:nvSpPr>
        <p:spPr>
          <a:xfrm>
            <a:off x="2135124" y="4160520"/>
            <a:ext cx="1517904" cy="457200"/>
          </a:xfrm>
          <a:prstGeom prst="rect">
            <a:avLst/>
          </a:prstGeom>
          <a:noFill/>
          <a:ln/>
        </p:spPr>
        <p:txBody>
          <a:bodyPr wrap="square" lIns="0" tIns="0" rIns="0" bIns="0" rtlCol="0" anchor="ctr"/>
          <a:lstStyle/>
          <a:p>
            <a:pPr algn="ctr" indent="0" marL="0">
              <a:buNone/>
            </a:pPr>
            <a:r>
              <a:rPr lang="en-US" sz="1200" b="1" dirty="0">
                <a:solidFill>
                  <a:schemeClr val="bg1"/>
                </a:solidFill>
              </a:rPr>
              <a:t>On the Way</a:t>
            </a:r>
            <a:endParaRPr lang="en-US" sz="1200" dirty="0"/>
          </a:p>
        </p:txBody>
      </p:sp>
      <p:pic>
        <p:nvPicPr>
          <p:cNvPr id="26" name="Image 4" descr="preencoded.png">    </p:cNvPr>
          <p:cNvPicPr>
            <a:picLocks noChangeAspect="1"/>
          </p:cNvPicPr>
          <p:nvPr/>
        </p:nvPicPr>
        <p:blipFill>
          <a:blip r:embed="rId5"/>
          <a:stretch>
            <a:fillRect/>
          </a:stretch>
        </p:blipFill>
        <p:spPr>
          <a:xfrm>
            <a:off x="3669030" y="4325112"/>
            <a:ext cx="128016" cy="128016"/>
          </a:xfrm>
          <a:prstGeom prst="rect">
            <a:avLst/>
          </a:prstGeom>
        </p:spPr>
      </p:pic>
      <p:sp>
        <p:nvSpPr>
          <p:cNvPr id="27" name="Shape 19"/>
          <p:cNvSpPr/>
          <p:nvPr/>
        </p:nvSpPr>
        <p:spPr>
          <a:xfrm>
            <a:off x="3813048" y="4160520"/>
            <a:ext cx="1517904" cy="457200"/>
          </a:xfrm>
          <a:prstGeom prst="roundRect">
            <a:avLst>
              <a:gd name="adj" fmla="val 50000"/>
            </a:avLst>
          </a:prstGeom>
          <a:solidFill>
            <a:schemeClr val="tx2"/>
          </a:solidFill>
          <a:ln/>
        </p:spPr>
      </p:sp>
      <p:sp>
        <p:nvSpPr>
          <p:cNvPr id="28" name="Text 20"/>
          <p:cNvSpPr txBox="1"/>
          <p:nvPr/>
        </p:nvSpPr>
        <p:spPr>
          <a:xfrm>
            <a:off x="3813048" y="4160520"/>
            <a:ext cx="1517904" cy="457200"/>
          </a:xfrm>
          <a:prstGeom prst="rect">
            <a:avLst/>
          </a:prstGeom>
          <a:noFill/>
          <a:ln/>
        </p:spPr>
        <p:txBody>
          <a:bodyPr wrap="square" lIns="0" tIns="0" rIns="0" bIns="0" rtlCol="0" anchor="ctr"/>
          <a:lstStyle/>
          <a:p>
            <a:pPr algn="ctr" indent="0" marL="0">
              <a:buNone/>
            </a:pPr>
            <a:r>
              <a:rPr lang="en-US" sz="1200" b="1" dirty="0">
                <a:solidFill>
                  <a:schemeClr val="bg1"/>
                </a:solidFill>
              </a:rPr>
              <a:t>Arrived</a:t>
            </a:r>
            <a:endParaRPr lang="en-US" sz="1200" dirty="0"/>
          </a:p>
        </p:txBody>
      </p:sp>
      <p:pic>
        <p:nvPicPr>
          <p:cNvPr id="29" name="Image 5" descr="preencoded.png">    </p:cNvPr>
          <p:cNvPicPr>
            <a:picLocks noChangeAspect="1"/>
          </p:cNvPicPr>
          <p:nvPr/>
        </p:nvPicPr>
        <p:blipFill>
          <a:blip r:embed="rId6"/>
          <a:stretch>
            <a:fillRect/>
          </a:stretch>
        </p:blipFill>
        <p:spPr>
          <a:xfrm>
            <a:off x="5346954" y="4325112"/>
            <a:ext cx="128016" cy="128016"/>
          </a:xfrm>
          <a:prstGeom prst="rect">
            <a:avLst/>
          </a:prstGeom>
        </p:spPr>
      </p:pic>
      <p:sp>
        <p:nvSpPr>
          <p:cNvPr id="30" name="Shape 21"/>
          <p:cNvSpPr/>
          <p:nvPr/>
        </p:nvSpPr>
        <p:spPr>
          <a:xfrm>
            <a:off x="5490972" y="4160520"/>
            <a:ext cx="1517904" cy="457200"/>
          </a:xfrm>
          <a:prstGeom prst="roundRect">
            <a:avLst>
              <a:gd name="adj" fmla="val 50000"/>
            </a:avLst>
          </a:prstGeom>
          <a:solidFill>
            <a:schemeClr val="tx2"/>
          </a:solidFill>
          <a:ln/>
        </p:spPr>
      </p:sp>
      <p:sp>
        <p:nvSpPr>
          <p:cNvPr id="31" name="Text 22"/>
          <p:cNvSpPr txBox="1"/>
          <p:nvPr/>
        </p:nvSpPr>
        <p:spPr>
          <a:xfrm>
            <a:off x="5490972" y="4160520"/>
            <a:ext cx="1517904" cy="457200"/>
          </a:xfrm>
          <a:prstGeom prst="rect">
            <a:avLst/>
          </a:prstGeom>
          <a:noFill/>
          <a:ln/>
        </p:spPr>
        <p:txBody>
          <a:bodyPr wrap="square" lIns="0" tIns="0" rIns="0" bIns="0" rtlCol="0" anchor="ctr"/>
          <a:lstStyle/>
          <a:p>
            <a:pPr algn="ctr" indent="0" marL="0">
              <a:buNone/>
            </a:pPr>
            <a:r>
              <a:rPr lang="en-US" sz="1200" b="1" dirty="0">
                <a:solidFill>
                  <a:schemeClr val="bg1"/>
                </a:solidFill>
              </a:rPr>
              <a:t>Assistance Provided</a:t>
            </a:r>
            <a:endParaRPr lang="en-US" sz="1200" dirty="0"/>
          </a:p>
        </p:txBody>
      </p:sp>
      <p:pic>
        <p:nvPicPr>
          <p:cNvPr id="32" name="Image 6" descr="preencoded.png">    </p:cNvPr>
          <p:cNvPicPr>
            <a:picLocks noChangeAspect="1"/>
          </p:cNvPicPr>
          <p:nvPr/>
        </p:nvPicPr>
        <p:blipFill>
          <a:blip r:embed="rId7"/>
          <a:stretch>
            <a:fillRect/>
          </a:stretch>
        </p:blipFill>
        <p:spPr>
          <a:xfrm>
            <a:off x="7024878" y="4325112"/>
            <a:ext cx="128016" cy="128016"/>
          </a:xfrm>
          <a:prstGeom prst="rect">
            <a:avLst/>
          </a:prstGeom>
        </p:spPr>
      </p:pic>
      <p:sp>
        <p:nvSpPr>
          <p:cNvPr id="33" name="Shape 23"/>
          <p:cNvSpPr/>
          <p:nvPr/>
        </p:nvSpPr>
        <p:spPr>
          <a:xfrm>
            <a:off x="7168896" y="4160520"/>
            <a:ext cx="1517904" cy="457200"/>
          </a:xfrm>
          <a:prstGeom prst="roundRect">
            <a:avLst>
              <a:gd name="adj" fmla="val 50000"/>
            </a:avLst>
          </a:prstGeom>
          <a:solidFill>
            <a:schemeClr val="accent3"/>
          </a:solidFill>
          <a:ln/>
        </p:spPr>
      </p:sp>
      <p:sp>
        <p:nvSpPr>
          <p:cNvPr id="34" name="Text 24"/>
          <p:cNvSpPr txBox="1"/>
          <p:nvPr/>
        </p:nvSpPr>
        <p:spPr>
          <a:xfrm>
            <a:off x="7168896" y="4160520"/>
            <a:ext cx="1517904" cy="457200"/>
          </a:xfrm>
          <a:prstGeom prst="rect">
            <a:avLst/>
          </a:prstGeom>
          <a:noFill/>
          <a:ln/>
        </p:spPr>
        <p:txBody>
          <a:bodyPr wrap="square" lIns="0" tIns="0" rIns="0" bIns="0" rtlCol="0" anchor="ctr"/>
          <a:lstStyle/>
          <a:p>
            <a:pPr algn="ctr" indent="0" marL="0">
              <a:buNone/>
            </a:pPr>
            <a:r>
              <a:rPr lang="en-US" sz="1200" b="1" dirty="0">
                <a:solidFill>
                  <a:schemeClr val="bg1"/>
                </a:solidFill>
              </a:rPr>
              <a:t>Completed</a:t>
            </a:r>
            <a:endParaRPr lang="en-US" sz="12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7A8A8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19456"/>
            <a:ext cx="548640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09  |  REAL-TIME COORDINATION</a:t>
            </a:r>
            <a:endParaRPr lang="en-US" sz="1100" dirty="0"/>
          </a:p>
        </p:txBody>
      </p:sp>
      <p:sp>
        <p:nvSpPr>
          <p:cNvPr id="4" name="Text 0"/>
          <p:cNvSpPr/>
          <p:nvPr>
            <p:ph idx="100" type="title" hasCustomPrompt="1"/>
          </p:nvPr>
        </p:nvSpPr>
        <p:spPr>
          <a:xfrm>
            <a:off x="457200" y="420624"/>
            <a:ext cx="8229600" cy="566928"/>
          </a:xfrm>
          <a:prstGeom prst="rect">
            <a:avLst/>
          </a:prstGeom>
          <a:noFill/>
          <a:ln/>
        </p:spPr>
        <p:txBody>
          <a:bodyPr wrap="square" lIns="0" tIns="0" rIns="0" bIns="0" rtlCol="0" anchor="ctr"/>
          <a:lstStyle/>
          <a:p>
            <a:pPr algn="l" indent="0" marL="0">
              <a:buNone/>
            </a:pPr>
            <a:r>
              <a:rPr lang="en-US" sz="2800" b="1" dirty="0">
                <a:solidFill>
                  <a:schemeClr val="tx1"/>
                </a:solidFill>
              </a:rPr>
              <a:t>Real-Time Coordination and Notifications</a:t>
            </a:r>
            <a:endParaRPr lang="en-US" sz="2800" dirty="0"/>
          </a:p>
        </p:txBody>
      </p:sp>
      <p:sp>
        <p:nvSpPr>
          <p:cNvPr id="5" name="Text 2"/>
          <p:cNvSpPr txBox="1"/>
          <p:nvPr/>
        </p:nvSpPr>
        <p:spPr>
          <a:xfrm>
            <a:off x="457200" y="1115568"/>
            <a:ext cx="4114800" cy="274320"/>
          </a:xfrm>
          <a:prstGeom prst="rect">
            <a:avLst/>
          </a:prstGeom>
          <a:noFill/>
          <a:ln/>
        </p:spPr>
        <p:txBody>
          <a:bodyPr wrap="square" lIns="0" tIns="0" rIns="0" bIns="0" rtlCol="0" anchor="t"/>
          <a:lstStyle/>
          <a:p>
            <a:pPr indent="0" marL="0">
              <a:buNone/>
            </a:pPr>
            <a:r>
              <a:rPr lang="en-US" sz="1600" b="1" dirty="0">
                <a:solidFill>
                  <a:schemeClr val="tx2"/>
                </a:solidFill>
              </a:rPr>
              <a:t>Who gets what</a:t>
            </a:r>
            <a:endParaRPr lang="en-US" sz="1600" dirty="0"/>
          </a:p>
        </p:txBody>
      </p:sp>
      <p:sp>
        <p:nvSpPr>
          <p:cNvPr id="6" name="Shape 3"/>
          <p:cNvSpPr/>
          <p:nvPr/>
        </p:nvSpPr>
        <p:spPr>
          <a:xfrm>
            <a:off x="457200" y="1581912"/>
            <a:ext cx="384048" cy="384048"/>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553212" y="1677924"/>
            <a:ext cx="192024" cy="192024"/>
          </a:xfrm>
          <a:prstGeom prst="rect">
            <a:avLst/>
          </a:prstGeom>
        </p:spPr>
      </p:pic>
      <p:sp>
        <p:nvSpPr>
          <p:cNvPr id="8" name="Text 4"/>
          <p:cNvSpPr txBox="1"/>
          <p:nvPr/>
        </p:nvSpPr>
        <p:spPr>
          <a:xfrm>
            <a:off x="1005840" y="1508760"/>
            <a:ext cx="3520440" cy="548640"/>
          </a:xfrm>
          <a:prstGeom prst="rect">
            <a:avLst/>
          </a:prstGeom>
          <a:noFill/>
          <a:ln/>
        </p:spPr>
        <p:txBody>
          <a:bodyPr wrap="square" lIns="0" tIns="0" rIns="0" bIns="0" rtlCol="0" anchor="ctr"/>
          <a:lstStyle/>
          <a:p>
            <a:pPr indent="0" marL="0">
              <a:buNone/>
            </a:pPr>
            <a:r>
              <a:rPr lang="en-US" sz="1400" b="1" dirty="0">
                <a:solidFill>
                  <a:schemeClr val="tx1"/>
                </a:solidFill>
              </a:rPr>
              <a:t>Survivors: </a:t>
            </a:r>
            <a:pPr indent="0" marL="0">
              <a:buNone/>
            </a:pPr>
            <a:r>
              <a:rPr lang="en-US" sz="1400" dirty="0">
                <a:solidFill>
                  <a:schemeClr val="tx1"/>
                </a:solidFill>
              </a:rPr>
              <a:t>assignment, progress, completion, shelter updates</a:t>
            </a:r>
            <a:endParaRPr lang="en-US" sz="1400" dirty="0"/>
          </a:p>
        </p:txBody>
      </p:sp>
      <p:sp>
        <p:nvSpPr>
          <p:cNvPr id="9" name="Shape 5"/>
          <p:cNvSpPr/>
          <p:nvPr/>
        </p:nvSpPr>
        <p:spPr>
          <a:xfrm>
            <a:off x="457200" y="2221992"/>
            <a:ext cx="384048" cy="384048"/>
          </a:xfrm>
          <a:prstGeom prst="ellipse">
            <a:avLst/>
          </a:prstGeom>
          <a:solidFill>
            <a:schemeClr val="accent3"/>
          </a:solidFill>
          <a:ln/>
        </p:spPr>
      </p:sp>
      <p:pic>
        <p:nvPicPr>
          <p:cNvPr id="10" name="Image 1" descr="preencoded.png">    </p:cNvPr>
          <p:cNvPicPr>
            <a:picLocks noChangeAspect="1"/>
          </p:cNvPicPr>
          <p:nvPr/>
        </p:nvPicPr>
        <p:blipFill>
          <a:blip r:embed="rId2"/>
          <a:stretch>
            <a:fillRect/>
          </a:stretch>
        </p:blipFill>
        <p:spPr>
          <a:xfrm>
            <a:off x="553212" y="2318004"/>
            <a:ext cx="192024" cy="192024"/>
          </a:xfrm>
          <a:prstGeom prst="rect">
            <a:avLst/>
          </a:prstGeom>
        </p:spPr>
      </p:pic>
      <p:sp>
        <p:nvSpPr>
          <p:cNvPr id="11" name="Text 6"/>
          <p:cNvSpPr txBox="1"/>
          <p:nvPr/>
        </p:nvSpPr>
        <p:spPr>
          <a:xfrm>
            <a:off x="1005840" y="2148840"/>
            <a:ext cx="3520440" cy="548640"/>
          </a:xfrm>
          <a:prstGeom prst="rect">
            <a:avLst/>
          </a:prstGeom>
          <a:noFill/>
          <a:ln/>
        </p:spPr>
        <p:txBody>
          <a:bodyPr wrap="square" lIns="0" tIns="0" rIns="0" bIns="0" rtlCol="0" anchor="ctr"/>
          <a:lstStyle/>
          <a:p>
            <a:pPr indent="0" marL="0">
              <a:buNone/>
            </a:pPr>
            <a:r>
              <a:rPr lang="en-US" sz="1400" b="1" dirty="0">
                <a:solidFill>
                  <a:schemeClr val="tx1"/>
                </a:solidFill>
              </a:rPr>
              <a:t>Volunteers: </a:t>
            </a:r>
            <a:pPr indent="0" marL="0">
              <a:buNone/>
            </a:pPr>
            <a:r>
              <a:rPr lang="en-US" sz="1400" dirty="0">
                <a:solidFill>
                  <a:schemeClr val="tx1"/>
                </a:solidFill>
              </a:rPr>
              <a:t>nearby requests and task changes</a:t>
            </a:r>
            <a:endParaRPr lang="en-US" sz="1400" dirty="0"/>
          </a:p>
        </p:txBody>
      </p:sp>
      <p:sp>
        <p:nvSpPr>
          <p:cNvPr id="12" name="Shape 7"/>
          <p:cNvSpPr/>
          <p:nvPr/>
        </p:nvSpPr>
        <p:spPr>
          <a:xfrm>
            <a:off x="457200" y="2862072"/>
            <a:ext cx="384048" cy="384048"/>
          </a:xfrm>
          <a:prstGeom prst="ellipse">
            <a:avLst/>
          </a:prstGeom>
          <a:solidFill>
            <a:schemeClr val="accent4"/>
          </a:solidFill>
          <a:ln/>
        </p:spPr>
      </p:sp>
      <p:pic>
        <p:nvPicPr>
          <p:cNvPr id="13" name="Image 2" descr="preencoded.png">    </p:cNvPr>
          <p:cNvPicPr>
            <a:picLocks noChangeAspect="1"/>
          </p:cNvPicPr>
          <p:nvPr/>
        </p:nvPicPr>
        <p:blipFill>
          <a:blip r:embed="rId3"/>
          <a:stretch>
            <a:fillRect/>
          </a:stretch>
        </p:blipFill>
        <p:spPr>
          <a:xfrm>
            <a:off x="553212" y="2958084"/>
            <a:ext cx="192024" cy="192024"/>
          </a:xfrm>
          <a:prstGeom prst="rect">
            <a:avLst/>
          </a:prstGeom>
        </p:spPr>
      </p:pic>
      <p:sp>
        <p:nvSpPr>
          <p:cNvPr id="14" name="Text 8"/>
          <p:cNvSpPr txBox="1"/>
          <p:nvPr/>
        </p:nvSpPr>
        <p:spPr>
          <a:xfrm>
            <a:off x="1005840" y="2788920"/>
            <a:ext cx="3520440" cy="548640"/>
          </a:xfrm>
          <a:prstGeom prst="rect">
            <a:avLst/>
          </a:prstGeom>
          <a:noFill/>
          <a:ln/>
        </p:spPr>
        <p:txBody>
          <a:bodyPr wrap="square" lIns="0" tIns="0" rIns="0" bIns="0" rtlCol="0" anchor="ctr"/>
          <a:lstStyle/>
          <a:p>
            <a:pPr indent="0" marL="0">
              <a:buNone/>
            </a:pPr>
            <a:r>
              <a:rPr lang="en-US" sz="1400" b="1" dirty="0">
                <a:solidFill>
                  <a:schemeClr val="tx1"/>
                </a:solidFill>
              </a:rPr>
              <a:t>NGOs: </a:t>
            </a:r>
            <a:pPr indent="0" marL="0">
              <a:buNone/>
            </a:pPr>
            <a:r>
              <a:rPr lang="en-US" sz="1400" dirty="0">
                <a:solidFill>
                  <a:schemeClr val="tx1"/>
                </a:solidFill>
              </a:rPr>
              <a:t>resource requests, assignments, stock alerts</a:t>
            </a:r>
            <a:endParaRPr lang="en-US" sz="1400" dirty="0"/>
          </a:p>
        </p:txBody>
      </p:sp>
      <p:sp>
        <p:nvSpPr>
          <p:cNvPr id="15" name="Shape 9"/>
          <p:cNvSpPr/>
          <p:nvPr/>
        </p:nvSpPr>
        <p:spPr>
          <a:xfrm>
            <a:off x="457200" y="3502152"/>
            <a:ext cx="384048" cy="384048"/>
          </a:xfrm>
          <a:prstGeom prst="ellipse">
            <a:avLst/>
          </a:prstGeom>
          <a:solidFill>
            <a:schemeClr val="tx2"/>
          </a:solidFill>
          <a:ln/>
        </p:spPr>
      </p:sp>
      <p:pic>
        <p:nvPicPr>
          <p:cNvPr id="16" name="Image 3" descr="preencoded.png">    </p:cNvPr>
          <p:cNvPicPr>
            <a:picLocks noChangeAspect="1"/>
          </p:cNvPicPr>
          <p:nvPr/>
        </p:nvPicPr>
        <p:blipFill>
          <a:blip r:embed="rId4"/>
          <a:stretch>
            <a:fillRect/>
          </a:stretch>
        </p:blipFill>
        <p:spPr>
          <a:xfrm>
            <a:off x="553212" y="3598164"/>
            <a:ext cx="192024" cy="192024"/>
          </a:xfrm>
          <a:prstGeom prst="rect">
            <a:avLst/>
          </a:prstGeom>
        </p:spPr>
      </p:pic>
      <p:sp>
        <p:nvSpPr>
          <p:cNvPr id="17" name="Text 10"/>
          <p:cNvSpPr txBox="1"/>
          <p:nvPr/>
        </p:nvSpPr>
        <p:spPr>
          <a:xfrm>
            <a:off x="1005840" y="3429000"/>
            <a:ext cx="3520440" cy="548640"/>
          </a:xfrm>
          <a:prstGeom prst="rect">
            <a:avLst/>
          </a:prstGeom>
          <a:noFill/>
          <a:ln/>
        </p:spPr>
        <p:txBody>
          <a:bodyPr wrap="square" lIns="0" tIns="0" rIns="0" bIns="0" rtlCol="0" anchor="ctr"/>
          <a:lstStyle/>
          <a:p>
            <a:pPr indent="0" marL="0">
              <a:buNone/>
            </a:pPr>
            <a:r>
              <a:rPr lang="en-US" sz="1400" b="1" dirty="0">
                <a:solidFill>
                  <a:schemeClr val="tx1"/>
                </a:solidFill>
              </a:rPr>
              <a:t>Admins: </a:t>
            </a:r>
            <a:pPr indent="0" marL="0">
              <a:buNone/>
            </a:pPr>
            <a:r>
              <a:rPr lang="en-US" sz="1400" dirty="0">
                <a:solidFill>
                  <a:schemeClr val="tx1"/>
                </a:solidFill>
              </a:rPr>
              <a:t>verification requests, critical emergencies, system alerts</a:t>
            </a:r>
            <a:endParaRPr lang="en-US" sz="1400" dirty="0"/>
          </a:p>
        </p:txBody>
      </p:sp>
      <p:sp>
        <p:nvSpPr>
          <p:cNvPr id="18" name="Text 11"/>
          <p:cNvSpPr txBox="1"/>
          <p:nvPr/>
        </p:nvSpPr>
        <p:spPr>
          <a:xfrm>
            <a:off x="4846320" y="1115568"/>
            <a:ext cx="3840480" cy="274320"/>
          </a:xfrm>
          <a:prstGeom prst="rect">
            <a:avLst/>
          </a:prstGeom>
          <a:noFill/>
          <a:ln/>
        </p:spPr>
        <p:txBody>
          <a:bodyPr wrap="square" lIns="0" tIns="0" rIns="0" bIns="0" rtlCol="0" anchor="t"/>
          <a:lstStyle/>
          <a:p>
            <a:pPr indent="0" marL="0">
              <a:buNone/>
            </a:pPr>
            <a:r>
              <a:rPr lang="en-US" sz="1600" b="1" dirty="0">
                <a:solidFill>
                  <a:schemeClr val="tx2"/>
                </a:solidFill>
              </a:rPr>
              <a:t>Socket.io rooms</a:t>
            </a:r>
            <a:endParaRPr lang="en-US" sz="1600" dirty="0"/>
          </a:p>
        </p:txBody>
      </p:sp>
      <p:sp>
        <p:nvSpPr>
          <p:cNvPr id="19" name="Shape 12"/>
          <p:cNvSpPr/>
          <p:nvPr/>
        </p:nvSpPr>
        <p:spPr>
          <a:xfrm>
            <a:off x="4846320" y="1508760"/>
            <a:ext cx="3840480" cy="548640"/>
          </a:xfrm>
          <a:prstGeom prst="roundRect">
            <a:avLst>
              <a:gd name="adj" fmla="val 13333"/>
            </a:avLst>
          </a:prstGeom>
          <a:solidFill>
            <a:schemeClr val="tx1"/>
          </a:solidFill>
          <a:ln/>
        </p:spPr>
      </p:sp>
      <p:sp>
        <p:nvSpPr>
          <p:cNvPr id="20" name="Text 13"/>
          <p:cNvSpPr txBox="1"/>
          <p:nvPr/>
        </p:nvSpPr>
        <p:spPr>
          <a:xfrm>
            <a:off x="4983480" y="1508760"/>
            <a:ext cx="3611880" cy="548640"/>
          </a:xfrm>
          <a:prstGeom prst="rect">
            <a:avLst/>
          </a:prstGeom>
          <a:noFill/>
          <a:ln/>
        </p:spPr>
        <p:txBody>
          <a:bodyPr wrap="square" lIns="0" tIns="0" rIns="0" bIns="0" rtlCol="0" anchor="ctr"/>
          <a:lstStyle/>
          <a:p>
            <a:pPr indent="0" marL="0">
              <a:buNone/>
            </a:pPr>
            <a:r>
              <a:rPr lang="en-US" sz="1300" b="1" dirty="0">
                <a:solidFill>
                  <a:srgbClr val="E9C46A"/>
                </a:solidFill>
                <a:latin typeface="Courier New" pitchFamily="34" charset="0"/>
                <a:ea typeface="Courier New" pitchFamily="34" charset="-122"/>
                <a:cs typeface="Courier New" pitchFamily="34" charset="-120"/>
              </a:rPr>
              <a:t>user:&lt;userId&gt;</a:t>
            </a:r>
            <a:endParaRPr lang="en-US" sz="1400" dirty="0"/>
          </a:p>
          <a:p>
            <a:pPr indent="0" marL="0">
              <a:buNone/>
            </a:pPr>
            <a:r>
              <a:rPr lang="en-US" sz="1200" dirty="0">
                <a:solidFill>
                  <a:srgbClr val="C9D6D9"/>
                </a:solidFill>
              </a:rPr>
              <a:t>private notifications</a:t>
            </a:r>
            <a:endParaRPr lang="en-US" sz="1400" dirty="0"/>
          </a:p>
        </p:txBody>
      </p:sp>
      <p:sp>
        <p:nvSpPr>
          <p:cNvPr id="21" name="Shape 14"/>
          <p:cNvSpPr/>
          <p:nvPr/>
        </p:nvSpPr>
        <p:spPr>
          <a:xfrm>
            <a:off x="4846320" y="2148840"/>
            <a:ext cx="3840480" cy="548640"/>
          </a:xfrm>
          <a:prstGeom prst="roundRect">
            <a:avLst>
              <a:gd name="adj" fmla="val 13333"/>
            </a:avLst>
          </a:prstGeom>
          <a:solidFill>
            <a:schemeClr val="tx1"/>
          </a:solidFill>
          <a:ln/>
        </p:spPr>
      </p:sp>
      <p:sp>
        <p:nvSpPr>
          <p:cNvPr id="22" name="Text 15"/>
          <p:cNvSpPr txBox="1"/>
          <p:nvPr/>
        </p:nvSpPr>
        <p:spPr>
          <a:xfrm>
            <a:off x="4983480" y="2148840"/>
            <a:ext cx="3611880" cy="548640"/>
          </a:xfrm>
          <a:prstGeom prst="rect">
            <a:avLst/>
          </a:prstGeom>
          <a:noFill/>
          <a:ln/>
        </p:spPr>
        <p:txBody>
          <a:bodyPr wrap="square" lIns="0" tIns="0" rIns="0" bIns="0" rtlCol="0" anchor="ctr"/>
          <a:lstStyle/>
          <a:p>
            <a:pPr indent="0" marL="0">
              <a:buNone/>
            </a:pPr>
            <a:r>
              <a:rPr lang="en-US" sz="1300" b="1" dirty="0">
                <a:solidFill>
                  <a:srgbClr val="E9C46A"/>
                </a:solidFill>
                <a:latin typeface="Courier New" pitchFamily="34" charset="0"/>
                <a:ea typeface="Courier New" pitchFamily="34" charset="-122"/>
                <a:cs typeface="Courier New" pitchFamily="34" charset="-120"/>
              </a:rPr>
              <a:t>role:&lt;roleName&gt;</a:t>
            </a:r>
            <a:endParaRPr lang="en-US" sz="1400" dirty="0"/>
          </a:p>
          <a:p>
            <a:pPr indent="0" marL="0">
              <a:buNone/>
            </a:pPr>
            <a:r>
              <a:rPr lang="en-US" sz="1200" dirty="0">
                <a:solidFill>
                  <a:srgbClr val="C9D6D9"/>
                </a:solidFill>
              </a:rPr>
              <a:t>role-wide broadcasts</a:t>
            </a:r>
            <a:endParaRPr lang="en-US" sz="1400" dirty="0"/>
          </a:p>
        </p:txBody>
      </p:sp>
      <p:sp>
        <p:nvSpPr>
          <p:cNvPr id="23" name="Shape 16"/>
          <p:cNvSpPr/>
          <p:nvPr/>
        </p:nvSpPr>
        <p:spPr>
          <a:xfrm>
            <a:off x="4846320" y="2788920"/>
            <a:ext cx="3840480" cy="548640"/>
          </a:xfrm>
          <a:prstGeom prst="roundRect">
            <a:avLst>
              <a:gd name="adj" fmla="val 13333"/>
            </a:avLst>
          </a:prstGeom>
          <a:solidFill>
            <a:schemeClr val="tx1"/>
          </a:solidFill>
          <a:ln/>
        </p:spPr>
      </p:sp>
      <p:sp>
        <p:nvSpPr>
          <p:cNvPr id="24" name="Text 17"/>
          <p:cNvSpPr txBox="1"/>
          <p:nvPr/>
        </p:nvSpPr>
        <p:spPr>
          <a:xfrm>
            <a:off x="4983480" y="2788920"/>
            <a:ext cx="3611880" cy="548640"/>
          </a:xfrm>
          <a:prstGeom prst="rect">
            <a:avLst/>
          </a:prstGeom>
          <a:noFill/>
          <a:ln/>
        </p:spPr>
        <p:txBody>
          <a:bodyPr wrap="square" lIns="0" tIns="0" rIns="0" bIns="0" rtlCol="0" anchor="ctr"/>
          <a:lstStyle/>
          <a:p>
            <a:pPr indent="0" marL="0">
              <a:buNone/>
            </a:pPr>
            <a:r>
              <a:rPr lang="en-US" sz="1300" b="1" dirty="0">
                <a:solidFill>
                  <a:srgbClr val="E9C46A"/>
                </a:solidFill>
                <a:latin typeface="Courier New" pitchFamily="34" charset="0"/>
                <a:ea typeface="Courier New" pitchFamily="34" charset="-122"/>
                <a:cs typeface="Courier New" pitchFamily="34" charset="-120"/>
              </a:rPr>
              <a:t>request:&lt;requestId&gt;</a:t>
            </a:r>
            <a:endParaRPr lang="en-US" sz="1400" dirty="0"/>
          </a:p>
          <a:p>
            <a:pPr indent="0" marL="0">
              <a:buNone/>
            </a:pPr>
            <a:r>
              <a:rPr lang="en-US" sz="1200" dirty="0">
                <a:solidFill>
                  <a:srgbClr val="C9D6D9"/>
                </a:solidFill>
              </a:rPr>
              <a:t>live request tracking</a:t>
            </a:r>
            <a:endParaRPr lang="en-US" sz="1400" dirty="0"/>
          </a:p>
        </p:txBody>
      </p:sp>
      <p:sp>
        <p:nvSpPr>
          <p:cNvPr id="25" name="Shape 18"/>
          <p:cNvSpPr/>
          <p:nvPr/>
        </p:nvSpPr>
        <p:spPr>
          <a:xfrm>
            <a:off x="4846320" y="3429000"/>
            <a:ext cx="3840480" cy="548640"/>
          </a:xfrm>
          <a:prstGeom prst="roundRect">
            <a:avLst>
              <a:gd name="adj" fmla="val 13333"/>
            </a:avLst>
          </a:prstGeom>
          <a:solidFill>
            <a:schemeClr val="tx1"/>
          </a:solidFill>
          <a:ln/>
        </p:spPr>
      </p:sp>
      <p:sp>
        <p:nvSpPr>
          <p:cNvPr id="26" name="Text 19"/>
          <p:cNvSpPr txBox="1"/>
          <p:nvPr/>
        </p:nvSpPr>
        <p:spPr>
          <a:xfrm>
            <a:off x="4983480" y="3429000"/>
            <a:ext cx="3611880" cy="548640"/>
          </a:xfrm>
          <a:prstGeom prst="rect">
            <a:avLst/>
          </a:prstGeom>
          <a:noFill/>
          <a:ln/>
        </p:spPr>
        <p:txBody>
          <a:bodyPr wrap="square" lIns="0" tIns="0" rIns="0" bIns="0" rtlCol="0" anchor="ctr"/>
          <a:lstStyle/>
          <a:p>
            <a:pPr indent="0" marL="0">
              <a:buNone/>
            </a:pPr>
            <a:r>
              <a:rPr lang="en-US" sz="1300" b="1" dirty="0">
                <a:solidFill>
                  <a:srgbClr val="E9C46A"/>
                </a:solidFill>
                <a:latin typeface="Courier New" pitchFamily="34" charset="0"/>
                <a:ea typeface="Courier New" pitchFamily="34" charset="-122"/>
                <a:cs typeface="Courier New" pitchFamily="34" charset="-120"/>
              </a:rPr>
              <a:t>map:live</a:t>
            </a:r>
            <a:endParaRPr lang="en-US" sz="1400" dirty="0"/>
          </a:p>
          <a:p>
            <a:pPr indent="0" marL="0">
              <a:buNone/>
            </a:pPr>
            <a:r>
              <a:rPr lang="en-US" sz="1200" dirty="0">
                <a:solidFill>
                  <a:srgbClr val="C9D6D9"/>
                </a:solidFill>
              </a:rPr>
              <a:t>live map changes</a:t>
            </a:r>
            <a:endParaRPr lang="en-US" sz="1400" dirty="0"/>
          </a:p>
        </p:txBody>
      </p:sp>
      <p:sp>
        <p:nvSpPr>
          <p:cNvPr id="27" name="Shape 20"/>
          <p:cNvSpPr/>
          <p:nvPr/>
        </p:nvSpPr>
        <p:spPr>
          <a:xfrm>
            <a:off x="457200" y="4160520"/>
            <a:ext cx="2103120" cy="548640"/>
          </a:xfrm>
          <a:prstGeom prst="roundRect">
            <a:avLst>
              <a:gd name="adj" fmla="val 13333"/>
            </a:avLst>
          </a:prstGeom>
          <a:solidFill>
            <a:schemeClr val="tx2"/>
          </a:solidFill>
          <a:ln/>
        </p:spPr>
      </p:sp>
      <p:sp>
        <p:nvSpPr>
          <p:cNvPr id="28" name="Text 21"/>
          <p:cNvSpPr txBox="1"/>
          <p:nvPr/>
        </p:nvSpPr>
        <p:spPr>
          <a:xfrm>
            <a:off x="457200" y="4160520"/>
            <a:ext cx="2103120" cy="548640"/>
          </a:xfrm>
          <a:prstGeom prst="rect">
            <a:avLst/>
          </a:prstGeom>
          <a:noFill/>
          <a:ln/>
        </p:spPr>
        <p:txBody>
          <a:bodyPr wrap="square" lIns="0" tIns="0" rIns="0" bIns="0" rtlCol="0" anchor="ctr"/>
          <a:lstStyle/>
          <a:p>
            <a:pPr algn="ctr" indent="0" marL="0">
              <a:buNone/>
            </a:pPr>
            <a:r>
              <a:rPr lang="en-US" sz="1400" b="1" dirty="0">
                <a:solidFill>
                  <a:schemeClr val="bg1"/>
                </a:solidFill>
              </a:rPr>
              <a:t>Backend event</a:t>
            </a:r>
            <a:endParaRPr lang="en-US" sz="1400" dirty="0"/>
          </a:p>
        </p:txBody>
      </p:sp>
      <p:sp>
        <p:nvSpPr>
          <p:cNvPr id="29" name="Shape 22"/>
          <p:cNvSpPr/>
          <p:nvPr/>
        </p:nvSpPr>
        <p:spPr>
          <a:xfrm>
            <a:off x="3108960" y="4160520"/>
            <a:ext cx="2103120" cy="548640"/>
          </a:xfrm>
          <a:prstGeom prst="roundRect">
            <a:avLst>
              <a:gd name="adj" fmla="val 13333"/>
            </a:avLst>
          </a:prstGeom>
          <a:solidFill>
            <a:schemeClr val="accent3"/>
          </a:solidFill>
          <a:ln/>
        </p:spPr>
      </p:sp>
      <p:sp>
        <p:nvSpPr>
          <p:cNvPr id="30" name="Text 23"/>
          <p:cNvSpPr txBox="1"/>
          <p:nvPr/>
        </p:nvSpPr>
        <p:spPr>
          <a:xfrm>
            <a:off x="3108960" y="4160520"/>
            <a:ext cx="2103120" cy="548640"/>
          </a:xfrm>
          <a:prstGeom prst="rect">
            <a:avLst/>
          </a:prstGeom>
          <a:noFill/>
          <a:ln/>
        </p:spPr>
        <p:txBody>
          <a:bodyPr wrap="square" lIns="0" tIns="0" rIns="0" bIns="0" rtlCol="0" anchor="ctr"/>
          <a:lstStyle/>
          <a:p>
            <a:pPr algn="ctr" indent="0" marL="0">
              <a:buNone/>
            </a:pPr>
            <a:r>
              <a:rPr lang="en-US" sz="1400" b="1" dirty="0">
                <a:solidFill>
                  <a:schemeClr val="bg1"/>
                </a:solidFill>
              </a:rPr>
              <a:t>Socket.io room</a:t>
            </a:r>
            <a:endParaRPr lang="en-US" sz="1400" dirty="0"/>
          </a:p>
        </p:txBody>
      </p:sp>
      <p:sp>
        <p:nvSpPr>
          <p:cNvPr id="31" name="Shape 24"/>
          <p:cNvSpPr/>
          <p:nvPr/>
        </p:nvSpPr>
        <p:spPr>
          <a:xfrm>
            <a:off x="5760720" y="4160520"/>
            <a:ext cx="2926080" cy="548640"/>
          </a:xfrm>
          <a:prstGeom prst="roundRect">
            <a:avLst>
              <a:gd name="adj" fmla="val 13333"/>
            </a:avLst>
          </a:prstGeom>
          <a:solidFill>
            <a:schemeClr val="accent1"/>
          </a:solidFill>
          <a:ln/>
        </p:spPr>
      </p:sp>
      <p:sp>
        <p:nvSpPr>
          <p:cNvPr id="32" name="Text 25"/>
          <p:cNvSpPr txBox="1"/>
          <p:nvPr/>
        </p:nvSpPr>
        <p:spPr>
          <a:xfrm>
            <a:off x="5760720" y="4160520"/>
            <a:ext cx="2926080" cy="548640"/>
          </a:xfrm>
          <a:prstGeom prst="rect">
            <a:avLst/>
          </a:prstGeom>
          <a:noFill/>
          <a:ln/>
        </p:spPr>
        <p:txBody>
          <a:bodyPr wrap="square" lIns="0" tIns="0" rIns="0" bIns="0" rtlCol="0" anchor="ctr"/>
          <a:lstStyle/>
          <a:p>
            <a:pPr algn="ctr" indent="0" marL="0">
              <a:buNone/>
            </a:pPr>
            <a:r>
              <a:rPr lang="en-US" sz="1400" b="1" dirty="0">
                <a:solidFill>
                  <a:schemeClr val="bg1"/>
                </a:solidFill>
              </a:rPr>
              <a:t>Dashboard / notification bell</a:t>
            </a:r>
            <a:endParaRPr lang="en-US" sz="1400" dirty="0"/>
          </a:p>
        </p:txBody>
      </p:sp>
      <p:pic>
        <p:nvPicPr>
          <p:cNvPr id="33" name="Image 4" descr="preencoded.png">    </p:cNvPr>
          <p:cNvPicPr>
            <a:picLocks noChangeAspect="1"/>
          </p:cNvPicPr>
          <p:nvPr/>
        </p:nvPicPr>
        <p:blipFill>
          <a:blip r:embed="rId5"/>
          <a:stretch>
            <a:fillRect/>
          </a:stretch>
        </p:blipFill>
        <p:spPr>
          <a:xfrm>
            <a:off x="2715768" y="4315968"/>
            <a:ext cx="237744" cy="237744"/>
          </a:xfrm>
          <a:prstGeom prst="rect">
            <a:avLst/>
          </a:prstGeom>
        </p:spPr>
      </p:pic>
      <p:pic>
        <p:nvPicPr>
          <p:cNvPr id="34" name="Image 5" descr="preencoded.png">    </p:cNvPr>
          <p:cNvPicPr>
            <a:picLocks noChangeAspect="1"/>
          </p:cNvPicPr>
          <p:nvPr/>
        </p:nvPicPr>
        <p:blipFill>
          <a:blip r:embed="rId6"/>
          <a:stretch>
            <a:fillRect/>
          </a:stretch>
        </p:blipFill>
        <p:spPr>
          <a:xfrm>
            <a:off x="5367528" y="4315968"/>
            <a:ext cx="237744" cy="237744"/>
          </a:xfrm>
          <a:prstGeom prst="rect">
            <a:avLst/>
          </a:prstGeom>
        </p:spPr>
      </p:pic>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7A8A8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19456"/>
            <a:ext cx="548640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10  |  ADMIN AND TRUST</a:t>
            </a:r>
            <a:endParaRPr lang="en-US" sz="1100" dirty="0"/>
          </a:p>
        </p:txBody>
      </p:sp>
      <p:sp>
        <p:nvSpPr>
          <p:cNvPr id="4" name="Text 0"/>
          <p:cNvSpPr/>
          <p:nvPr>
            <p:ph idx="100" type="title" hasCustomPrompt="1"/>
          </p:nvPr>
        </p:nvSpPr>
        <p:spPr>
          <a:xfrm>
            <a:off x="457200" y="420624"/>
            <a:ext cx="8229600" cy="566928"/>
          </a:xfrm>
          <a:prstGeom prst="rect">
            <a:avLst/>
          </a:prstGeom>
          <a:noFill/>
          <a:ln/>
        </p:spPr>
        <p:txBody>
          <a:bodyPr wrap="square" lIns="0" tIns="0" rIns="0" bIns="0" rtlCol="0" anchor="ctr"/>
          <a:lstStyle/>
          <a:p>
            <a:pPr algn="l" indent="0" marL="0">
              <a:buNone/>
            </a:pPr>
            <a:r>
              <a:rPr lang="en-US" sz="2800" b="1" dirty="0">
                <a:solidFill>
                  <a:schemeClr val="tx1"/>
                </a:solidFill>
              </a:rPr>
              <a:t>Admin Command Center and Trust Model</a:t>
            </a:r>
            <a:endParaRPr lang="en-US" sz="2800" dirty="0"/>
          </a:p>
        </p:txBody>
      </p:sp>
      <p:sp>
        <p:nvSpPr>
          <p:cNvPr id="5" name="Text 2"/>
          <p:cNvSpPr txBox="1"/>
          <p:nvPr/>
        </p:nvSpPr>
        <p:spPr>
          <a:xfrm>
            <a:off x="457200" y="1097280"/>
            <a:ext cx="4572000" cy="274320"/>
          </a:xfrm>
          <a:prstGeom prst="rect">
            <a:avLst/>
          </a:prstGeom>
          <a:noFill/>
          <a:ln/>
        </p:spPr>
        <p:txBody>
          <a:bodyPr wrap="square" lIns="0" tIns="0" rIns="0" bIns="0" rtlCol="0" anchor="t"/>
          <a:lstStyle/>
          <a:p>
            <a:pPr indent="0" marL="0">
              <a:buNone/>
            </a:pPr>
            <a:r>
              <a:rPr lang="en-US" sz="1600" b="1" dirty="0">
                <a:solidFill>
                  <a:schemeClr val="tx2"/>
                </a:solidFill>
              </a:rPr>
              <a:t>Command center</a:t>
            </a:r>
            <a:endParaRPr lang="en-US" sz="1600" dirty="0"/>
          </a:p>
        </p:txBody>
      </p:sp>
      <p:sp>
        <p:nvSpPr>
          <p:cNvPr id="6" name="KPI tile"/>
          <p:cNvSpPr/>
          <p:nvPr/>
        </p:nvSpPr>
        <p:spPr>
          <a:xfrm>
            <a:off x="457200" y="1444752"/>
            <a:ext cx="2651760" cy="822960"/>
          </a:xfrm>
          <a:prstGeom prst="roundRect">
            <a:avLst>
              <a:gd name="adj" fmla="val 8889"/>
            </a:avLst>
          </a:prstGeom>
          <a:solidFill>
            <a:schemeClr val="bg2"/>
          </a:solidFill>
          <a:ln/>
        </p:spPr>
      </p:sp>
      <p:sp>
        <p:nvSpPr>
          <p:cNvPr id="7" name="Shape 4"/>
          <p:cNvSpPr/>
          <p:nvPr/>
        </p:nvSpPr>
        <p:spPr>
          <a:xfrm>
            <a:off x="566928" y="1645920"/>
            <a:ext cx="420624" cy="420624"/>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672084" y="1751076"/>
            <a:ext cx="210312" cy="210312"/>
          </a:xfrm>
          <a:prstGeom prst="rect">
            <a:avLst/>
          </a:prstGeom>
        </p:spPr>
      </p:pic>
      <p:sp>
        <p:nvSpPr>
          <p:cNvPr id="9" name="Text 5"/>
          <p:cNvSpPr txBox="1"/>
          <p:nvPr/>
        </p:nvSpPr>
        <p:spPr>
          <a:xfrm>
            <a:off x="1097280" y="1481328"/>
            <a:ext cx="1920240" cy="749808"/>
          </a:xfrm>
          <a:prstGeom prst="rect">
            <a:avLst/>
          </a:prstGeom>
          <a:noFill/>
          <a:ln/>
        </p:spPr>
        <p:txBody>
          <a:bodyPr wrap="square" lIns="0" tIns="0" rIns="0" bIns="0" rtlCol="0" anchor="ctr"/>
          <a:lstStyle/>
          <a:p>
            <a:pPr indent="0" marL="0">
              <a:buNone/>
            </a:pPr>
            <a:r>
              <a:rPr lang="en-US" sz="1400" dirty="0">
                <a:solidFill>
                  <a:schemeClr val="tx1"/>
                </a:solidFill>
              </a:rPr>
              <a:t>Active emergencies and critical requests</a:t>
            </a:r>
            <a:endParaRPr lang="en-US" sz="1400" dirty="0"/>
          </a:p>
        </p:txBody>
      </p:sp>
      <p:sp>
        <p:nvSpPr>
          <p:cNvPr id="10" name="KPI tile"/>
          <p:cNvSpPr/>
          <p:nvPr/>
        </p:nvSpPr>
        <p:spPr>
          <a:xfrm>
            <a:off x="3246120" y="1444752"/>
            <a:ext cx="2651760" cy="822960"/>
          </a:xfrm>
          <a:prstGeom prst="roundRect">
            <a:avLst>
              <a:gd name="adj" fmla="val 8889"/>
            </a:avLst>
          </a:prstGeom>
          <a:solidFill>
            <a:schemeClr val="bg2"/>
          </a:solidFill>
          <a:ln/>
        </p:spPr>
      </p:sp>
      <p:sp>
        <p:nvSpPr>
          <p:cNvPr id="11" name="Shape 7"/>
          <p:cNvSpPr/>
          <p:nvPr/>
        </p:nvSpPr>
        <p:spPr>
          <a:xfrm>
            <a:off x="3355848" y="1645920"/>
            <a:ext cx="420624" cy="420624"/>
          </a:xfrm>
          <a:prstGeom prst="ellipse">
            <a:avLst/>
          </a:prstGeom>
          <a:solidFill>
            <a:schemeClr val="accent3"/>
          </a:solidFill>
          <a:ln/>
        </p:spPr>
      </p:sp>
      <p:pic>
        <p:nvPicPr>
          <p:cNvPr id="12" name="Image 1" descr="preencoded.png">    </p:cNvPr>
          <p:cNvPicPr>
            <a:picLocks noChangeAspect="1"/>
          </p:cNvPicPr>
          <p:nvPr/>
        </p:nvPicPr>
        <p:blipFill>
          <a:blip r:embed="rId2"/>
          <a:stretch>
            <a:fillRect/>
          </a:stretch>
        </p:blipFill>
        <p:spPr>
          <a:xfrm>
            <a:off x="3461004" y="1751076"/>
            <a:ext cx="210312" cy="210312"/>
          </a:xfrm>
          <a:prstGeom prst="rect">
            <a:avLst/>
          </a:prstGeom>
        </p:spPr>
      </p:pic>
      <p:sp>
        <p:nvSpPr>
          <p:cNvPr id="13" name="Text 8"/>
          <p:cNvSpPr txBox="1"/>
          <p:nvPr/>
        </p:nvSpPr>
        <p:spPr>
          <a:xfrm>
            <a:off x="3886200" y="1481328"/>
            <a:ext cx="1920240" cy="749808"/>
          </a:xfrm>
          <a:prstGeom prst="rect">
            <a:avLst/>
          </a:prstGeom>
          <a:noFill/>
          <a:ln/>
        </p:spPr>
        <p:txBody>
          <a:bodyPr wrap="square" lIns="0" tIns="0" rIns="0" bIns="0" rtlCol="0" anchor="ctr"/>
          <a:lstStyle/>
          <a:p>
            <a:pPr indent="0" marL="0">
              <a:buNone/>
            </a:pPr>
            <a:r>
              <a:rPr lang="en-US" sz="1400" dirty="0">
                <a:solidFill>
                  <a:schemeClr val="tx1"/>
                </a:solidFill>
              </a:rPr>
              <a:t>Active volunteers and verified NGOs</a:t>
            </a:r>
            <a:endParaRPr lang="en-US" sz="1400" dirty="0"/>
          </a:p>
        </p:txBody>
      </p:sp>
      <p:sp>
        <p:nvSpPr>
          <p:cNvPr id="14" name="KPI tile"/>
          <p:cNvSpPr/>
          <p:nvPr/>
        </p:nvSpPr>
        <p:spPr>
          <a:xfrm>
            <a:off x="6035040" y="1444752"/>
            <a:ext cx="2651760" cy="822960"/>
          </a:xfrm>
          <a:prstGeom prst="roundRect">
            <a:avLst>
              <a:gd name="adj" fmla="val 8889"/>
            </a:avLst>
          </a:prstGeom>
          <a:solidFill>
            <a:schemeClr val="bg2"/>
          </a:solidFill>
          <a:ln/>
        </p:spPr>
      </p:sp>
      <p:sp>
        <p:nvSpPr>
          <p:cNvPr id="15" name="Shape 10"/>
          <p:cNvSpPr/>
          <p:nvPr/>
        </p:nvSpPr>
        <p:spPr>
          <a:xfrm>
            <a:off x="6144768" y="1645920"/>
            <a:ext cx="420624" cy="420624"/>
          </a:xfrm>
          <a:prstGeom prst="ellipse">
            <a:avLst/>
          </a:prstGeom>
          <a:solidFill>
            <a:schemeClr val="accent4"/>
          </a:solidFill>
          <a:ln/>
        </p:spPr>
      </p:sp>
      <p:pic>
        <p:nvPicPr>
          <p:cNvPr id="16" name="Image 2" descr="preencoded.png">    </p:cNvPr>
          <p:cNvPicPr>
            <a:picLocks noChangeAspect="1"/>
          </p:cNvPicPr>
          <p:nvPr/>
        </p:nvPicPr>
        <p:blipFill>
          <a:blip r:embed="rId3"/>
          <a:stretch>
            <a:fillRect/>
          </a:stretch>
        </p:blipFill>
        <p:spPr>
          <a:xfrm>
            <a:off x="6249924" y="1751076"/>
            <a:ext cx="210312" cy="210312"/>
          </a:xfrm>
          <a:prstGeom prst="rect">
            <a:avLst/>
          </a:prstGeom>
        </p:spPr>
      </p:pic>
      <p:sp>
        <p:nvSpPr>
          <p:cNvPr id="17" name="Text 11"/>
          <p:cNvSpPr txBox="1"/>
          <p:nvPr/>
        </p:nvSpPr>
        <p:spPr>
          <a:xfrm>
            <a:off x="6675120" y="1481328"/>
            <a:ext cx="1920240" cy="749808"/>
          </a:xfrm>
          <a:prstGeom prst="rect">
            <a:avLst/>
          </a:prstGeom>
          <a:noFill/>
          <a:ln/>
        </p:spPr>
        <p:txBody>
          <a:bodyPr wrap="square" lIns="0" tIns="0" rIns="0" bIns="0" rtlCol="0" anchor="ctr"/>
          <a:lstStyle/>
          <a:p>
            <a:pPr indent="0" marL="0">
              <a:buNone/>
            </a:pPr>
            <a:r>
              <a:rPr lang="en-US" sz="1400" dirty="0">
                <a:solidFill>
                  <a:schemeClr val="tx1"/>
                </a:solidFill>
              </a:rPr>
              <a:t>Shelter and resource availability</a:t>
            </a:r>
            <a:endParaRPr lang="en-US" sz="1400" dirty="0"/>
          </a:p>
        </p:txBody>
      </p:sp>
      <p:sp>
        <p:nvSpPr>
          <p:cNvPr id="18" name="KPI tile"/>
          <p:cNvSpPr/>
          <p:nvPr/>
        </p:nvSpPr>
        <p:spPr>
          <a:xfrm>
            <a:off x="457200" y="2359152"/>
            <a:ext cx="2651760" cy="822960"/>
          </a:xfrm>
          <a:prstGeom prst="roundRect">
            <a:avLst>
              <a:gd name="adj" fmla="val 8889"/>
            </a:avLst>
          </a:prstGeom>
          <a:solidFill>
            <a:schemeClr val="bg2"/>
          </a:solidFill>
          <a:ln/>
        </p:spPr>
      </p:sp>
      <p:sp>
        <p:nvSpPr>
          <p:cNvPr id="19" name="Shape 13"/>
          <p:cNvSpPr/>
          <p:nvPr/>
        </p:nvSpPr>
        <p:spPr>
          <a:xfrm>
            <a:off x="566928" y="2560320"/>
            <a:ext cx="420624" cy="420624"/>
          </a:xfrm>
          <a:prstGeom prst="ellipse">
            <a:avLst/>
          </a:prstGeom>
          <a:solidFill>
            <a:schemeClr val="accent2"/>
          </a:solidFill>
          <a:ln/>
        </p:spPr>
      </p:sp>
      <p:pic>
        <p:nvPicPr>
          <p:cNvPr id="20" name="Image 3" descr="preencoded.png">    </p:cNvPr>
          <p:cNvPicPr>
            <a:picLocks noChangeAspect="1"/>
          </p:cNvPicPr>
          <p:nvPr/>
        </p:nvPicPr>
        <p:blipFill>
          <a:blip r:embed="rId4"/>
          <a:stretch>
            <a:fillRect/>
          </a:stretch>
        </p:blipFill>
        <p:spPr>
          <a:xfrm>
            <a:off x="672084" y="2665476"/>
            <a:ext cx="210312" cy="210312"/>
          </a:xfrm>
          <a:prstGeom prst="rect">
            <a:avLst/>
          </a:prstGeom>
        </p:spPr>
      </p:pic>
      <p:sp>
        <p:nvSpPr>
          <p:cNvPr id="21" name="Text 14"/>
          <p:cNvSpPr txBox="1"/>
          <p:nvPr/>
        </p:nvSpPr>
        <p:spPr>
          <a:xfrm>
            <a:off x="1097280" y="2395728"/>
            <a:ext cx="1920240" cy="749808"/>
          </a:xfrm>
          <a:prstGeom prst="rect">
            <a:avLst/>
          </a:prstGeom>
          <a:noFill/>
          <a:ln/>
        </p:spPr>
        <p:txBody>
          <a:bodyPr wrap="square" lIns="0" tIns="0" rIns="0" bIns="0" rtlCol="0" anchor="ctr"/>
          <a:lstStyle/>
          <a:p>
            <a:pPr indent="0" marL="0">
              <a:buNone/>
            </a:pPr>
            <a:r>
              <a:rPr lang="en-US" sz="1400" dirty="0">
                <a:solidFill>
                  <a:schemeClr val="tx1"/>
                </a:solidFill>
              </a:rPr>
              <a:t>Pending vs. resolved requests</a:t>
            </a:r>
            <a:endParaRPr lang="en-US" sz="1400" dirty="0"/>
          </a:p>
        </p:txBody>
      </p:sp>
      <p:sp>
        <p:nvSpPr>
          <p:cNvPr id="22" name="KPI tile"/>
          <p:cNvSpPr/>
          <p:nvPr/>
        </p:nvSpPr>
        <p:spPr>
          <a:xfrm>
            <a:off x="3246120" y="2359152"/>
            <a:ext cx="2651760" cy="822960"/>
          </a:xfrm>
          <a:prstGeom prst="roundRect">
            <a:avLst>
              <a:gd name="adj" fmla="val 8889"/>
            </a:avLst>
          </a:prstGeom>
          <a:solidFill>
            <a:schemeClr val="bg2"/>
          </a:solidFill>
          <a:ln/>
        </p:spPr>
      </p:sp>
      <p:sp>
        <p:nvSpPr>
          <p:cNvPr id="23" name="Shape 16"/>
          <p:cNvSpPr/>
          <p:nvPr/>
        </p:nvSpPr>
        <p:spPr>
          <a:xfrm>
            <a:off x="3355848" y="2560320"/>
            <a:ext cx="420624" cy="420624"/>
          </a:xfrm>
          <a:prstGeom prst="ellipse">
            <a:avLst/>
          </a:prstGeom>
          <a:solidFill>
            <a:schemeClr val="accent5"/>
          </a:solidFill>
          <a:ln/>
        </p:spPr>
      </p:sp>
      <p:pic>
        <p:nvPicPr>
          <p:cNvPr id="24" name="Image 4" descr="preencoded.png">    </p:cNvPr>
          <p:cNvPicPr>
            <a:picLocks noChangeAspect="1"/>
          </p:cNvPicPr>
          <p:nvPr/>
        </p:nvPicPr>
        <p:blipFill>
          <a:blip r:embed="rId5"/>
          <a:stretch>
            <a:fillRect/>
          </a:stretch>
        </p:blipFill>
        <p:spPr>
          <a:xfrm>
            <a:off x="3461004" y="2665476"/>
            <a:ext cx="210312" cy="210312"/>
          </a:xfrm>
          <a:prstGeom prst="rect">
            <a:avLst/>
          </a:prstGeom>
        </p:spPr>
      </p:pic>
      <p:sp>
        <p:nvSpPr>
          <p:cNvPr id="25" name="Text 17"/>
          <p:cNvSpPr txBox="1"/>
          <p:nvPr/>
        </p:nvSpPr>
        <p:spPr>
          <a:xfrm>
            <a:off x="3886200" y="2395728"/>
            <a:ext cx="1920240" cy="749808"/>
          </a:xfrm>
          <a:prstGeom prst="rect">
            <a:avLst/>
          </a:prstGeom>
          <a:noFill/>
          <a:ln/>
        </p:spPr>
        <p:txBody>
          <a:bodyPr wrap="square" lIns="0" tIns="0" rIns="0" bIns="0" rtlCol="0" anchor="ctr"/>
          <a:lstStyle/>
          <a:p>
            <a:pPr indent="0" marL="0">
              <a:buNone/>
            </a:pPr>
            <a:r>
              <a:rPr lang="en-US" sz="1400" dirty="0">
                <a:solidFill>
                  <a:schemeClr val="tx1"/>
                </a:solidFill>
              </a:rPr>
              <a:t>Verification queue</a:t>
            </a:r>
            <a:endParaRPr lang="en-US" sz="1400" dirty="0"/>
          </a:p>
        </p:txBody>
      </p:sp>
      <p:sp>
        <p:nvSpPr>
          <p:cNvPr id="26" name="KPI tile"/>
          <p:cNvSpPr/>
          <p:nvPr/>
        </p:nvSpPr>
        <p:spPr>
          <a:xfrm>
            <a:off x="6035040" y="2359152"/>
            <a:ext cx="2651760" cy="822960"/>
          </a:xfrm>
          <a:prstGeom prst="roundRect">
            <a:avLst>
              <a:gd name="adj" fmla="val 8889"/>
            </a:avLst>
          </a:prstGeom>
          <a:solidFill>
            <a:schemeClr val="bg2"/>
          </a:solidFill>
          <a:ln/>
        </p:spPr>
      </p:sp>
      <p:sp>
        <p:nvSpPr>
          <p:cNvPr id="27" name="Shape 19"/>
          <p:cNvSpPr/>
          <p:nvPr/>
        </p:nvSpPr>
        <p:spPr>
          <a:xfrm>
            <a:off x="6144768" y="2560320"/>
            <a:ext cx="420624" cy="420624"/>
          </a:xfrm>
          <a:prstGeom prst="ellipse">
            <a:avLst/>
          </a:prstGeom>
          <a:solidFill>
            <a:schemeClr val="tx2"/>
          </a:solidFill>
          <a:ln/>
        </p:spPr>
      </p:sp>
      <p:pic>
        <p:nvPicPr>
          <p:cNvPr id="28" name="Image 5" descr="preencoded.png">    </p:cNvPr>
          <p:cNvPicPr>
            <a:picLocks noChangeAspect="1"/>
          </p:cNvPicPr>
          <p:nvPr/>
        </p:nvPicPr>
        <p:blipFill>
          <a:blip r:embed="rId6"/>
          <a:stretch>
            <a:fillRect/>
          </a:stretch>
        </p:blipFill>
        <p:spPr>
          <a:xfrm>
            <a:off x="6249924" y="2665476"/>
            <a:ext cx="210312" cy="210312"/>
          </a:xfrm>
          <a:prstGeom prst="rect">
            <a:avLst/>
          </a:prstGeom>
        </p:spPr>
      </p:pic>
      <p:sp>
        <p:nvSpPr>
          <p:cNvPr id="29" name="Text 20"/>
          <p:cNvSpPr txBox="1"/>
          <p:nvPr/>
        </p:nvSpPr>
        <p:spPr>
          <a:xfrm>
            <a:off x="6675120" y="2395728"/>
            <a:ext cx="1920240" cy="749808"/>
          </a:xfrm>
          <a:prstGeom prst="rect">
            <a:avLst/>
          </a:prstGeom>
          <a:noFill/>
          <a:ln/>
        </p:spPr>
        <p:txBody>
          <a:bodyPr wrap="square" lIns="0" tIns="0" rIns="0" bIns="0" rtlCol="0" anchor="ctr"/>
          <a:lstStyle/>
          <a:p>
            <a:pPr indent="0" marL="0">
              <a:buNone/>
            </a:pPr>
            <a:r>
              <a:rPr lang="en-US" sz="1400" dirty="0">
                <a:solidFill>
                  <a:schemeClr val="tx1"/>
                </a:solidFill>
              </a:rPr>
              <a:t>User management, reassignment, reports, analytics</a:t>
            </a:r>
            <a:endParaRPr lang="en-US" sz="1400" dirty="0"/>
          </a:p>
        </p:txBody>
      </p:sp>
      <p:sp>
        <p:nvSpPr>
          <p:cNvPr id="30" name="Text 21"/>
          <p:cNvSpPr txBox="1"/>
          <p:nvPr/>
        </p:nvSpPr>
        <p:spPr>
          <a:xfrm>
            <a:off x="457200" y="3383280"/>
            <a:ext cx="4572000" cy="274320"/>
          </a:xfrm>
          <a:prstGeom prst="rect">
            <a:avLst/>
          </a:prstGeom>
          <a:noFill/>
          <a:ln/>
        </p:spPr>
        <p:txBody>
          <a:bodyPr wrap="square" lIns="0" tIns="0" rIns="0" bIns="0" rtlCol="0" anchor="t"/>
          <a:lstStyle/>
          <a:p>
            <a:pPr indent="0" marL="0">
              <a:buNone/>
            </a:pPr>
            <a:r>
              <a:rPr lang="en-US" sz="1600" b="1" dirty="0">
                <a:solidFill>
                  <a:schemeClr val="tx2"/>
                </a:solidFill>
              </a:rPr>
              <a:t>Trust model</a:t>
            </a:r>
            <a:endParaRPr lang="en-US" sz="1600" dirty="0"/>
          </a:p>
        </p:txBody>
      </p:sp>
      <p:sp>
        <p:nvSpPr>
          <p:cNvPr id="31" name="Shape 22"/>
          <p:cNvSpPr/>
          <p:nvPr/>
        </p:nvSpPr>
        <p:spPr>
          <a:xfrm>
            <a:off x="457200" y="3749040"/>
            <a:ext cx="1828800" cy="640080"/>
          </a:xfrm>
          <a:prstGeom prst="roundRect">
            <a:avLst>
              <a:gd name="adj" fmla="val 11429"/>
            </a:avLst>
          </a:prstGeom>
          <a:solidFill>
            <a:schemeClr val="tx2"/>
          </a:solidFill>
          <a:ln/>
        </p:spPr>
      </p:sp>
      <p:sp>
        <p:nvSpPr>
          <p:cNvPr id="32" name="Text 23"/>
          <p:cNvSpPr txBox="1"/>
          <p:nvPr/>
        </p:nvSpPr>
        <p:spPr>
          <a:xfrm>
            <a:off x="457200" y="3749040"/>
            <a:ext cx="1828800" cy="640080"/>
          </a:xfrm>
          <a:prstGeom prst="rect">
            <a:avLst/>
          </a:prstGeom>
          <a:noFill/>
          <a:ln/>
        </p:spPr>
        <p:txBody>
          <a:bodyPr wrap="square" lIns="0" tIns="0" rIns="0" bIns="0" rtlCol="0" anchor="ctr"/>
          <a:lstStyle/>
          <a:p>
            <a:pPr algn="ctr" indent="0" marL="0">
              <a:buNone/>
            </a:pPr>
            <a:r>
              <a:rPr lang="en-US" sz="1400" b="1" dirty="0">
                <a:solidFill>
                  <a:schemeClr val="bg1"/>
                </a:solidFill>
              </a:rPr>
              <a:t>1  Register</a:t>
            </a:r>
            <a:endParaRPr lang="en-US" sz="1400" dirty="0"/>
          </a:p>
        </p:txBody>
      </p:sp>
      <p:pic>
        <p:nvPicPr>
          <p:cNvPr id="33" name="Image 6" descr="preencoded.png">    </p:cNvPr>
          <p:cNvPicPr>
            <a:picLocks noChangeAspect="1"/>
          </p:cNvPicPr>
          <p:nvPr/>
        </p:nvPicPr>
        <p:blipFill>
          <a:blip r:embed="rId7"/>
          <a:stretch>
            <a:fillRect/>
          </a:stretch>
        </p:blipFill>
        <p:spPr>
          <a:xfrm>
            <a:off x="2346808" y="3977640"/>
            <a:ext cx="182880" cy="182880"/>
          </a:xfrm>
          <a:prstGeom prst="rect">
            <a:avLst/>
          </a:prstGeom>
        </p:spPr>
      </p:pic>
      <p:sp>
        <p:nvSpPr>
          <p:cNvPr id="34" name="Shape 24"/>
          <p:cNvSpPr/>
          <p:nvPr/>
        </p:nvSpPr>
        <p:spPr>
          <a:xfrm>
            <a:off x="2590495" y="3749040"/>
            <a:ext cx="1828800" cy="640080"/>
          </a:xfrm>
          <a:prstGeom prst="roundRect">
            <a:avLst>
              <a:gd name="adj" fmla="val 11429"/>
            </a:avLst>
          </a:prstGeom>
          <a:solidFill>
            <a:schemeClr val="tx2"/>
          </a:solidFill>
          <a:ln/>
        </p:spPr>
      </p:sp>
      <p:sp>
        <p:nvSpPr>
          <p:cNvPr id="35" name="Text 25"/>
          <p:cNvSpPr txBox="1"/>
          <p:nvPr/>
        </p:nvSpPr>
        <p:spPr>
          <a:xfrm>
            <a:off x="2590495" y="3749040"/>
            <a:ext cx="1828800" cy="640080"/>
          </a:xfrm>
          <a:prstGeom prst="rect">
            <a:avLst/>
          </a:prstGeom>
          <a:noFill/>
          <a:ln/>
        </p:spPr>
        <p:txBody>
          <a:bodyPr wrap="square" lIns="0" tIns="0" rIns="0" bIns="0" rtlCol="0" anchor="ctr"/>
          <a:lstStyle/>
          <a:p>
            <a:pPr algn="ctr" indent="0" marL="0">
              <a:buNone/>
            </a:pPr>
            <a:r>
              <a:rPr lang="en-US" sz="1400" b="1" dirty="0">
                <a:solidFill>
                  <a:schemeClr val="bg1"/>
                </a:solidFill>
              </a:rPr>
              <a:t>2  Submit documents</a:t>
            </a:r>
            <a:endParaRPr lang="en-US" sz="1400" dirty="0"/>
          </a:p>
        </p:txBody>
      </p:sp>
      <p:pic>
        <p:nvPicPr>
          <p:cNvPr id="36" name="Image 7" descr="preencoded.png">    </p:cNvPr>
          <p:cNvPicPr>
            <a:picLocks noChangeAspect="1"/>
          </p:cNvPicPr>
          <p:nvPr/>
        </p:nvPicPr>
        <p:blipFill>
          <a:blip r:embed="rId8"/>
          <a:stretch>
            <a:fillRect/>
          </a:stretch>
        </p:blipFill>
        <p:spPr>
          <a:xfrm>
            <a:off x="4480103" y="3977640"/>
            <a:ext cx="182880" cy="182880"/>
          </a:xfrm>
          <a:prstGeom prst="rect">
            <a:avLst/>
          </a:prstGeom>
        </p:spPr>
      </p:pic>
      <p:sp>
        <p:nvSpPr>
          <p:cNvPr id="37" name="Shape 26"/>
          <p:cNvSpPr/>
          <p:nvPr/>
        </p:nvSpPr>
        <p:spPr>
          <a:xfrm>
            <a:off x="4723790" y="3749040"/>
            <a:ext cx="1828800" cy="640080"/>
          </a:xfrm>
          <a:prstGeom prst="roundRect">
            <a:avLst>
              <a:gd name="adj" fmla="val 11429"/>
            </a:avLst>
          </a:prstGeom>
          <a:solidFill>
            <a:schemeClr val="accent4"/>
          </a:solidFill>
          <a:ln/>
        </p:spPr>
      </p:sp>
      <p:sp>
        <p:nvSpPr>
          <p:cNvPr id="38" name="Text 27"/>
          <p:cNvSpPr txBox="1"/>
          <p:nvPr/>
        </p:nvSpPr>
        <p:spPr>
          <a:xfrm>
            <a:off x="4723790" y="3749040"/>
            <a:ext cx="1828800" cy="640080"/>
          </a:xfrm>
          <a:prstGeom prst="rect">
            <a:avLst/>
          </a:prstGeom>
          <a:noFill/>
          <a:ln/>
        </p:spPr>
        <p:txBody>
          <a:bodyPr wrap="square" lIns="0" tIns="0" rIns="0" bIns="0" rtlCol="0" anchor="ctr"/>
          <a:lstStyle/>
          <a:p>
            <a:pPr algn="ctr" indent="0" marL="0">
              <a:buNone/>
            </a:pPr>
            <a:r>
              <a:rPr lang="en-US" sz="1400" b="1" dirty="0">
                <a:solidFill>
                  <a:schemeClr val="bg1"/>
                </a:solidFill>
              </a:rPr>
              <a:t>3  Admin review</a:t>
            </a:r>
            <a:endParaRPr lang="en-US" sz="1400" dirty="0"/>
          </a:p>
        </p:txBody>
      </p:sp>
      <p:pic>
        <p:nvPicPr>
          <p:cNvPr id="39" name="Image 8" descr="preencoded.png">    </p:cNvPr>
          <p:cNvPicPr>
            <a:picLocks noChangeAspect="1"/>
          </p:cNvPicPr>
          <p:nvPr/>
        </p:nvPicPr>
        <p:blipFill>
          <a:blip r:embed="rId9"/>
          <a:stretch>
            <a:fillRect/>
          </a:stretch>
        </p:blipFill>
        <p:spPr>
          <a:xfrm>
            <a:off x="6613398" y="3977640"/>
            <a:ext cx="182880" cy="182880"/>
          </a:xfrm>
          <a:prstGeom prst="rect">
            <a:avLst/>
          </a:prstGeom>
        </p:spPr>
      </p:pic>
      <p:sp>
        <p:nvSpPr>
          <p:cNvPr id="40" name="Shape 28"/>
          <p:cNvSpPr/>
          <p:nvPr/>
        </p:nvSpPr>
        <p:spPr>
          <a:xfrm>
            <a:off x="6858000" y="3749040"/>
            <a:ext cx="914400" cy="640080"/>
          </a:xfrm>
          <a:prstGeom prst="roundRect">
            <a:avLst>
              <a:gd name="adj" fmla="val 11429"/>
            </a:avLst>
          </a:prstGeom>
          <a:solidFill>
            <a:schemeClr val="accent3"/>
          </a:solidFill>
          <a:ln/>
        </p:spPr>
      </p:sp>
      <p:sp>
        <p:nvSpPr>
          <p:cNvPr id="41" name="Text 29"/>
          <p:cNvSpPr txBox="1"/>
          <p:nvPr/>
        </p:nvSpPr>
        <p:spPr>
          <a:xfrm>
            <a:off x="6858000" y="3749040"/>
            <a:ext cx="914400" cy="640080"/>
          </a:xfrm>
          <a:prstGeom prst="rect">
            <a:avLst/>
          </a:prstGeom>
          <a:noFill/>
          <a:ln/>
        </p:spPr>
        <p:txBody>
          <a:bodyPr wrap="square" lIns="0" tIns="0" rIns="0" bIns="0" rtlCol="0" anchor="ctr"/>
          <a:lstStyle/>
          <a:p>
            <a:pPr algn="ctr" indent="0" marL="0">
              <a:buNone/>
            </a:pPr>
            <a:r>
              <a:rPr lang="en-US" sz="1400" b="1" dirty="0">
                <a:solidFill>
                  <a:schemeClr val="bg1"/>
                </a:solidFill>
              </a:rPr>
              <a:t>Verified</a:t>
            </a:r>
            <a:endParaRPr lang="en-US" sz="1400" dirty="0"/>
          </a:p>
        </p:txBody>
      </p:sp>
      <p:sp>
        <p:nvSpPr>
          <p:cNvPr id="42" name="Shape 30"/>
          <p:cNvSpPr/>
          <p:nvPr/>
        </p:nvSpPr>
        <p:spPr>
          <a:xfrm>
            <a:off x="7818120" y="3749040"/>
            <a:ext cx="868680" cy="640080"/>
          </a:xfrm>
          <a:prstGeom prst="roundRect">
            <a:avLst>
              <a:gd name="adj" fmla="val 11429"/>
            </a:avLst>
          </a:prstGeom>
          <a:solidFill>
            <a:schemeClr val="accent1"/>
          </a:solidFill>
          <a:ln/>
        </p:spPr>
      </p:sp>
      <p:sp>
        <p:nvSpPr>
          <p:cNvPr id="43" name="Text 31"/>
          <p:cNvSpPr txBox="1"/>
          <p:nvPr/>
        </p:nvSpPr>
        <p:spPr>
          <a:xfrm>
            <a:off x="7818120" y="3749040"/>
            <a:ext cx="868680" cy="640080"/>
          </a:xfrm>
          <a:prstGeom prst="rect">
            <a:avLst/>
          </a:prstGeom>
          <a:noFill/>
          <a:ln/>
        </p:spPr>
        <p:txBody>
          <a:bodyPr wrap="square" lIns="0" tIns="0" rIns="0" bIns="0" rtlCol="0" anchor="ctr"/>
          <a:lstStyle/>
          <a:p>
            <a:pPr algn="ctr" indent="0" marL="0">
              <a:buNone/>
            </a:pPr>
            <a:r>
              <a:rPr lang="en-US" sz="1400" b="1" dirty="0">
                <a:solidFill>
                  <a:schemeClr val="bg1"/>
                </a:solidFill>
              </a:rPr>
              <a:t>Rejected</a:t>
            </a:r>
            <a:endParaRPr lang="en-US" sz="1400" dirty="0"/>
          </a:p>
        </p:txBody>
      </p:sp>
      <p:sp>
        <p:nvSpPr>
          <p:cNvPr id="44" name="Text 32"/>
          <p:cNvSpPr txBox="1"/>
          <p:nvPr/>
        </p:nvSpPr>
        <p:spPr>
          <a:xfrm>
            <a:off x="457200" y="4498848"/>
            <a:ext cx="8229600" cy="256032"/>
          </a:xfrm>
          <a:prstGeom prst="rect">
            <a:avLst/>
          </a:prstGeom>
          <a:noFill/>
          <a:ln/>
        </p:spPr>
        <p:txBody>
          <a:bodyPr wrap="square" lIns="0" tIns="0" rIns="0" bIns="0" rtlCol="0" anchor="t"/>
          <a:lstStyle/>
          <a:p>
            <a:pPr indent="0" marL="0">
              <a:buNone/>
            </a:pPr>
            <a:r>
              <a:rPr lang="en-US" sz="1400" i="1" dirty="0">
                <a:solidFill>
                  <a:srgbClr val="5A6C72"/>
                </a:solidFill>
              </a:rPr>
              <a:t>Verification protects survivors from untrusted responders and keeps the map meaningful.</a:t>
            </a:r>
            <a:endParaRPr lang="en-US" sz="14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7A8A8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19456"/>
            <a:ext cx="548640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11  |  ARCHITECTURE AND SECURITY</a:t>
            </a:r>
            <a:endParaRPr lang="en-US" sz="1100" dirty="0"/>
          </a:p>
        </p:txBody>
      </p:sp>
      <p:sp>
        <p:nvSpPr>
          <p:cNvPr id="4" name="Text 0"/>
          <p:cNvSpPr/>
          <p:nvPr>
            <p:ph idx="100" type="title" hasCustomPrompt="1"/>
          </p:nvPr>
        </p:nvSpPr>
        <p:spPr>
          <a:xfrm>
            <a:off x="457200" y="420624"/>
            <a:ext cx="8229600" cy="566928"/>
          </a:xfrm>
          <a:prstGeom prst="rect">
            <a:avLst/>
          </a:prstGeom>
          <a:noFill/>
          <a:ln/>
        </p:spPr>
        <p:txBody>
          <a:bodyPr wrap="square" lIns="0" tIns="0" rIns="0" bIns="0" rtlCol="0" anchor="ctr"/>
          <a:lstStyle/>
          <a:p>
            <a:pPr algn="l" indent="0" marL="0">
              <a:buNone/>
            </a:pPr>
            <a:r>
              <a:rPr lang="en-US" sz="2800" b="1" dirty="0">
                <a:solidFill>
                  <a:schemeClr val="tx1"/>
                </a:solidFill>
              </a:rPr>
              <a:t>Technical Architecture and Security</a:t>
            </a:r>
            <a:endParaRPr lang="en-US" sz="2800" dirty="0"/>
          </a:p>
        </p:txBody>
      </p:sp>
      <p:sp>
        <p:nvSpPr>
          <p:cNvPr id="5" name="Shape 2"/>
          <p:cNvSpPr/>
          <p:nvPr/>
        </p:nvSpPr>
        <p:spPr>
          <a:xfrm>
            <a:off x="457200" y="1143000"/>
            <a:ext cx="2011680" cy="502920"/>
          </a:xfrm>
          <a:prstGeom prst="roundRect">
            <a:avLst>
              <a:gd name="adj" fmla="val 14545"/>
            </a:avLst>
          </a:prstGeom>
          <a:solidFill>
            <a:schemeClr val="accent4"/>
          </a:solidFill>
          <a:ln/>
        </p:spPr>
      </p:sp>
      <p:sp>
        <p:nvSpPr>
          <p:cNvPr id="6" name="Text 3"/>
          <p:cNvSpPr txBox="1"/>
          <p:nvPr/>
        </p:nvSpPr>
        <p:spPr>
          <a:xfrm>
            <a:off x="457200" y="1143000"/>
            <a:ext cx="2011680" cy="502920"/>
          </a:xfrm>
          <a:prstGeom prst="rect">
            <a:avLst/>
          </a:prstGeom>
          <a:noFill/>
          <a:ln/>
        </p:spPr>
        <p:txBody>
          <a:bodyPr wrap="square" lIns="0" tIns="0" rIns="0" bIns="0" rtlCol="0" anchor="ctr"/>
          <a:lstStyle/>
          <a:p>
            <a:pPr algn="ctr" indent="0" marL="0">
              <a:buNone/>
            </a:pPr>
            <a:r>
              <a:rPr lang="en-US" sz="1400" b="1" dirty="0">
                <a:solidFill>
                  <a:schemeClr val="bg1"/>
                </a:solidFill>
              </a:rPr>
              <a:t>React client</a:t>
            </a:r>
            <a:endParaRPr lang="en-US" sz="1400" dirty="0"/>
          </a:p>
        </p:txBody>
      </p:sp>
      <p:sp>
        <p:nvSpPr>
          <p:cNvPr id="7" name="Shape 4"/>
          <p:cNvSpPr/>
          <p:nvPr/>
        </p:nvSpPr>
        <p:spPr>
          <a:xfrm>
            <a:off x="2926080" y="1143000"/>
            <a:ext cx="2651760" cy="502920"/>
          </a:xfrm>
          <a:prstGeom prst="roundRect">
            <a:avLst>
              <a:gd name="adj" fmla="val 14545"/>
            </a:avLst>
          </a:prstGeom>
          <a:solidFill>
            <a:schemeClr val="accent3"/>
          </a:solidFill>
          <a:ln/>
        </p:spPr>
      </p:sp>
      <p:sp>
        <p:nvSpPr>
          <p:cNvPr id="8" name="Text 5"/>
          <p:cNvSpPr txBox="1"/>
          <p:nvPr/>
        </p:nvSpPr>
        <p:spPr>
          <a:xfrm>
            <a:off x="2926080" y="1143000"/>
            <a:ext cx="2651760" cy="502920"/>
          </a:xfrm>
          <a:prstGeom prst="rect">
            <a:avLst/>
          </a:prstGeom>
          <a:noFill/>
          <a:ln/>
        </p:spPr>
        <p:txBody>
          <a:bodyPr wrap="square" lIns="0" tIns="0" rIns="0" bIns="0" rtlCol="0" anchor="ctr"/>
          <a:lstStyle/>
          <a:p>
            <a:pPr algn="ctr" indent="0" marL="0">
              <a:buNone/>
            </a:pPr>
            <a:r>
              <a:rPr lang="en-US" sz="1400" b="1" dirty="0">
                <a:solidFill>
                  <a:schemeClr val="bg1"/>
                </a:solidFill>
              </a:rPr>
              <a:t>Express API + Socket.io</a:t>
            </a:r>
            <a:endParaRPr lang="en-US" sz="1400" dirty="0"/>
          </a:p>
        </p:txBody>
      </p:sp>
      <p:sp>
        <p:nvSpPr>
          <p:cNvPr id="9" name="Shape 6"/>
          <p:cNvSpPr/>
          <p:nvPr/>
        </p:nvSpPr>
        <p:spPr>
          <a:xfrm>
            <a:off x="6035040" y="1143000"/>
            <a:ext cx="2651760" cy="502920"/>
          </a:xfrm>
          <a:prstGeom prst="roundRect">
            <a:avLst>
              <a:gd name="adj" fmla="val 14545"/>
            </a:avLst>
          </a:prstGeom>
          <a:solidFill>
            <a:schemeClr val="tx2"/>
          </a:solidFill>
          <a:ln/>
        </p:spPr>
      </p:sp>
      <p:sp>
        <p:nvSpPr>
          <p:cNvPr id="10" name="Text 7"/>
          <p:cNvSpPr txBox="1"/>
          <p:nvPr/>
        </p:nvSpPr>
        <p:spPr>
          <a:xfrm>
            <a:off x="6035040" y="1143000"/>
            <a:ext cx="2651760" cy="502920"/>
          </a:xfrm>
          <a:prstGeom prst="rect">
            <a:avLst/>
          </a:prstGeom>
          <a:noFill/>
          <a:ln/>
        </p:spPr>
        <p:txBody>
          <a:bodyPr wrap="square" lIns="0" tIns="0" rIns="0" bIns="0" rtlCol="0" anchor="ctr"/>
          <a:lstStyle/>
          <a:p>
            <a:pPr algn="ctr" indent="0" marL="0">
              <a:buNone/>
            </a:pPr>
            <a:r>
              <a:rPr lang="en-US" sz="1400" b="1" dirty="0">
                <a:solidFill>
                  <a:schemeClr val="bg1"/>
                </a:solidFill>
              </a:rPr>
              <a:t>MongoDB + scheduled services</a:t>
            </a:r>
            <a:endParaRPr lang="en-US" sz="1400" dirty="0"/>
          </a:p>
        </p:txBody>
      </p:sp>
      <p:pic>
        <p:nvPicPr>
          <p:cNvPr id="11" name="Image 0" descr="preencoded.png">    </p:cNvPr>
          <p:cNvPicPr>
            <a:picLocks noChangeAspect="1"/>
          </p:cNvPicPr>
          <p:nvPr/>
        </p:nvPicPr>
        <p:blipFill>
          <a:blip r:embed="rId1"/>
          <a:stretch>
            <a:fillRect/>
          </a:stretch>
        </p:blipFill>
        <p:spPr>
          <a:xfrm>
            <a:off x="2587752" y="1284732"/>
            <a:ext cx="219456" cy="219456"/>
          </a:xfrm>
          <a:prstGeom prst="rect">
            <a:avLst/>
          </a:prstGeom>
        </p:spPr>
      </p:pic>
      <p:pic>
        <p:nvPicPr>
          <p:cNvPr id="12" name="Image 1" descr="preencoded.png">    </p:cNvPr>
          <p:cNvPicPr>
            <a:picLocks noChangeAspect="1"/>
          </p:cNvPicPr>
          <p:nvPr/>
        </p:nvPicPr>
        <p:blipFill>
          <a:blip r:embed="rId2"/>
          <a:stretch>
            <a:fillRect/>
          </a:stretch>
        </p:blipFill>
        <p:spPr>
          <a:xfrm>
            <a:off x="5696712" y="1284732"/>
            <a:ext cx="219456" cy="219456"/>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4389120" cy="914400"/>
        </p:xfrm>
        <a:graphic>
          <a:graphicData uri="http://schemas.openxmlformats.org/drawingml/2006/table">
            <a:tbl>
              <a:tblPr/>
              <a:tblGrid>
                <a:gridCol w="914400"/>
                <a:gridCol w="3474720"/>
              </a:tblGrid>
              <a:tr h="301752">
                <a:tc>
                  <a:txBody>
                    <a:bodyPr/>
                    <a:lstStyle/>
                    <a:p>
                      <a:pPr indent="0" marL="0">
                        <a:buNone/>
                      </a:pPr>
                      <a:r>
                        <a:rPr lang="en-US" sz="1200" b="1" dirty="0">
                          <a:solidFill>
                            <a:srgbClr val="FFFFFF"/>
                          </a:solidFill>
                        </a:rPr>
                        <a:t>Layer</a:t>
                      </a:r>
                      <a:endParaRPr lang="en-US" sz="12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4350"/>
                    </a:solidFill>
                  </a:tcPr>
                </a:tc>
                <a:tc>
                  <a:txBody>
                    <a:bodyPr/>
                    <a:lstStyle/>
                    <a:p>
                      <a:pPr indent="0" marL="0">
                        <a:buNone/>
                      </a:pPr>
                      <a:r>
                        <a:rPr lang="en-US" sz="1200" b="1" dirty="0">
                          <a:solidFill>
                            <a:srgbClr val="FFFFFF"/>
                          </a:solidFill>
                        </a:rPr>
                        <a:t>Technology</a:t>
                      </a:r>
                      <a:endParaRPr lang="en-US" sz="12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4350"/>
                    </a:solidFill>
                  </a:tcPr>
                </a:tc>
              </a:tr>
              <a:tr h="566928">
                <a:tc>
                  <a:txBody>
                    <a:bodyPr/>
                    <a:lstStyle/>
                    <a:p>
                      <a:pPr indent="0" marL="0">
                        <a:buNone/>
                      </a:pPr>
                      <a:r>
                        <a:rPr lang="en-US" sz="1200" b="1" dirty="0">
                          <a:solidFill>
                            <a:srgbClr val="1F4350"/>
                          </a:solidFill>
                        </a:rPr>
                        <a:t>Frontend</a:t>
                      </a:r>
                      <a:endParaRPr lang="en-US" sz="12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4"/>
                    </a:solidFill>
                  </a:tcPr>
                </a:tc>
                <a:tc>
                  <a:txBody>
                    <a:bodyPr/>
                    <a:lstStyle/>
                    <a:p>
                      <a:pPr indent="0" marL="0">
                        <a:buNone/>
                      </a:pPr>
                      <a:r>
                        <a:rPr lang="en-US" sz="1200" dirty="0">
                          <a:solidFill>
                            <a:srgbClr val="10252B"/>
                          </a:solidFill>
                        </a:rPr>
                        <a:t>React, Vite, Tailwind CSS, React Router (role-based routes), Leaflet + OpenStreetMap, Recharts</a:t>
                      </a:r>
                      <a:endParaRPr lang="en-US" sz="12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4"/>
                    </a:solidFill>
                  </a:tcPr>
                </a:tc>
              </a:tr>
              <a:tr h="566928">
                <a:tc>
                  <a:txBody>
                    <a:bodyPr/>
                    <a:lstStyle/>
                    <a:p>
                      <a:pPr indent="0" marL="0">
                        <a:buNone/>
                      </a:pPr>
                      <a:r>
                        <a:rPr lang="en-US" sz="1200" b="1" dirty="0">
                          <a:solidFill>
                            <a:srgbClr val="1F4350"/>
                          </a:solidFill>
                        </a:rPr>
                        <a:t>Backend</a:t>
                      </a:r>
                      <a:endParaRPr lang="en-US" sz="12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4"/>
                    </a:solidFill>
                  </a:tcPr>
                </a:tc>
                <a:tc>
                  <a:txBody>
                    <a:bodyPr/>
                    <a:lstStyle/>
                    <a:p>
                      <a:pPr indent="0" marL="0">
                        <a:buNone/>
                      </a:pPr>
                      <a:r>
                        <a:rPr lang="en-US" sz="1200" dirty="0">
                          <a:solidFill>
                            <a:srgbClr val="10252B"/>
                          </a:solidFill>
                        </a:rPr>
                        <a:t>Node.js, Express REST API (/api/v1), Socket.io, Multer (+ optional Cloudinary), Node-cron</a:t>
                      </a:r>
                      <a:endParaRPr lang="en-US" sz="12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4"/>
                    </a:solidFill>
                  </a:tcPr>
                </a:tc>
              </a:tr>
              <a:tr h="411480">
                <a:tc>
                  <a:txBody>
                    <a:bodyPr/>
                    <a:lstStyle/>
                    <a:p>
                      <a:pPr indent="0" marL="0">
                        <a:buNone/>
                      </a:pPr>
                      <a:r>
                        <a:rPr lang="en-US" sz="1200" b="1" dirty="0">
                          <a:solidFill>
                            <a:srgbClr val="1F4350"/>
                          </a:solidFill>
                        </a:rPr>
                        <a:t>Database</a:t>
                      </a:r>
                      <a:endParaRPr lang="en-US" sz="12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4"/>
                    </a:solidFill>
                  </a:tcPr>
                </a:tc>
                <a:tc>
                  <a:txBody>
                    <a:bodyPr/>
                    <a:lstStyle/>
                    <a:p>
                      <a:pPr indent="0" marL="0">
                        <a:buNone/>
                      </a:pPr>
                      <a:r>
                        <a:rPr lang="en-US" sz="1200" dirty="0">
                          <a:solidFill>
                            <a:srgbClr val="10252B"/>
                          </a:solidFill>
                        </a:rPr>
                        <a:t>MongoDB with Mongoose, 2dsphere geospatial indexes</a:t>
                      </a:r>
                      <a:endParaRPr lang="en-US" sz="12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4"/>
                    </a:solidFill>
                  </a:tcPr>
                </a:tc>
              </a:tr>
            </a:tbl>
          </a:graphicData>
        </a:graphic>
      </p:graphicFrame>
      <p:sp>
        <p:nvSpPr>
          <p:cNvPr id="14" name="Shape 8"/>
          <p:cNvSpPr/>
          <p:nvPr/>
        </p:nvSpPr>
        <p:spPr>
          <a:xfrm>
            <a:off x="457200" y="3840480"/>
            <a:ext cx="4389120" cy="868680"/>
          </a:xfrm>
          <a:prstGeom prst="roundRect">
            <a:avLst>
              <a:gd name="adj" fmla="val 8421"/>
            </a:avLst>
          </a:prstGeom>
          <a:solidFill>
            <a:schemeClr val="accent3">
              <a:alpha val="18000"/>
            </a:schemeClr>
          </a:solidFill>
          <a:ln/>
        </p:spPr>
      </p:sp>
      <p:sp>
        <p:nvSpPr>
          <p:cNvPr id="15" name="Shape 9"/>
          <p:cNvSpPr/>
          <p:nvPr/>
        </p:nvSpPr>
        <p:spPr>
          <a:xfrm>
            <a:off x="594360" y="4050792"/>
            <a:ext cx="438912" cy="438912"/>
          </a:xfrm>
          <a:prstGeom prst="ellipse">
            <a:avLst/>
          </a:prstGeom>
          <a:solidFill>
            <a:schemeClr val="accent3"/>
          </a:solidFill>
          <a:ln/>
        </p:spPr>
      </p:sp>
      <p:pic>
        <p:nvPicPr>
          <p:cNvPr id="16" name="Image 2" descr="preencoded.png">    </p:cNvPr>
          <p:cNvPicPr>
            <a:picLocks noChangeAspect="1"/>
          </p:cNvPicPr>
          <p:nvPr/>
        </p:nvPicPr>
        <p:blipFill>
          <a:blip r:embed="rId3"/>
          <a:stretch>
            <a:fillRect/>
          </a:stretch>
        </p:blipFill>
        <p:spPr>
          <a:xfrm>
            <a:off x="704088" y="4160520"/>
            <a:ext cx="219456" cy="219456"/>
          </a:xfrm>
          <a:prstGeom prst="rect">
            <a:avLst/>
          </a:prstGeom>
        </p:spPr>
      </p:pic>
      <p:sp>
        <p:nvSpPr>
          <p:cNvPr id="17" name="Text 10"/>
          <p:cNvSpPr txBox="1"/>
          <p:nvPr/>
        </p:nvSpPr>
        <p:spPr>
          <a:xfrm>
            <a:off x="1188720" y="3840480"/>
            <a:ext cx="3566160" cy="868680"/>
          </a:xfrm>
          <a:prstGeom prst="rect">
            <a:avLst/>
          </a:prstGeom>
          <a:noFill/>
          <a:ln/>
        </p:spPr>
        <p:txBody>
          <a:bodyPr wrap="square" lIns="0" tIns="0" rIns="0" bIns="0" rtlCol="0" anchor="ctr"/>
          <a:lstStyle/>
          <a:p>
            <a:pPr indent="0" marL="0">
              <a:buNone/>
            </a:pPr>
            <a:r>
              <a:rPr lang="en-US" sz="1300" dirty="0">
                <a:solidFill>
                  <a:schemeClr val="tx1"/>
                </a:solidFill>
              </a:rPr>
              <a:t>The backend is the source of truth for authentication, roles, verification, and data access.</a:t>
            </a:r>
            <a:endParaRPr lang="en-US" sz="1300" dirty="0"/>
          </a:p>
        </p:txBody>
      </p:sp>
      <p:sp>
        <p:nvSpPr>
          <p:cNvPr id="18" name="Shape 11"/>
          <p:cNvSpPr/>
          <p:nvPr/>
        </p:nvSpPr>
        <p:spPr>
          <a:xfrm>
            <a:off x="5120640" y="1783080"/>
            <a:ext cx="3566160" cy="2926080"/>
          </a:xfrm>
          <a:prstGeom prst="roundRect">
            <a:avLst>
              <a:gd name="adj" fmla="val 2500"/>
            </a:avLst>
          </a:prstGeom>
          <a:solidFill>
            <a:schemeClr val="tx1"/>
          </a:solidFill>
          <a:ln/>
        </p:spPr>
      </p:sp>
      <p:sp>
        <p:nvSpPr>
          <p:cNvPr id="19" name="Text 12"/>
          <p:cNvSpPr txBox="1"/>
          <p:nvPr/>
        </p:nvSpPr>
        <p:spPr>
          <a:xfrm>
            <a:off x="5349240" y="1892808"/>
            <a:ext cx="2743200" cy="274320"/>
          </a:xfrm>
          <a:prstGeom prst="rect">
            <a:avLst/>
          </a:prstGeom>
          <a:noFill/>
          <a:ln/>
        </p:spPr>
        <p:txBody>
          <a:bodyPr wrap="square" lIns="0" tIns="0" rIns="0" bIns="0" rtlCol="0" anchor="t"/>
          <a:lstStyle/>
          <a:p>
            <a:pPr indent="0" marL="0">
              <a:buNone/>
            </a:pPr>
            <a:r>
              <a:rPr lang="en-US" sz="1600" b="1" dirty="0">
                <a:solidFill>
                  <a:schemeClr val="accent6"/>
                </a:solidFill>
              </a:rPr>
              <a:t>Security</a:t>
            </a:r>
            <a:endParaRPr lang="en-US" sz="1600" dirty="0"/>
          </a:p>
        </p:txBody>
      </p:sp>
      <p:pic>
        <p:nvPicPr>
          <p:cNvPr id="20" name="Image 3" descr="preencoded.png">    </p:cNvPr>
          <p:cNvPicPr>
            <a:picLocks noChangeAspect="1"/>
          </p:cNvPicPr>
          <p:nvPr/>
        </p:nvPicPr>
        <p:blipFill>
          <a:blip r:embed="rId4"/>
          <a:stretch>
            <a:fillRect/>
          </a:stretch>
        </p:blipFill>
        <p:spPr>
          <a:xfrm>
            <a:off x="5349240" y="2313432"/>
            <a:ext cx="182880" cy="182880"/>
          </a:xfrm>
          <a:prstGeom prst="rect">
            <a:avLst/>
          </a:prstGeom>
        </p:spPr>
      </p:pic>
      <p:sp>
        <p:nvSpPr>
          <p:cNvPr id="21" name="Text 13"/>
          <p:cNvSpPr txBox="1"/>
          <p:nvPr/>
        </p:nvSpPr>
        <p:spPr>
          <a:xfrm>
            <a:off x="5669280" y="2286000"/>
            <a:ext cx="2880360" cy="265176"/>
          </a:xfrm>
          <a:prstGeom prst="rect">
            <a:avLst/>
          </a:prstGeom>
          <a:noFill/>
          <a:ln/>
        </p:spPr>
        <p:txBody>
          <a:bodyPr wrap="square" lIns="0" tIns="0" rIns="0" bIns="0" rtlCol="0" anchor="t"/>
          <a:lstStyle/>
          <a:p>
            <a:pPr indent="0" marL="0">
              <a:buNone/>
            </a:pPr>
            <a:r>
              <a:rPr lang="en-US" sz="1400" dirty="0">
                <a:solidFill>
                  <a:schemeClr val="bg1"/>
                </a:solidFill>
              </a:rPr>
              <a:t>JWT access and refresh tokens</a:t>
            </a:r>
            <a:endParaRPr lang="en-US" sz="1400" dirty="0"/>
          </a:p>
        </p:txBody>
      </p:sp>
      <p:pic>
        <p:nvPicPr>
          <p:cNvPr id="22" name="Image 4" descr="preencoded.png">    </p:cNvPr>
          <p:cNvPicPr>
            <a:picLocks noChangeAspect="1"/>
          </p:cNvPicPr>
          <p:nvPr/>
        </p:nvPicPr>
        <p:blipFill>
          <a:blip r:embed="rId5"/>
          <a:stretch>
            <a:fillRect/>
          </a:stretch>
        </p:blipFill>
        <p:spPr>
          <a:xfrm>
            <a:off x="5349240" y="2670048"/>
            <a:ext cx="182880" cy="182880"/>
          </a:xfrm>
          <a:prstGeom prst="rect">
            <a:avLst/>
          </a:prstGeom>
        </p:spPr>
      </p:pic>
      <p:sp>
        <p:nvSpPr>
          <p:cNvPr id="23" name="Text 14"/>
          <p:cNvSpPr txBox="1"/>
          <p:nvPr/>
        </p:nvSpPr>
        <p:spPr>
          <a:xfrm>
            <a:off x="5669280" y="2642616"/>
            <a:ext cx="2880360" cy="265176"/>
          </a:xfrm>
          <a:prstGeom prst="rect">
            <a:avLst/>
          </a:prstGeom>
          <a:noFill/>
          <a:ln/>
        </p:spPr>
        <p:txBody>
          <a:bodyPr wrap="square" lIns="0" tIns="0" rIns="0" bIns="0" rtlCol="0" anchor="t"/>
          <a:lstStyle/>
          <a:p>
            <a:pPr indent="0" marL="0">
              <a:buNone/>
            </a:pPr>
            <a:r>
              <a:rPr lang="en-US" sz="1400" dirty="0">
                <a:solidFill>
                  <a:schemeClr val="bg1"/>
                </a:solidFill>
              </a:rPr>
              <a:t>bcrypt password hashing</a:t>
            </a:r>
            <a:endParaRPr lang="en-US" sz="1400" dirty="0"/>
          </a:p>
        </p:txBody>
      </p:sp>
      <p:pic>
        <p:nvPicPr>
          <p:cNvPr id="24" name="Image 5" descr="preencoded.png">    </p:cNvPr>
          <p:cNvPicPr>
            <a:picLocks noChangeAspect="1"/>
          </p:cNvPicPr>
          <p:nvPr/>
        </p:nvPicPr>
        <p:blipFill>
          <a:blip r:embed="rId6"/>
          <a:stretch>
            <a:fillRect/>
          </a:stretch>
        </p:blipFill>
        <p:spPr>
          <a:xfrm>
            <a:off x="5349240" y="3026664"/>
            <a:ext cx="182880" cy="182880"/>
          </a:xfrm>
          <a:prstGeom prst="rect">
            <a:avLst/>
          </a:prstGeom>
        </p:spPr>
      </p:pic>
      <p:sp>
        <p:nvSpPr>
          <p:cNvPr id="25" name="Text 15"/>
          <p:cNvSpPr txBox="1"/>
          <p:nvPr/>
        </p:nvSpPr>
        <p:spPr>
          <a:xfrm>
            <a:off x="5669280" y="2999232"/>
            <a:ext cx="2880360" cy="493776"/>
          </a:xfrm>
          <a:prstGeom prst="rect">
            <a:avLst/>
          </a:prstGeom>
          <a:noFill/>
          <a:ln/>
        </p:spPr>
        <p:txBody>
          <a:bodyPr wrap="square" lIns="0" tIns="0" rIns="0" bIns="0" rtlCol="0" anchor="t"/>
          <a:lstStyle/>
          <a:p>
            <a:pPr indent="0" marL="0">
              <a:buNone/>
            </a:pPr>
            <a:r>
              <a:rPr lang="en-US" sz="1400" dirty="0">
                <a:solidFill>
                  <a:schemeClr val="bg1"/>
                </a:solidFill>
              </a:rPr>
              <a:t>Backend role authorization (not just hidden frontend routes)</a:t>
            </a:r>
            <a:endParaRPr lang="en-US" sz="1400" dirty="0"/>
          </a:p>
        </p:txBody>
      </p:sp>
      <p:pic>
        <p:nvPicPr>
          <p:cNvPr id="26" name="Image 6" descr="preencoded.png">    </p:cNvPr>
          <p:cNvPicPr>
            <a:picLocks noChangeAspect="1"/>
          </p:cNvPicPr>
          <p:nvPr/>
        </p:nvPicPr>
        <p:blipFill>
          <a:blip r:embed="rId7"/>
          <a:stretch>
            <a:fillRect/>
          </a:stretch>
        </p:blipFill>
        <p:spPr>
          <a:xfrm>
            <a:off x="5349240" y="3611880"/>
            <a:ext cx="182880" cy="182880"/>
          </a:xfrm>
          <a:prstGeom prst="rect">
            <a:avLst/>
          </a:prstGeom>
        </p:spPr>
      </p:pic>
      <p:sp>
        <p:nvSpPr>
          <p:cNvPr id="27" name="Text 16"/>
          <p:cNvSpPr txBox="1"/>
          <p:nvPr/>
        </p:nvSpPr>
        <p:spPr>
          <a:xfrm>
            <a:off x="5669280" y="3584448"/>
            <a:ext cx="2880360" cy="493776"/>
          </a:xfrm>
          <a:prstGeom prst="rect">
            <a:avLst/>
          </a:prstGeom>
          <a:noFill/>
          <a:ln/>
        </p:spPr>
        <p:txBody>
          <a:bodyPr wrap="square" lIns="0" tIns="0" rIns="0" bIns="0" rtlCol="0" anchor="t"/>
          <a:lstStyle/>
          <a:p>
            <a:pPr indent="0" marL="0">
              <a:buNone/>
            </a:pPr>
            <a:r>
              <a:rPr lang="en-US" sz="1400" dirty="0">
                <a:solidFill>
                  <a:schemeClr val="bg1"/>
                </a:solidFill>
              </a:rPr>
              <a:t>Helmet, CORS, rate limiting, input validation, upload checks</a:t>
            </a:r>
            <a:endParaRPr lang="en-US" sz="1400" dirty="0"/>
          </a:p>
        </p:txBody>
      </p:sp>
      <p:pic>
        <p:nvPicPr>
          <p:cNvPr id="28" name="Image 7" descr="preencoded.png">    </p:cNvPr>
          <p:cNvPicPr>
            <a:picLocks noChangeAspect="1"/>
          </p:cNvPicPr>
          <p:nvPr/>
        </p:nvPicPr>
        <p:blipFill>
          <a:blip r:embed="rId8"/>
          <a:stretch>
            <a:fillRect/>
          </a:stretch>
        </p:blipFill>
        <p:spPr>
          <a:xfrm>
            <a:off x="5349240" y="4197096"/>
            <a:ext cx="182880" cy="182880"/>
          </a:xfrm>
          <a:prstGeom prst="rect">
            <a:avLst/>
          </a:prstGeom>
        </p:spPr>
      </p:pic>
      <p:sp>
        <p:nvSpPr>
          <p:cNvPr id="29" name="Text 17"/>
          <p:cNvSpPr txBox="1"/>
          <p:nvPr/>
        </p:nvSpPr>
        <p:spPr>
          <a:xfrm>
            <a:off x="5669280" y="4169664"/>
            <a:ext cx="2880360" cy="493776"/>
          </a:xfrm>
          <a:prstGeom prst="rect">
            <a:avLst/>
          </a:prstGeom>
          <a:noFill/>
          <a:ln/>
        </p:spPr>
        <p:txBody>
          <a:bodyPr wrap="square" lIns="0" tIns="0" rIns="0" bIns="0" rtlCol="0" anchor="t"/>
          <a:lstStyle/>
          <a:p>
            <a:pPr indent="0" marL="0">
              <a:buNone/>
            </a:pPr>
            <a:r>
              <a:rPr lang="en-US" sz="1400" dirty="0">
                <a:solidFill>
                  <a:schemeClr val="bg1"/>
                </a:solidFill>
              </a:rPr>
              <a:t>Standardized success and error responses</a:t>
            </a:r>
            <a:endParaRPr lang="en-US" sz="14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7A8A8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19456"/>
            <a:ext cx="548640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12  |  DEMO, IMPACT, NEXT STEPS</a:t>
            </a:r>
            <a:endParaRPr lang="en-US" sz="1100" dirty="0"/>
          </a:p>
        </p:txBody>
      </p:sp>
      <p:sp>
        <p:nvSpPr>
          <p:cNvPr id="4" name="Text 0"/>
          <p:cNvSpPr/>
          <p:nvPr>
            <p:ph idx="100" type="title" hasCustomPrompt="1"/>
          </p:nvPr>
        </p:nvSpPr>
        <p:spPr>
          <a:xfrm>
            <a:off x="457200" y="420624"/>
            <a:ext cx="8229600" cy="566928"/>
          </a:xfrm>
          <a:prstGeom prst="rect">
            <a:avLst/>
          </a:prstGeom>
          <a:noFill/>
          <a:ln/>
        </p:spPr>
        <p:txBody>
          <a:bodyPr wrap="square" lIns="0" tIns="0" rIns="0" bIns="0" rtlCol="0" anchor="ctr"/>
          <a:lstStyle/>
          <a:p>
            <a:pPr algn="l" indent="0" marL="0">
              <a:buNone/>
            </a:pPr>
            <a:r>
              <a:rPr lang="en-US" sz="2800" b="1" dirty="0">
                <a:solidFill>
                  <a:schemeClr val="tx1"/>
                </a:solidFill>
              </a:rPr>
              <a:t>Demonstration, Impact, and Next Steps</a:t>
            </a:r>
            <a:endParaRPr lang="en-US" sz="2800" dirty="0"/>
          </a:p>
        </p:txBody>
      </p:sp>
      <p:sp>
        <p:nvSpPr>
          <p:cNvPr id="5" name="Demo card"/>
          <p:cNvSpPr/>
          <p:nvPr/>
        </p:nvSpPr>
        <p:spPr>
          <a:xfrm>
            <a:off x="457200" y="1143000"/>
            <a:ext cx="2834640" cy="3108960"/>
          </a:xfrm>
          <a:prstGeom prst="roundRect">
            <a:avLst>
              <a:gd name="adj" fmla="val 2581"/>
            </a:avLst>
          </a:prstGeom>
          <a:solidFill>
            <a:schemeClr val="bg2"/>
          </a:solidFill>
          <a:ln/>
        </p:spPr>
      </p:sp>
      <p:sp>
        <p:nvSpPr>
          <p:cNvPr id="6" name="Shape 3"/>
          <p:cNvSpPr/>
          <p:nvPr/>
        </p:nvSpPr>
        <p:spPr>
          <a:xfrm>
            <a:off x="594360" y="1252728"/>
            <a:ext cx="365760" cy="36576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685800" y="1344168"/>
            <a:ext cx="182880" cy="182880"/>
          </a:xfrm>
          <a:prstGeom prst="rect">
            <a:avLst/>
          </a:prstGeom>
        </p:spPr>
      </p:pic>
      <p:sp>
        <p:nvSpPr>
          <p:cNvPr id="8" name="Text 4"/>
          <p:cNvSpPr txBox="1"/>
          <p:nvPr/>
        </p:nvSpPr>
        <p:spPr>
          <a:xfrm>
            <a:off x="1051560" y="1252728"/>
            <a:ext cx="2103120" cy="365760"/>
          </a:xfrm>
          <a:prstGeom prst="rect">
            <a:avLst/>
          </a:prstGeom>
          <a:noFill/>
          <a:ln/>
        </p:spPr>
        <p:txBody>
          <a:bodyPr wrap="square" lIns="0" tIns="0" rIns="0" bIns="0" rtlCol="0" anchor="ctr"/>
          <a:lstStyle/>
          <a:p>
            <a:pPr indent="0" marL="0">
              <a:buNone/>
            </a:pPr>
            <a:r>
              <a:rPr lang="en-US" sz="1600" b="1" dirty="0">
                <a:solidFill>
                  <a:schemeClr val="tx1"/>
                </a:solidFill>
              </a:rPr>
              <a:t>Live demo</a:t>
            </a:r>
            <a:endParaRPr lang="en-US" sz="1600" dirty="0"/>
          </a:p>
        </p:txBody>
      </p:sp>
      <p:sp>
        <p:nvSpPr>
          <p:cNvPr id="9" name="Shape 5"/>
          <p:cNvSpPr/>
          <p:nvPr/>
        </p:nvSpPr>
        <p:spPr>
          <a:xfrm>
            <a:off x="594360" y="1801368"/>
            <a:ext cx="274320" cy="274320"/>
          </a:xfrm>
          <a:prstGeom prst="ellipse">
            <a:avLst/>
          </a:prstGeom>
          <a:solidFill>
            <a:schemeClr val="tx2"/>
          </a:solidFill>
          <a:ln/>
        </p:spPr>
      </p:sp>
      <p:sp>
        <p:nvSpPr>
          <p:cNvPr id="10" name="Text 6"/>
          <p:cNvSpPr txBox="1"/>
          <p:nvPr/>
        </p:nvSpPr>
        <p:spPr>
          <a:xfrm>
            <a:off x="594360" y="180136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1" name="Text 7"/>
          <p:cNvSpPr txBox="1"/>
          <p:nvPr/>
        </p:nvSpPr>
        <p:spPr>
          <a:xfrm>
            <a:off x="1005840" y="1737360"/>
            <a:ext cx="2194560" cy="402336"/>
          </a:xfrm>
          <a:prstGeom prst="rect">
            <a:avLst/>
          </a:prstGeom>
          <a:noFill/>
          <a:ln/>
        </p:spPr>
        <p:txBody>
          <a:bodyPr wrap="square" lIns="0" tIns="0" rIns="0" bIns="0" rtlCol="0" anchor="ctr"/>
          <a:lstStyle/>
          <a:p>
            <a:pPr indent="0" marL="0">
              <a:buNone/>
            </a:pPr>
            <a:r>
              <a:rPr lang="en-US" sz="1400" dirty="0">
                <a:solidFill>
                  <a:schemeClr val="tx1"/>
                </a:solidFill>
              </a:rPr>
              <a:t>Survivor dashboard → trigger SOS</a:t>
            </a:r>
            <a:endParaRPr lang="en-US" sz="1400" dirty="0"/>
          </a:p>
        </p:txBody>
      </p:sp>
      <p:sp>
        <p:nvSpPr>
          <p:cNvPr id="12" name="Shape 8"/>
          <p:cNvSpPr/>
          <p:nvPr/>
        </p:nvSpPr>
        <p:spPr>
          <a:xfrm>
            <a:off x="594360" y="2212848"/>
            <a:ext cx="274320" cy="274320"/>
          </a:xfrm>
          <a:prstGeom prst="ellipse">
            <a:avLst/>
          </a:prstGeom>
          <a:solidFill>
            <a:schemeClr val="tx2"/>
          </a:solidFill>
          <a:ln/>
        </p:spPr>
      </p:sp>
      <p:sp>
        <p:nvSpPr>
          <p:cNvPr id="13" name="Text 9"/>
          <p:cNvSpPr txBox="1"/>
          <p:nvPr/>
        </p:nvSpPr>
        <p:spPr>
          <a:xfrm>
            <a:off x="594360" y="221284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4" name="Text 10"/>
          <p:cNvSpPr txBox="1"/>
          <p:nvPr/>
        </p:nvSpPr>
        <p:spPr>
          <a:xfrm>
            <a:off x="1005840" y="2148840"/>
            <a:ext cx="2194560" cy="402336"/>
          </a:xfrm>
          <a:prstGeom prst="rect">
            <a:avLst/>
          </a:prstGeom>
          <a:noFill/>
          <a:ln/>
        </p:spPr>
        <p:txBody>
          <a:bodyPr wrap="square" lIns="0" tIns="0" rIns="0" bIns="0" rtlCol="0" anchor="ctr"/>
          <a:lstStyle/>
          <a:p>
            <a:pPr indent="0" marL="0">
              <a:buNone/>
            </a:pPr>
            <a:r>
              <a:rPr lang="en-US" sz="1400" dirty="0">
                <a:solidFill>
                  <a:schemeClr val="tx1"/>
                </a:solidFill>
              </a:rPr>
              <a:t>GPS location, category, request creation</a:t>
            </a:r>
            <a:endParaRPr lang="en-US" sz="1400" dirty="0"/>
          </a:p>
        </p:txBody>
      </p:sp>
      <p:sp>
        <p:nvSpPr>
          <p:cNvPr id="15" name="Shape 11"/>
          <p:cNvSpPr/>
          <p:nvPr/>
        </p:nvSpPr>
        <p:spPr>
          <a:xfrm>
            <a:off x="594360" y="2624328"/>
            <a:ext cx="274320" cy="274320"/>
          </a:xfrm>
          <a:prstGeom prst="ellipse">
            <a:avLst/>
          </a:prstGeom>
          <a:solidFill>
            <a:schemeClr val="tx2"/>
          </a:solidFill>
          <a:ln/>
        </p:spPr>
      </p:sp>
      <p:sp>
        <p:nvSpPr>
          <p:cNvPr id="16" name="Text 12"/>
          <p:cNvSpPr txBox="1"/>
          <p:nvPr/>
        </p:nvSpPr>
        <p:spPr>
          <a:xfrm>
            <a:off x="594360" y="262432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7" name="Text 13"/>
          <p:cNvSpPr txBox="1"/>
          <p:nvPr/>
        </p:nvSpPr>
        <p:spPr>
          <a:xfrm>
            <a:off x="1005840" y="2560320"/>
            <a:ext cx="2194560" cy="402336"/>
          </a:xfrm>
          <a:prstGeom prst="rect">
            <a:avLst/>
          </a:prstGeom>
          <a:noFill/>
          <a:ln/>
        </p:spPr>
        <p:txBody>
          <a:bodyPr wrap="square" lIns="0" tIns="0" rIns="0" bIns="0" rtlCol="0" anchor="ctr"/>
          <a:lstStyle/>
          <a:p>
            <a:pPr indent="0" marL="0">
              <a:buNone/>
            </a:pPr>
            <a:r>
              <a:rPr lang="en-US" sz="1400" dirty="0">
                <a:solidFill>
                  <a:schemeClr val="tx1"/>
                </a:solidFill>
              </a:rPr>
              <a:t>Live map shows emergency marker</a:t>
            </a:r>
            <a:endParaRPr lang="en-US" sz="1400" dirty="0"/>
          </a:p>
        </p:txBody>
      </p:sp>
      <p:sp>
        <p:nvSpPr>
          <p:cNvPr id="18" name="Shape 14"/>
          <p:cNvSpPr/>
          <p:nvPr/>
        </p:nvSpPr>
        <p:spPr>
          <a:xfrm>
            <a:off x="594360" y="3035808"/>
            <a:ext cx="274320" cy="274320"/>
          </a:xfrm>
          <a:prstGeom prst="ellipse">
            <a:avLst/>
          </a:prstGeom>
          <a:solidFill>
            <a:schemeClr val="tx2"/>
          </a:solidFill>
          <a:ln/>
        </p:spPr>
      </p:sp>
      <p:sp>
        <p:nvSpPr>
          <p:cNvPr id="19" name="Text 15"/>
          <p:cNvSpPr txBox="1"/>
          <p:nvPr/>
        </p:nvSpPr>
        <p:spPr>
          <a:xfrm>
            <a:off x="594360" y="303580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0" name="Text 16"/>
          <p:cNvSpPr txBox="1"/>
          <p:nvPr/>
        </p:nvSpPr>
        <p:spPr>
          <a:xfrm>
            <a:off x="1005840" y="2971800"/>
            <a:ext cx="2194560" cy="402336"/>
          </a:xfrm>
          <a:prstGeom prst="rect">
            <a:avLst/>
          </a:prstGeom>
          <a:noFill/>
          <a:ln/>
        </p:spPr>
        <p:txBody>
          <a:bodyPr wrap="square" lIns="0" tIns="0" rIns="0" bIns="0" rtlCol="0" anchor="ctr"/>
          <a:lstStyle/>
          <a:p>
            <a:pPr indent="0" marL="0">
              <a:buNone/>
            </a:pPr>
            <a:r>
              <a:rPr lang="en-US" sz="1400" dirty="0">
                <a:solidFill>
                  <a:schemeClr val="tx1"/>
                </a:solidFill>
              </a:rPr>
              <a:t>Volunteer logs in and accepts the task</a:t>
            </a:r>
            <a:endParaRPr lang="en-US" sz="1400" dirty="0"/>
          </a:p>
        </p:txBody>
      </p:sp>
      <p:sp>
        <p:nvSpPr>
          <p:cNvPr id="21" name="Shape 17"/>
          <p:cNvSpPr/>
          <p:nvPr/>
        </p:nvSpPr>
        <p:spPr>
          <a:xfrm>
            <a:off x="594360" y="3447288"/>
            <a:ext cx="274320" cy="274320"/>
          </a:xfrm>
          <a:prstGeom prst="ellipse">
            <a:avLst/>
          </a:prstGeom>
          <a:solidFill>
            <a:schemeClr val="tx2"/>
          </a:solidFill>
          <a:ln/>
        </p:spPr>
      </p:sp>
      <p:sp>
        <p:nvSpPr>
          <p:cNvPr id="22" name="Text 18"/>
          <p:cNvSpPr txBox="1"/>
          <p:nvPr/>
        </p:nvSpPr>
        <p:spPr>
          <a:xfrm>
            <a:off x="594360" y="344728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3" name="Text 19"/>
          <p:cNvSpPr txBox="1"/>
          <p:nvPr/>
        </p:nvSpPr>
        <p:spPr>
          <a:xfrm>
            <a:off x="1005840" y="3383280"/>
            <a:ext cx="2194560" cy="402336"/>
          </a:xfrm>
          <a:prstGeom prst="rect">
            <a:avLst/>
          </a:prstGeom>
          <a:noFill/>
          <a:ln/>
        </p:spPr>
        <p:txBody>
          <a:bodyPr wrap="square" lIns="0" tIns="0" rIns="0" bIns="0" rtlCol="0" anchor="ctr"/>
          <a:lstStyle/>
          <a:p>
            <a:pPr indent="0" marL="0">
              <a:buNone/>
            </a:pPr>
            <a:r>
              <a:rPr lang="en-US" sz="1400" dirty="0">
                <a:solidFill>
                  <a:schemeClr val="tx1"/>
                </a:solidFill>
              </a:rPr>
              <a:t>Status update → survivor timeline changes</a:t>
            </a:r>
            <a:endParaRPr lang="en-US" sz="1400" dirty="0"/>
          </a:p>
        </p:txBody>
      </p:sp>
      <p:sp>
        <p:nvSpPr>
          <p:cNvPr id="24" name="Shape 20"/>
          <p:cNvSpPr/>
          <p:nvPr/>
        </p:nvSpPr>
        <p:spPr>
          <a:xfrm>
            <a:off x="594360" y="3858768"/>
            <a:ext cx="274320" cy="274320"/>
          </a:xfrm>
          <a:prstGeom prst="ellipse">
            <a:avLst/>
          </a:prstGeom>
          <a:solidFill>
            <a:schemeClr val="tx2"/>
          </a:solidFill>
          <a:ln/>
        </p:spPr>
      </p:sp>
      <p:sp>
        <p:nvSpPr>
          <p:cNvPr id="25" name="Text 21"/>
          <p:cNvSpPr txBox="1"/>
          <p:nvPr/>
        </p:nvSpPr>
        <p:spPr>
          <a:xfrm>
            <a:off x="594360" y="385876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26" name="Text 22"/>
          <p:cNvSpPr txBox="1"/>
          <p:nvPr/>
        </p:nvSpPr>
        <p:spPr>
          <a:xfrm>
            <a:off x="1005840" y="3794760"/>
            <a:ext cx="2194560" cy="402336"/>
          </a:xfrm>
          <a:prstGeom prst="rect">
            <a:avLst/>
          </a:prstGeom>
          <a:noFill/>
          <a:ln/>
        </p:spPr>
        <p:txBody>
          <a:bodyPr wrap="square" lIns="0" tIns="0" rIns="0" bIns="0" rtlCol="0" anchor="ctr"/>
          <a:lstStyle/>
          <a:p>
            <a:pPr indent="0" marL="0">
              <a:buNone/>
            </a:pPr>
            <a:r>
              <a:rPr lang="en-US" sz="1400" dirty="0">
                <a:solidFill>
                  <a:schemeClr val="tx1"/>
                </a:solidFill>
              </a:rPr>
              <a:t>Admin view: request, notifications, KPIs</a:t>
            </a:r>
            <a:endParaRPr lang="en-US" sz="1400" dirty="0"/>
          </a:p>
        </p:txBody>
      </p:sp>
      <p:sp>
        <p:nvSpPr>
          <p:cNvPr id="27" name="Impact card"/>
          <p:cNvSpPr/>
          <p:nvPr/>
        </p:nvSpPr>
        <p:spPr>
          <a:xfrm>
            <a:off x="3429000" y="1143000"/>
            <a:ext cx="2331720" cy="3108960"/>
          </a:xfrm>
          <a:prstGeom prst="roundRect">
            <a:avLst>
              <a:gd name="adj" fmla="val 3137"/>
            </a:avLst>
          </a:prstGeom>
          <a:solidFill>
            <a:schemeClr val="bg2"/>
          </a:solidFill>
          <a:ln/>
        </p:spPr>
      </p:sp>
      <p:sp>
        <p:nvSpPr>
          <p:cNvPr id="28" name="Shape 24"/>
          <p:cNvSpPr/>
          <p:nvPr/>
        </p:nvSpPr>
        <p:spPr>
          <a:xfrm>
            <a:off x="3566160" y="1252728"/>
            <a:ext cx="365760" cy="365760"/>
          </a:xfrm>
          <a:prstGeom prst="ellipse">
            <a:avLst/>
          </a:prstGeom>
          <a:solidFill>
            <a:schemeClr val="accent3"/>
          </a:solidFill>
          <a:ln/>
        </p:spPr>
      </p:sp>
      <p:pic>
        <p:nvPicPr>
          <p:cNvPr id="29" name="Image 1" descr="preencoded.png">    </p:cNvPr>
          <p:cNvPicPr>
            <a:picLocks noChangeAspect="1"/>
          </p:cNvPicPr>
          <p:nvPr/>
        </p:nvPicPr>
        <p:blipFill>
          <a:blip r:embed="rId2"/>
          <a:stretch>
            <a:fillRect/>
          </a:stretch>
        </p:blipFill>
        <p:spPr>
          <a:xfrm>
            <a:off x="3657600" y="1344168"/>
            <a:ext cx="182880" cy="182880"/>
          </a:xfrm>
          <a:prstGeom prst="rect">
            <a:avLst/>
          </a:prstGeom>
        </p:spPr>
      </p:pic>
      <p:sp>
        <p:nvSpPr>
          <p:cNvPr id="30" name="Text 25"/>
          <p:cNvSpPr txBox="1"/>
          <p:nvPr/>
        </p:nvSpPr>
        <p:spPr>
          <a:xfrm>
            <a:off x="4023360" y="1252728"/>
            <a:ext cx="1691640" cy="365760"/>
          </a:xfrm>
          <a:prstGeom prst="rect">
            <a:avLst/>
          </a:prstGeom>
          <a:noFill/>
          <a:ln/>
        </p:spPr>
        <p:txBody>
          <a:bodyPr wrap="square" lIns="0" tIns="0" rIns="0" bIns="0" rtlCol="0" anchor="ctr"/>
          <a:lstStyle/>
          <a:p>
            <a:pPr indent="0" marL="0">
              <a:buNone/>
            </a:pPr>
            <a:r>
              <a:rPr lang="en-US" sz="1500" b="1" dirty="0">
                <a:solidFill>
                  <a:schemeClr val="tx1"/>
                </a:solidFill>
              </a:rPr>
              <a:t>Expected impact</a:t>
            </a:r>
            <a:endParaRPr lang="en-US" sz="1500" dirty="0"/>
          </a:p>
        </p:txBody>
      </p:sp>
      <p:sp>
        <p:nvSpPr>
          <p:cNvPr id="31" name="Text 26"/>
          <p:cNvSpPr txBox="1"/>
          <p:nvPr/>
        </p:nvSpPr>
        <p:spPr>
          <a:xfrm>
            <a:off x="3566160" y="1783080"/>
            <a:ext cx="2103120" cy="21031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Shorter time from request to assignment</a:t>
            </a:r>
            <a:endParaRPr lang="en-US" sz="1400" dirty="0"/>
          </a:p>
          <a:p>
            <a:pPr marL="342900" indent="-342900">
              <a:spcAft>
                <a:spcPts val="500"/>
              </a:spcAft>
              <a:buSzPct val="100000"/>
              <a:buChar char="•"/>
            </a:pPr>
            <a:r>
              <a:rPr lang="en-US" sz="1400" dirty="0">
                <a:solidFill>
                  <a:schemeClr val="tx1"/>
                </a:solidFill>
              </a:rPr>
              <a:t>More transparent progress</a:t>
            </a:r>
            <a:endParaRPr lang="en-US" sz="1400" dirty="0"/>
          </a:p>
          <a:p>
            <a:pPr marL="342900" indent="-342900">
              <a:spcAft>
                <a:spcPts val="500"/>
              </a:spcAft>
              <a:buSzPct val="100000"/>
              <a:buChar char="•"/>
            </a:pPr>
            <a:r>
              <a:rPr lang="en-US" sz="1400" dirty="0">
                <a:solidFill>
                  <a:schemeClr val="tx1"/>
                </a:solidFill>
              </a:rPr>
              <a:t>Better coordination of limited people, shelters, and supplies</a:t>
            </a:r>
            <a:endParaRPr lang="en-US" sz="1400" dirty="0"/>
          </a:p>
          <a:p>
            <a:pPr marL="342900" indent="-342900">
              <a:spcAft>
                <a:spcPts val="500"/>
              </a:spcAft>
              <a:buSzPct val="100000"/>
              <a:buChar char="•"/>
            </a:pPr>
            <a:r>
              <a:rPr lang="en-US" sz="1400" dirty="0">
                <a:solidFill>
                  <a:schemeClr val="tx1"/>
                </a:solidFill>
              </a:rPr>
              <a:t>Reusable for disaster and community response</a:t>
            </a:r>
            <a:endParaRPr lang="en-US" sz="1400" dirty="0"/>
          </a:p>
        </p:txBody>
      </p:sp>
      <p:sp>
        <p:nvSpPr>
          <p:cNvPr id="32" name="Text 27"/>
          <p:cNvSpPr txBox="1"/>
          <p:nvPr/>
        </p:nvSpPr>
        <p:spPr>
          <a:xfrm>
            <a:off x="3566160" y="3840480"/>
            <a:ext cx="2103120" cy="365760"/>
          </a:xfrm>
          <a:prstGeom prst="rect">
            <a:avLst/>
          </a:prstGeom>
          <a:noFill/>
          <a:ln/>
        </p:spPr>
        <p:txBody>
          <a:bodyPr wrap="square" lIns="0" tIns="0" rIns="0" bIns="0" rtlCol="0" anchor="t"/>
          <a:lstStyle/>
          <a:p>
            <a:pPr indent="0" marL="0">
              <a:buNone/>
            </a:pPr>
            <a:r>
              <a:rPr lang="en-US" sz="1100" i="1" dirty="0">
                <a:solidFill>
                  <a:srgbClr val="5A6C72"/>
                </a:solidFill>
              </a:rPr>
              <a:t>Expected benefits, not measured results</a:t>
            </a:r>
            <a:endParaRPr lang="en-US" sz="1100" dirty="0"/>
          </a:p>
        </p:txBody>
      </p:sp>
      <p:sp>
        <p:nvSpPr>
          <p:cNvPr id="33" name="Next steps card"/>
          <p:cNvSpPr/>
          <p:nvPr/>
        </p:nvSpPr>
        <p:spPr>
          <a:xfrm>
            <a:off x="5897880" y="1143000"/>
            <a:ext cx="2788920" cy="3108960"/>
          </a:xfrm>
          <a:prstGeom prst="roundRect">
            <a:avLst>
              <a:gd name="adj" fmla="val 2623"/>
            </a:avLst>
          </a:prstGeom>
          <a:solidFill>
            <a:schemeClr val="bg2"/>
          </a:solidFill>
          <a:ln/>
        </p:spPr>
      </p:sp>
      <p:sp>
        <p:nvSpPr>
          <p:cNvPr id="34" name="Shape 29"/>
          <p:cNvSpPr/>
          <p:nvPr/>
        </p:nvSpPr>
        <p:spPr>
          <a:xfrm>
            <a:off x="6035040" y="1252728"/>
            <a:ext cx="365760" cy="365760"/>
          </a:xfrm>
          <a:prstGeom prst="ellipse">
            <a:avLst/>
          </a:prstGeom>
          <a:solidFill>
            <a:schemeClr val="accent4"/>
          </a:solidFill>
          <a:ln/>
        </p:spPr>
      </p:sp>
      <p:pic>
        <p:nvPicPr>
          <p:cNvPr id="35" name="Image 2" descr="preencoded.png">    </p:cNvPr>
          <p:cNvPicPr>
            <a:picLocks noChangeAspect="1"/>
          </p:cNvPicPr>
          <p:nvPr/>
        </p:nvPicPr>
        <p:blipFill>
          <a:blip r:embed="rId3"/>
          <a:stretch>
            <a:fillRect/>
          </a:stretch>
        </p:blipFill>
        <p:spPr>
          <a:xfrm>
            <a:off x="6126480" y="1344168"/>
            <a:ext cx="182880" cy="182880"/>
          </a:xfrm>
          <a:prstGeom prst="rect">
            <a:avLst/>
          </a:prstGeom>
        </p:spPr>
      </p:pic>
      <p:sp>
        <p:nvSpPr>
          <p:cNvPr id="36" name="Text 30"/>
          <p:cNvSpPr txBox="1"/>
          <p:nvPr/>
        </p:nvSpPr>
        <p:spPr>
          <a:xfrm>
            <a:off x="6492240" y="1252728"/>
            <a:ext cx="2103120" cy="365760"/>
          </a:xfrm>
          <a:prstGeom prst="rect">
            <a:avLst/>
          </a:prstGeom>
          <a:noFill/>
          <a:ln/>
        </p:spPr>
        <p:txBody>
          <a:bodyPr wrap="square" lIns="0" tIns="0" rIns="0" bIns="0" rtlCol="0" anchor="ctr"/>
          <a:lstStyle/>
          <a:p>
            <a:pPr indent="0" marL="0">
              <a:buNone/>
            </a:pPr>
            <a:r>
              <a:rPr lang="en-US" sz="1600" b="1" dirty="0">
                <a:solidFill>
                  <a:schemeClr val="tx1"/>
                </a:solidFill>
              </a:rPr>
              <a:t>Next steps</a:t>
            </a:r>
            <a:endParaRPr lang="en-US" sz="1600" dirty="0"/>
          </a:p>
        </p:txBody>
      </p:sp>
      <p:sp>
        <p:nvSpPr>
          <p:cNvPr id="37" name="Text 31"/>
          <p:cNvSpPr txBox="1"/>
          <p:nvPr/>
        </p:nvSpPr>
        <p:spPr>
          <a:xfrm>
            <a:off x="6035040" y="1783080"/>
            <a:ext cx="2514600" cy="23774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Production deployment and monitoring</a:t>
            </a:r>
            <a:endParaRPr lang="en-US" sz="1400" dirty="0"/>
          </a:p>
          <a:p>
            <a:pPr marL="342900" indent="-342900">
              <a:spcAft>
                <a:spcPts val="500"/>
              </a:spcAft>
              <a:buSzPct val="100000"/>
              <a:buChar char="•"/>
            </a:pPr>
            <a:r>
              <a:rPr lang="en-US" sz="1400" dirty="0">
                <a:solidFill>
                  <a:schemeClr val="tx1"/>
                </a:solidFill>
              </a:rPr>
              <a:t>SMS/email escalation</a:t>
            </a:r>
            <a:endParaRPr lang="en-US" sz="1400" dirty="0"/>
          </a:p>
          <a:p>
            <a:pPr marL="342900" indent="-342900">
              <a:spcAft>
                <a:spcPts val="500"/>
              </a:spcAft>
              <a:buSzPct val="100000"/>
              <a:buChar char="•"/>
            </a:pPr>
            <a:r>
              <a:rPr lang="en-US" sz="1400" dirty="0">
                <a:solidFill>
                  <a:schemeClr val="tx1"/>
                </a:solidFill>
              </a:rPr>
              <a:t>Multilingual support (Hindi, Marathi)</a:t>
            </a:r>
            <a:endParaRPr lang="en-US" sz="1400" dirty="0"/>
          </a:p>
          <a:p>
            <a:pPr marL="342900" indent="-342900">
              <a:spcAft>
                <a:spcPts val="500"/>
              </a:spcAft>
              <a:buSzPct val="100000"/>
              <a:buChar char="•"/>
            </a:pPr>
            <a:r>
              <a:rPr lang="en-US" sz="1400" dirty="0">
                <a:solidFill>
                  <a:schemeClr val="tx1"/>
                </a:solidFill>
              </a:rPr>
              <a:t>Stronger offline retry and field testing</a:t>
            </a:r>
            <a:endParaRPr lang="en-US" sz="1400" dirty="0"/>
          </a:p>
          <a:p>
            <a:pPr marL="342900" indent="-342900">
              <a:spcAft>
                <a:spcPts val="500"/>
              </a:spcAft>
              <a:buSzPct val="100000"/>
              <a:buChar char="•"/>
            </a:pPr>
            <a:r>
              <a:rPr lang="en-US" sz="1400" dirty="0">
                <a:solidFill>
                  <a:schemeClr val="tx1"/>
                </a:solidFill>
              </a:rPr>
              <a:t>Measure response time, resolution rate, and people helped using real data</a:t>
            </a:r>
            <a:endParaRPr lang="en-US" sz="1400" dirty="0"/>
          </a:p>
        </p:txBody>
      </p:sp>
      <p:sp>
        <p:nvSpPr>
          <p:cNvPr id="38" name="Shape 32"/>
          <p:cNvSpPr/>
          <p:nvPr/>
        </p:nvSpPr>
        <p:spPr>
          <a:xfrm>
            <a:off x="457200" y="4343400"/>
            <a:ext cx="8229600" cy="411480"/>
          </a:xfrm>
          <a:prstGeom prst="roundRect">
            <a:avLst>
              <a:gd name="adj" fmla="val 17778"/>
            </a:avLst>
          </a:prstGeom>
          <a:solidFill>
            <a:schemeClr val="tx1"/>
          </a:solidFill>
          <a:ln/>
        </p:spPr>
      </p:sp>
      <p:sp>
        <p:nvSpPr>
          <p:cNvPr id="39" name="Text 33"/>
          <p:cNvSpPr txBox="1"/>
          <p:nvPr/>
        </p:nvSpPr>
        <p:spPr>
          <a:xfrm>
            <a:off x="640080" y="4343400"/>
            <a:ext cx="7863840" cy="411480"/>
          </a:xfrm>
          <a:prstGeom prst="rect">
            <a:avLst/>
          </a:prstGeom>
          <a:noFill/>
          <a:ln/>
        </p:spPr>
        <p:txBody>
          <a:bodyPr wrap="square" lIns="0" tIns="0" rIns="0" bIns="0" rtlCol="0" anchor="ctr"/>
          <a:lstStyle/>
          <a:p>
            <a:pPr algn="ctr" indent="0" marL="0">
              <a:buNone/>
            </a:pPr>
            <a:r>
              <a:rPr lang="en-US" sz="1400" b="1" i="1" dirty="0">
                <a:solidFill>
                  <a:schemeClr val="bg1"/>
                </a:solidFill>
              </a:rPr>
              <a:t>RespondHelper turns an emergency request into a coordinated, visible, and accountable response.</a:t>
            </a:r>
            <a:endParaRPr lang="en-US" sz="14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7A8A8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19456"/>
            <a:ext cx="548640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13  |  APPENDIX (OPTIONAL)</a:t>
            </a:r>
            <a:endParaRPr lang="en-US" sz="1100" dirty="0"/>
          </a:p>
        </p:txBody>
      </p:sp>
      <p:sp>
        <p:nvSpPr>
          <p:cNvPr id="4" name="Text 0"/>
          <p:cNvSpPr/>
          <p:nvPr>
            <p:ph idx="100" type="title" hasCustomPrompt="1"/>
          </p:nvPr>
        </p:nvSpPr>
        <p:spPr>
          <a:xfrm>
            <a:off x="457200" y="420624"/>
            <a:ext cx="8229600" cy="566928"/>
          </a:xfrm>
          <a:prstGeom prst="rect">
            <a:avLst/>
          </a:prstGeom>
          <a:noFill/>
          <a:ln/>
        </p:spPr>
        <p:txBody>
          <a:bodyPr wrap="square" lIns="0" tIns="0" rIns="0" bIns="0" rtlCol="0" anchor="ctr"/>
          <a:lstStyle/>
          <a:p>
            <a:pPr algn="l" indent="0" marL="0">
              <a:buNone/>
            </a:pPr>
            <a:r>
              <a:rPr lang="en-US" sz="2800" b="1" dirty="0">
                <a:solidFill>
                  <a:schemeClr val="tx1"/>
                </a:solidFill>
              </a:rPr>
              <a:t>Analytics and Disaster Intelligence</a:t>
            </a:r>
            <a:endParaRPr lang="en-US" sz="2800" dirty="0"/>
          </a:p>
        </p:txBody>
      </p:sp>
      <p:sp>
        <p:nvSpPr>
          <p:cNvPr id="5" name="Shape 2"/>
          <p:cNvSpPr/>
          <p:nvPr/>
        </p:nvSpPr>
        <p:spPr>
          <a:xfrm>
            <a:off x="457200" y="1216152"/>
            <a:ext cx="365760" cy="36576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548640" y="1307592"/>
            <a:ext cx="182880" cy="182880"/>
          </a:xfrm>
          <a:prstGeom prst="rect">
            <a:avLst/>
          </a:prstGeom>
        </p:spPr>
      </p:pic>
      <p:sp>
        <p:nvSpPr>
          <p:cNvPr id="7" name="Text 3"/>
          <p:cNvSpPr txBox="1"/>
          <p:nvPr/>
        </p:nvSpPr>
        <p:spPr>
          <a:xfrm>
            <a:off x="960120" y="1188720"/>
            <a:ext cx="2743200" cy="420624"/>
          </a:xfrm>
          <a:prstGeom prst="rect">
            <a:avLst/>
          </a:prstGeom>
          <a:noFill/>
          <a:ln/>
        </p:spPr>
        <p:txBody>
          <a:bodyPr wrap="square" lIns="0" tIns="0" rIns="0" bIns="0" rtlCol="0" anchor="ctr"/>
          <a:lstStyle/>
          <a:p>
            <a:pPr indent="0" marL="0">
              <a:buNone/>
            </a:pPr>
            <a:r>
              <a:rPr lang="en-US" sz="1400" dirty="0">
                <a:solidFill>
                  <a:schemeClr val="tx1"/>
                </a:solidFill>
              </a:rPr>
              <a:t>Requests by category and location</a:t>
            </a:r>
            <a:endParaRPr lang="en-US" sz="1400" dirty="0"/>
          </a:p>
        </p:txBody>
      </p:sp>
      <p:sp>
        <p:nvSpPr>
          <p:cNvPr id="8" name="Shape 4"/>
          <p:cNvSpPr/>
          <p:nvPr/>
        </p:nvSpPr>
        <p:spPr>
          <a:xfrm>
            <a:off x="457200" y="1719072"/>
            <a:ext cx="365760" cy="365760"/>
          </a:xfrm>
          <a:prstGeom prst="ellipse">
            <a:avLst/>
          </a:prstGeom>
          <a:solidFill>
            <a:schemeClr val="accent2"/>
          </a:solidFill>
          <a:ln/>
        </p:spPr>
      </p:sp>
      <p:pic>
        <p:nvPicPr>
          <p:cNvPr id="9" name="Image 1" descr="preencoded.png">    </p:cNvPr>
          <p:cNvPicPr>
            <a:picLocks noChangeAspect="1"/>
          </p:cNvPicPr>
          <p:nvPr/>
        </p:nvPicPr>
        <p:blipFill>
          <a:blip r:embed="rId2"/>
          <a:stretch>
            <a:fillRect/>
          </a:stretch>
        </p:blipFill>
        <p:spPr>
          <a:xfrm>
            <a:off x="548640" y="1810512"/>
            <a:ext cx="182880" cy="182880"/>
          </a:xfrm>
          <a:prstGeom prst="rect">
            <a:avLst/>
          </a:prstGeom>
        </p:spPr>
      </p:pic>
      <p:sp>
        <p:nvSpPr>
          <p:cNvPr id="10" name="Text 5"/>
          <p:cNvSpPr txBox="1"/>
          <p:nvPr/>
        </p:nvSpPr>
        <p:spPr>
          <a:xfrm>
            <a:off x="960120" y="1691640"/>
            <a:ext cx="2743200" cy="420624"/>
          </a:xfrm>
          <a:prstGeom prst="rect">
            <a:avLst/>
          </a:prstGeom>
          <a:noFill/>
          <a:ln/>
        </p:spPr>
        <p:txBody>
          <a:bodyPr wrap="square" lIns="0" tIns="0" rIns="0" bIns="0" rtlCol="0" anchor="ctr"/>
          <a:lstStyle/>
          <a:p>
            <a:pPr indent="0" marL="0">
              <a:buNone/>
            </a:pPr>
            <a:r>
              <a:rPr lang="en-US" sz="1400" dirty="0">
                <a:solidFill>
                  <a:schemeClr val="tx1"/>
                </a:solidFill>
              </a:rPr>
              <a:t>Critical vs. normal requests</a:t>
            </a:r>
            <a:endParaRPr lang="en-US" sz="1400" dirty="0"/>
          </a:p>
        </p:txBody>
      </p:sp>
      <p:sp>
        <p:nvSpPr>
          <p:cNvPr id="11" name="Shape 6"/>
          <p:cNvSpPr/>
          <p:nvPr/>
        </p:nvSpPr>
        <p:spPr>
          <a:xfrm>
            <a:off x="457200" y="2221992"/>
            <a:ext cx="365760" cy="365760"/>
          </a:xfrm>
          <a:prstGeom prst="ellipse">
            <a:avLst/>
          </a:prstGeom>
          <a:solidFill>
            <a:schemeClr val="accent3"/>
          </a:solidFill>
          <a:ln/>
        </p:spPr>
      </p:sp>
      <p:pic>
        <p:nvPicPr>
          <p:cNvPr id="12" name="Image 2" descr="preencoded.png">    </p:cNvPr>
          <p:cNvPicPr>
            <a:picLocks noChangeAspect="1"/>
          </p:cNvPicPr>
          <p:nvPr/>
        </p:nvPicPr>
        <p:blipFill>
          <a:blip r:embed="rId3"/>
          <a:stretch>
            <a:fillRect/>
          </a:stretch>
        </p:blipFill>
        <p:spPr>
          <a:xfrm>
            <a:off x="548640" y="2313432"/>
            <a:ext cx="182880" cy="182880"/>
          </a:xfrm>
          <a:prstGeom prst="rect">
            <a:avLst/>
          </a:prstGeom>
        </p:spPr>
      </p:pic>
      <p:sp>
        <p:nvSpPr>
          <p:cNvPr id="13" name="Text 7"/>
          <p:cNvSpPr txBox="1"/>
          <p:nvPr/>
        </p:nvSpPr>
        <p:spPr>
          <a:xfrm>
            <a:off x="960120" y="2194560"/>
            <a:ext cx="2743200" cy="420624"/>
          </a:xfrm>
          <a:prstGeom prst="rect">
            <a:avLst/>
          </a:prstGeom>
          <a:noFill/>
          <a:ln/>
        </p:spPr>
        <p:txBody>
          <a:bodyPr wrap="square" lIns="0" tIns="0" rIns="0" bIns="0" rtlCol="0" anchor="ctr"/>
          <a:lstStyle/>
          <a:p>
            <a:pPr indent="0" marL="0">
              <a:buNone/>
            </a:pPr>
            <a:r>
              <a:rPr lang="en-US" sz="1400" dirty="0">
                <a:solidFill>
                  <a:schemeClr val="tx1"/>
                </a:solidFill>
              </a:rPr>
              <a:t>Average response time</a:t>
            </a:r>
            <a:endParaRPr lang="en-US" sz="1400" dirty="0"/>
          </a:p>
        </p:txBody>
      </p:sp>
      <p:sp>
        <p:nvSpPr>
          <p:cNvPr id="14" name="Shape 8"/>
          <p:cNvSpPr/>
          <p:nvPr/>
        </p:nvSpPr>
        <p:spPr>
          <a:xfrm>
            <a:off x="457200" y="2724912"/>
            <a:ext cx="365760" cy="365760"/>
          </a:xfrm>
          <a:prstGeom prst="ellipse">
            <a:avLst/>
          </a:prstGeom>
          <a:solidFill>
            <a:schemeClr val="accent4"/>
          </a:solidFill>
          <a:ln/>
        </p:spPr>
      </p:sp>
      <p:pic>
        <p:nvPicPr>
          <p:cNvPr id="15" name="Image 3" descr="preencoded.png">    </p:cNvPr>
          <p:cNvPicPr>
            <a:picLocks noChangeAspect="1"/>
          </p:cNvPicPr>
          <p:nvPr/>
        </p:nvPicPr>
        <p:blipFill>
          <a:blip r:embed="rId4"/>
          <a:stretch>
            <a:fillRect/>
          </a:stretch>
        </p:blipFill>
        <p:spPr>
          <a:xfrm>
            <a:off x="548640" y="2816352"/>
            <a:ext cx="182880" cy="182880"/>
          </a:xfrm>
          <a:prstGeom prst="rect">
            <a:avLst/>
          </a:prstGeom>
        </p:spPr>
      </p:pic>
      <p:sp>
        <p:nvSpPr>
          <p:cNvPr id="16" name="Text 9"/>
          <p:cNvSpPr txBox="1"/>
          <p:nvPr/>
        </p:nvSpPr>
        <p:spPr>
          <a:xfrm>
            <a:off x="960120" y="2697480"/>
            <a:ext cx="2743200" cy="420624"/>
          </a:xfrm>
          <a:prstGeom prst="rect">
            <a:avLst/>
          </a:prstGeom>
          <a:noFill/>
          <a:ln/>
        </p:spPr>
        <p:txBody>
          <a:bodyPr wrap="square" lIns="0" tIns="0" rIns="0" bIns="0" rtlCol="0" anchor="ctr"/>
          <a:lstStyle/>
          <a:p>
            <a:pPr indent="0" marL="0">
              <a:buNone/>
            </a:pPr>
            <a:r>
              <a:rPr lang="en-US" sz="1400" dirty="0">
                <a:solidFill>
                  <a:schemeClr val="tx1"/>
                </a:solidFill>
              </a:rPr>
              <a:t>Completed requests and people helped</a:t>
            </a:r>
            <a:endParaRPr lang="en-US" sz="1400" dirty="0"/>
          </a:p>
        </p:txBody>
      </p:sp>
      <p:sp>
        <p:nvSpPr>
          <p:cNvPr id="17" name="Shape 10"/>
          <p:cNvSpPr/>
          <p:nvPr/>
        </p:nvSpPr>
        <p:spPr>
          <a:xfrm>
            <a:off x="457200" y="3227832"/>
            <a:ext cx="365760" cy="365760"/>
          </a:xfrm>
          <a:prstGeom prst="ellipse">
            <a:avLst/>
          </a:prstGeom>
          <a:solidFill>
            <a:schemeClr val="accent5"/>
          </a:solidFill>
          <a:ln/>
        </p:spPr>
      </p:sp>
      <p:pic>
        <p:nvPicPr>
          <p:cNvPr id="18" name="Image 4" descr="preencoded.png">    </p:cNvPr>
          <p:cNvPicPr>
            <a:picLocks noChangeAspect="1"/>
          </p:cNvPicPr>
          <p:nvPr/>
        </p:nvPicPr>
        <p:blipFill>
          <a:blip r:embed="rId5"/>
          <a:stretch>
            <a:fillRect/>
          </a:stretch>
        </p:blipFill>
        <p:spPr>
          <a:xfrm>
            <a:off x="548640" y="3319272"/>
            <a:ext cx="182880" cy="182880"/>
          </a:xfrm>
          <a:prstGeom prst="rect">
            <a:avLst/>
          </a:prstGeom>
        </p:spPr>
      </p:pic>
      <p:sp>
        <p:nvSpPr>
          <p:cNvPr id="19" name="Text 11"/>
          <p:cNvSpPr txBox="1"/>
          <p:nvPr/>
        </p:nvSpPr>
        <p:spPr>
          <a:xfrm>
            <a:off x="960120" y="3200400"/>
            <a:ext cx="2743200" cy="420624"/>
          </a:xfrm>
          <a:prstGeom prst="rect">
            <a:avLst/>
          </a:prstGeom>
          <a:noFill/>
          <a:ln/>
        </p:spPr>
        <p:txBody>
          <a:bodyPr wrap="square" lIns="0" tIns="0" rIns="0" bIns="0" rtlCol="0" anchor="ctr"/>
          <a:lstStyle/>
          <a:p>
            <a:pPr indent="0" marL="0">
              <a:buNone/>
            </a:pPr>
            <a:r>
              <a:rPr lang="en-US" sz="1400" dirty="0">
                <a:solidFill>
                  <a:schemeClr val="tx1"/>
                </a:solidFill>
              </a:rPr>
              <a:t>Volunteer activity</a:t>
            </a:r>
            <a:endParaRPr lang="en-US" sz="1400" dirty="0"/>
          </a:p>
        </p:txBody>
      </p:sp>
      <p:sp>
        <p:nvSpPr>
          <p:cNvPr id="20" name="Shape 12"/>
          <p:cNvSpPr/>
          <p:nvPr/>
        </p:nvSpPr>
        <p:spPr>
          <a:xfrm>
            <a:off x="457200" y="3730752"/>
            <a:ext cx="365760" cy="365760"/>
          </a:xfrm>
          <a:prstGeom prst="ellipse">
            <a:avLst/>
          </a:prstGeom>
          <a:solidFill>
            <a:schemeClr val="accent2"/>
          </a:solidFill>
          <a:ln/>
        </p:spPr>
      </p:sp>
      <p:pic>
        <p:nvPicPr>
          <p:cNvPr id="21" name="Image 5" descr="preencoded.png">    </p:cNvPr>
          <p:cNvPicPr>
            <a:picLocks noChangeAspect="1"/>
          </p:cNvPicPr>
          <p:nvPr/>
        </p:nvPicPr>
        <p:blipFill>
          <a:blip r:embed="rId6"/>
          <a:stretch>
            <a:fillRect/>
          </a:stretch>
        </p:blipFill>
        <p:spPr>
          <a:xfrm>
            <a:off x="548640" y="3822192"/>
            <a:ext cx="182880" cy="182880"/>
          </a:xfrm>
          <a:prstGeom prst="rect">
            <a:avLst/>
          </a:prstGeom>
        </p:spPr>
      </p:pic>
      <p:sp>
        <p:nvSpPr>
          <p:cNvPr id="22" name="Text 13"/>
          <p:cNvSpPr txBox="1"/>
          <p:nvPr/>
        </p:nvSpPr>
        <p:spPr>
          <a:xfrm>
            <a:off x="960120" y="3703320"/>
            <a:ext cx="2743200" cy="420624"/>
          </a:xfrm>
          <a:prstGeom prst="rect">
            <a:avLst/>
          </a:prstGeom>
          <a:noFill/>
          <a:ln/>
        </p:spPr>
        <p:txBody>
          <a:bodyPr wrap="square" lIns="0" tIns="0" rIns="0" bIns="0" rtlCol="0" anchor="ctr"/>
          <a:lstStyle/>
          <a:p>
            <a:pPr indent="0" marL="0">
              <a:buNone/>
            </a:pPr>
            <a:r>
              <a:rPr lang="en-US" sz="1400" dirty="0">
                <a:solidFill>
                  <a:schemeClr val="tx1"/>
                </a:solidFill>
              </a:rPr>
              <a:t>Resource distribution</a:t>
            </a:r>
            <a:endParaRPr lang="en-US" sz="1400" dirty="0"/>
          </a:p>
        </p:txBody>
      </p:sp>
      <p:sp>
        <p:nvSpPr>
          <p:cNvPr id="23" name="Shape 14"/>
          <p:cNvSpPr/>
          <p:nvPr/>
        </p:nvSpPr>
        <p:spPr>
          <a:xfrm>
            <a:off x="457200" y="4233672"/>
            <a:ext cx="365760" cy="365760"/>
          </a:xfrm>
          <a:prstGeom prst="ellipse">
            <a:avLst/>
          </a:prstGeom>
          <a:solidFill>
            <a:schemeClr val="tx2"/>
          </a:solidFill>
          <a:ln/>
        </p:spPr>
      </p:sp>
      <p:pic>
        <p:nvPicPr>
          <p:cNvPr id="24" name="Image 6" descr="preencoded.png">    </p:cNvPr>
          <p:cNvPicPr>
            <a:picLocks noChangeAspect="1"/>
          </p:cNvPicPr>
          <p:nvPr/>
        </p:nvPicPr>
        <p:blipFill>
          <a:blip r:embed="rId7"/>
          <a:stretch>
            <a:fillRect/>
          </a:stretch>
        </p:blipFill>
        <p:spPr>
          <a:xfrm>
            <a:off x="548640" y="4325112"/>
            <a:ext cx="182880" cy="182880"/>
          </a:xfrm>
          <a:prstGeom prst="rect">
            <a:avLst/>
          </a:prstGeom>
        </p:spPr>
      </p:pic>
      <p:sp>
        <p:nvSpPr>
          <p:cNvPr id="25" name="Text 15"/>
          <p:cNvSpPr txBox="1"/>
          <p:nvPr/>
        </p:nvSpPr>
        <p:spPr>
          <a:xfrm>
            <a:off x="960120" y="4206240"/>
            <a:ext cx="2743200" cy="420624"/>
          </a:xfrm>
          <a:prstGeom prst="rect">
            <a:avLst/>
          </a:prstGeom>
          <a:noFill/>
          <a:ln/>
        </p:spPr>
        <p:txBody>
          <a:bodyPr wrap="square" lIns="0" tIns="0" rIns="0" bIns="0" rtlCol="0" anchor="ctr"/>
          <a:lstStyle/>
          <a:p>
            <a:pPr indent="0" marL="0">
              <a:buNone/>
            </a:pPr>
            <a:r>
              <a:rPr lang="en-US" sz="1400" dirty="0">
                <a:solidFill>
                  <a:schemeClr val="tx1"/>
                </a:solidFill>
              </a:rPr>
              <a:t>Shelter occupancy</a:t>
            </a:r>
            <a:endParaRPr lang="en-US" sz="1400" dirty="0"/>
          </a:p>
        </p:txBody>
      </p:sp>
      <p:sp>
        <p:nvSpPr>
          <p:cNvPr id="26" name="Shape 16"/>
          <p:cNvSpPr/>
          <p:nvPr/>
        </p:nvSpPr>
        <p:spPr>
          <a:xfrm>
            <a:off x="7498080" y="1097280"/>
            <a:ext cx="1188720" cy="256032"/>
          </a:xfrm>
          <a:prstGeom prst="roundRect">
            <a:avLst>
              <a:gd name="adj" fmla="val 50000"/>
            </a:avLst>
          </a:prstGeom>
          <a:solidFill>
            <a:schemeClr val="accent2"/>
          </a:solidFill>
          <a:ln/>
        </p:spPr>
      </p:sp>
      <p:sp>
        <p:nvSpPr>
          <p:cNvPr id="27" name="Text 17"/>
          <p:cNvSpPr txBox="1"/>
          <p:nvPr/>
        </p:nvSpPr>
        <p:spPr>
          <a:xfrm>
            <a:off x="7498080" y="1097280"/>
            <a:ext cx="1188720" cy="256032"/>
          </a:xfrm>
          <a:prstGeom prst="rect">
            <a:avLst/>
          </a:prstGeom>
          <a:noFill/>
          <a:ln/>
        </p:spPr>
        <p:txBody>
          <a:bodyPr wrap="square" lIns="0" tIns="0" rIns="0" bIns="0" rtlCol="0" anchor="ctr"/>
          <a:lstStyle/>
          <a:p>
            <a:pPr algn="ctr" indent="0" marL="0">
              <a:buNone/>
            </a:pPr>
            <a:r>
              <a:rPr lang="en-US" sz="1100" b="1" dirty="0">
                <a:solidFill>
                  <a:schemeClr val="tx1"/>
                </a:solidFill>
              </a:rPr>
              <a:t>DEMO DATA</a:t>
            </a:r>
            <a:endParaRPr lang="en-US" sz="1100" dirty="0"/>
          </a:p>
        </p:txBody>
      </p:sp>
      <p:graphicFrame>
        <p:nvGraphicFramePr>
          <p:cNvPr id="28" name="Chart 0" descr=""/>
          <p:cNvGraphicFramePr/>
          <p:nvPr/>
        </p:nvGraphicFramePr>
        <p:xfrm>
          <a:off x="3931920" y="1417320"/>
          <a:ext cx="4754880" cy="1554480"/>
        </p:xfrm>
        <a:graphic xmlns:a="http://schemas.openxmlformats.org/drawingml/2006/main">
          <a:graphicData uri="http://schemas.openxmlformats.org/drawingml/2006/chart">
            <c:chart xmlns:c="http://schemas.openxmlformats.org/drawingml/2006/chart" r:id="rId8"/>
          </a:graphicData>
        </a:graphic>
      </p:graphicFrame>
      <p:graphicFrame>
        <p:nvGraphicFramePr>
          <p:cNvPr id="29" name="Chart 1" descr=""/>
          <p:cNvGraphicFramePr/>
          <p:nvPr/>
        </p:nvGraphicFramePr>
        <p:xfrm>
          <a:off x="3931920" y="3108960"/>
          <a:ext cx="4754880" cy="1600200"/>
        </p:xfrm>
        <a:graphic xmlns:a="http://schemas.openxmlformats.org/drawingml/2006/main">
          <a:graphicData uri="http://schemas.openxmlformats.org/drawingml/2006/chart">
            <c:chart xmlns:c="http://schemas.openxmlformats.org/drawingml/2006/chart" r:id="rId9"/>
          </a:graphicData>
        </a:graphic>
      </p:graphicFrame>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7A8A8F"/>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RespondHelper">
  <a:themeElements>
    <a:clrScheme name="RespondHelper">
      <a:dk1>
        <a:srgbClr val="10252B"/>
      </a:dk1>
      <a:lt1>
        <a:srgbClr val="FFFFFF"/>
      </a:lt1>
      <a:dk2>
        <a:srgbClr val="1F4350"/>
      </a:dk2>
      <a:lt2>
        <a:srgbClr val="EDF3F4"/>
      </a:lt2>
      <a:accent1>
        <a:srgbClr val="E5383B"/>
      </a:accent1>
      <a:accent2>
        <a:srgbClr val="F29E4C"/>
      </a:accent2>
      <a:accent3>
        <a:srgbClr val="2A9D8F"/>
      </a:accent3>
      <a:accent4>
        <a:srgbClr val="3A86C8"/>
      </a:accent4>
      <a:accent5>
        <a:srgbClr val="7B5EA7"/>
      </a:accent5>
      <a:accent6>
        <a:srgbClr val="E9C46A"/>
      </a:accent6>
      <a:hlink>
        <a:srgbClr val="3A86C8"/>
      </a:hlink>
      <a:folHlink>
        <a:srgbClr val="7B5EA7"/>
      </a:folHlink>
    </a:clrScheme>
    <a:fontScheme name="RespondHelp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RespondHelper: Help When It Is Needed Most</dc:title>
  <dc:subject>PptxGenJS Presentation</dc:subject>
  <dc:creator>RespondHelper Team</dc:creator>
  <cp:lastModifiedBy>RespondHelper Team</cp:lastModifiedBy>
  <cp:revision>1</cp:revision>
  <dcterms:created xsi:type="dcterms:W3CDTF">2026-10-13T17:31:38Z</dcterms:created>
  <dcterms:modified xsi:type="dcterms:W3CDTF">2026-10-13T17:31:38Z</dcterms:modified>
</cp:coreProperties>
</file>